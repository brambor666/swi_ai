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362104a5af493e" /><Relationship Type="http://schemas.openxmlformats.org/officeDocument/2006/relationships/extended-properties" Target="/docProps/app.xml" Id="R167de16b773140a7" /><Relationship Type="http://schemas.openxmlformats.org/officeDocument/2006/relationships/officeDocument" Target="/ppt/presentation.xml" Id="Rea6bd41dc303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4e234ff074a6f"/>
  </p:sldMasterIdLst>
  <p:notesMasterIdLst>
    <p:notesMasterId xmlns:r="http://schemas.openxmlformats.org/officeDocument/2006/relationships" r:id="Rcfd8da363e9f42f4"/>
  </p:notesMasterIdLst>
  <p:sldIdLst>
    <p:sldId xmlns:r="http://schemas.openxmlformats.org/officeDocument/2006/relationships" id="256" r:id="Redad6abaabe549cc"/>
    <p:sldId xmlns:r="http://schemas.openxmlformats.org/officeDocument/2006/relationships" id="257" r:id="R6c84220a455d4f54"/>
    <p:sldId xmlns:r="http://schemas.openxmlformats.org/officeDocument/2006/relationships" id="258" r:id="Re9155a2110574291"/>
    <p:sldId xmlns:r="http://schemas.openxmlformats.org/officeDocument/2006/relationships" id="259" r:id="R34816c9c9de2454e"/>
    <p:sldId xmlns:r="http://schemas.openxmlformats.org/officeDocument/2006/relationships" id="260" r:id="Rb4e1b195dd2a4b81"/>
    <p:sldId xmlns:r="http://schemas.openxmlformats.org/officeDocument/2006/relationships" id="261" r:id="Rb24fd51c7db444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63e22b13924502" /><Relationship Type="http://schemas.openxmlformats.org/officeDocument/2006/relationships/slideMaster" Target="/ppt/slideMasters/slideMaster1.xml" Id="R8dd4e234ff074a6f" /><Relationship Type="http://schemas.openxmlformats.org/officeDocument/2006/relationships/notesMaster" Target="/ppt/notesMasters/notesMaster1.xml" Id="Rcfd8da363e9f42f4" /><Relationship Type="http://schemas.openxmlformats.org/officeDocument/2006/relationships/presProps" Target="/ppt/presProps.xml" Id="R301eb74293ee4a9c" /><Relationship Type="http://schemas.openxmlformats.org/officeDocument/2006/relationships/tableStyles" Target="/ppt/tableStyles.xml" Id="R2d4870bcaf2b42d8" /><Relationship Type="http://schemas.openxmlformats.org/officeDocument/2006/relationships/slide" Target="/ppt/slides/slide1.xml" Id="Redad6abaabe549cc" /><Relationship Type="http://schemas.openxmlformats.org/officeDocument/2006/relationships/slide" Target="/ppt/slides/slide2.xml" Id="R6c84220a455d4f54" /><Relationship Type="http://schemas.openxmlformats.org/officeDocument/2006/relationships/slide" Target="/ppt/slides/slide3.xml" Id="Re9155a2110574291" /><Relationship Type="http://schemas.openxmlformats.org/officeDocument/2006/relationships/slide" Target="/ppt/slides/slide4.xml" Id="R34816c9c9de2454e" /><Relationship Type="http://schemas.openxmlformats.org/officeDocument/2006/relationships/slide" Target="/ppt/slides/slide5.xml" Id="Rb4e1b195dd2a4b81" /><Relationship Type="http://schemas.openxmlformats.org/officeDocument/2006/relationships/slide" Target="/ppt/slides/slide6.xml" Id="Rb24fd51c7db4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eee40f0fa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4b58bbed14dca" /><Relationship Type="http://schemas.openxmlformats.org/officeDocument/2006/relationships/notesMaster" Target="/ppt/notesMasters/notesMaster1.xml" Id="Re6b0e8c13d7b44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7068f052d94184" /><Relationship Type="http://schemas.openxmlformats.org/officeDocument/2006/relationships/notesMaster" Target="/ppt/notesMasters/notesMaster1.xml" Id="R775467c7755a4a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912b27bb6b4f86" /><Relationship Type="http://schemas.openxmlformats.org/officeDocument/2006/relationships/notesMaster" Target="/ppt/notesMasters/notesMaster1.xml" Id="Rd03bab810472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8e205e92e74a0c" /><Relationship Type="http://schemas.openxmlformats.org/officeDocument/2006/relationships/notesMaster" Target="/ppt/notesMasters/notesMaster1.xml" Id="Ra6a35a1e930544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c9fa137574da3" /><Relationship Type="http://schemas.openxmlformats.org/officeDocument/2006/relationships/notesMaster" Target="/ppt/notesMasters/notesMaster1.xml" Id="R42c97b88130946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9ea13c9204268" /><Relationship Type="http://schemas.openxmlformats.org/officeDocument/2006/relationships/notesMaster" Target="/ppt/notesMasters/notesMaster1.xml" Id="R552fd1212739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Reporting baseline: c08-report-2026-10-30-v2. Ověřený kód vychází z f34f0ec0f31782ff1886e9b3c4020c2c39a3fe28. 97 testů = 57 doménových/architektonických a 40 integračních. Jediný otevřený nález je C04/F1. Zdroj: docs/evidence-and-evolution.md a docs/verification/2026-10-30.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Zdroje stavů: docs/specification-v0.2.md, docs/architecture-and-decisions.md, docs/c05_detailed_design.md, ReservationService.java a reporty v docs/verification/2026-10-30. C04 PARTLY označuje popsaný tlak Changeability v docs/intent-and-change.md. Ucelený C04 scénář s kritériem a měřením není doložený. YES neznamená produkční autentizaci ani externí doručení oznámení.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A a B jsou připravené dokumentační výstupy. B může obsahovat neověřená budoucí opatření, což není samo o sobě další prokázaný defect. Jedinou evidovanou neshodou je F1. Počet hodin ani historické termíny nevymýšlíme. Zdroj: docs/evidence-and-evolution.md.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Rizika R-03, R-01 a R-04 přebírají hodnoty a stavy z B. NOT VERIFIED u plánovaného opatření neznamená nový potvrzený problém aplikace. R-02 zůstává v úplném registru B. F1 je samostatný existující nález.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Kroky P1 až P4 jsou plán doplnění C04, nikoli již provedené změny. Jejich kalendářní termín zatím není známý, proto vykazujeme mezeru přímo u C04. Vlastník Jakub doplní časový plán do 6. 11. 2026. Filip vlastní měření, Kryštof rozhodnutí. Tento plán nemění stav F1 ACCEPTED/OPEN.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t>Jediný otevřený nález je C04/F1. Omezení prototypu, například simulovaná identita a logování oznámení, jsou deklarované hranice současného řešení, nikoli nově zjištěné defects. Zdroje: docs/evidence-and-evolution.md a docs/intent-and-change.md.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9f1eb2ae8f4f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b94cea7d54475" /></Relationships>
</file>

<file path=ppt/slideLayouts/slideLayout1.xml><?xml version="1.0" encoding="utf-8"?>
<p:sldLayout xmlns:p="http://schemas.openxmlformats.org/presentationml/2006/main" type="blank" preserve="1">
  <p:cSld name="DEFAU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SWI_BLANK"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EE0E526-F700-4428-98E5-B812FD44B3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  <a:endParaRPr sz="18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1602EE2-1C99-4876-BCCE-530BDAB82EC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  <a:endParaRPr sz="32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  <a:endParaRPr sz="24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3c3599edc41cb" /><Relationship Type="http://schemas.openxmlformats.org/officeDocument/2006/relationships/slideLayout" Target="/ppt/slideLayouts/slideLayout1.xml" Id="R40adffc033ba4d56" /><Relationship Type="http://schemas.openxmlformats.org/officeDocument/2006/relationships/slideLayout" Target="/ppt/slideLayouts/slideLayout2.xml" Id="R40c8ddafb8004c0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adffc033ba4d56"/>
    <p:sldLayoutId xmlns:r="http://schemas.openxmlformats.org/officeDocument/2006/relationships" id="2147483650" r:id="R40c8ddafb8004c03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c69c0ec09d456e" /><Relationship Type="http://schemas.openxmlformats.org/officeDocument/2006/relationships/notesSlide" Target="/ppt/notesSlides/notesSlide1.xml" Id="Rd026e512532a47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bf5d7886f40ad" /><Relationship Type="http://schemas.openxmlformats.org/officeDocument/2006/relationships/notesSlide" Target="/ppt/notesSlides/notesSlide2.xml" Id="Rfd5e597260e1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c0a3685fd843ac" /><Relationship Type="http://schemas.openxmlformats.org/officeDocument/2006/relationships/notesSlide" Target="/ppt/notesSlides/notesSlide3.xml" Id="R5adec24b3379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ff59d24a9f4b4e" /><Relationship Type="http://schemas.openxmlformats.org/officeDocument/2006/relationships/notesSlide" Target="/ppt/notesSlides/notesSlide4.xml" Id="Rc4d3ab8b3da24d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9dda10d814fad" /><Relationship Type="http://schemas.openxmlformats.org/officeDocument/2006/relationships/notesSlide" Target="/ppt/notesSlides/notesSlide5.xml" Id="Rcae8b8a0cf9c47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f93c5fb94f4c13" /><Relationship Type="http://schemas.openxmlformats.org/officeDocument/2006/relationships/notesSlide" Target="/ppt/notesSlides/notesSlide6.xml" Id="R18b869e9077849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 0">
            <a:extLst xmlns:a="http://schemas.openxmlformats.org/drawingml/2006/main">
              <a:ext uri="{FF2B5EF4-FFF2-40B4-BE49-F238E27FC236}">
                <a16:creationId xmlns:a16="http://schemas.microsoft.com/office/drawing/2014/main" id="{DCCD1D51-F9A8-4A04-979C-7B5C15E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1">
            <a:extLst xmlns:a="http://schemas.openxmlformats.org/drawingml/2006/main">
              <a:ext uri="{FF2B5EF4-FFF2-40B4-BE49-F238E27FC236}">
                <a16:creationId xmlns:a16="http://schemas.microsoft.com/office/drawing/2014/main" id="{9904BEF6-BD05-40CB-A99E-2F740E0B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2">
            <a:extLst xmlns:a="http://schemas.openxmlformats.org/drawingml/2006/main">
              <a:ext uri="{FF2B5EF4-FFF2-40B4-BE49-F238E27FC236}">
                <a16:creationId xmlns:a16="http://schemas.microsoft.com/office/drawing/2014/main" id="{389AE006-69F5-4C24-8690-CB48CF27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01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90E180F2-FC77-4730-A661-CE3B756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STAV PROJEKTU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4">
            <a:extLst xmlns:a="http://schemas.openxmlformats.org/drawingml/2006/main">
              <a:ext uri="{FF2B5EF4-FFF2-40B4-BE49-F238E27FC236}">
                <a16:creationId xmlns:a16="http://schemas.microsoft.com/office/drawing/2014/main" id="{C0D38A0D-A92A-459C-BBF8-E166A03D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Rezervační systém je ověřený. Otevřená zůstává pouze část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 5">
            <a:extLst xmlns:a="http://schemas.openxmlformats.org/drawingml/2006/main">
              <a:ext uri="{FF2B5EF4-FFF2-40B4-BE49-F238E27FC236}">
                <a16:creationId xmlns:a16="http://schemas.microsoft.com/office/drawing/2014/main" id="{E9DEE2D0-63A8-4777-B261-3C27994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6">
            <a:extLst xmlns:a="http://schemas.openxmlformats.org/drawingml/2006/main">
              <a:ext uri="{FF2B5EF4-FFF2-40B4-BE49-F238E27FC236}">
                <a16:creationId xmlns:a16="http://schemas.microsoft.com/office/drawing/2014/main" id="{9A7B2B72-A31E-497B-AE82-C0A9156C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c08-report-2026-10-30-v2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7">
            <a:extLst xmlns:a="http://schemas.openxmlformats.org/drawingml/2006/main">
              <a:ext uri="{FF2B5EF4-FFF2-40B4-BE49-F238E27FC236}">
                <a16:creationId xmlns:a16="http://schemas.microsoft.com/office/drawing/2014/main" id="{67A2969E-9B78-4275-98E1-6EC993D7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8">
            <a:extLst xmlns:a="http://schemas.openxmlformats.org/drawingml/2006/main">
              <a:ext uri="{FF2B5EF4-FFF2-40B4-BE49-F238E27FC236}">
                <a16:creationId xmlns:a16="http://schemas.microsoft.com/office/drawing/2014/main" id="{DE380233-F242-406C-8A7F-CCFBBC71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9">
            <a:extLst xmlns:a="http://schemas.openxmlformats.org/drawingml/2006/main">
              <a:ext uri="{FF2B5EF4-FFF2-40B4-BE49-F238E27FC236}">
                <a16:creationId xmlns:a16="http://schemas.microsoft.com/office/drawing/2014/main" id="{40AB65D2-7AE6-45B8-A177-F7C5CB63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c08-report-2026-10-30-v2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FC3B2E06-5A4B-4F90-88C4-9B0A151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PROJEKT A TÝM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F9F5CC65-3AA6-4A50-AB66-F06EDD29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Rezervační systém učeben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Lalošák, Filip Vodák, Jakub Juchelka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5B3987B8-BE3E-41DB-BABF-8A1B498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84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48E6436D-4854-4E71-9E03-04B71879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77000"/>
            <a:ext cx="5545440" cy="7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>
            <a:defPPr>
              <a:defRPr>
                <a:solidFill>
                  <a:srgbClr val="9A5800"/>
                </a:solidFill>
              </a:defRPr>
            </a:defPPr>
            <a:lvl1pPr>
              <a:defRPr>
                <a:solidFill>
                  <a:srgbClr val="9A5800"/>
                </a:solidFill>
              </a:defRPr>
            </a:lvl1pPr>
            <a:lvl2pPr>
              <a:defRPr>
                <a:solidFill>
                  <a:srgbClr val="9A5800"/>
                </a:solidFill>
              </a:defRPr>
            </a:lvl2pPr>
            <a:lvl3pPr>
              <a:defRPr>
                <a:solidFill>
                  <a:srgbClr val="9A5800"/>
                </a:solidFill>
              </a:defRPr>
            </a:lvl3pPr>
            <a:lvl4pPr>
              <a:defRPr>
                <a:solidFill>
                  <a:srgbClr val="9A5800"/>
                </a:solidFill>
              </a:defRPr>
            </a:lvl4pPr>
            <a:lvl5pPr>
              <a:defRPr>
                <a:solidFill>
                  <a:srgbClr val="9A5800"/>
                </a:solidFill>
              </a:defRPr>
            </a:lvl5pPr>
            <a:lvl6pPr>
              <a:defRPr>
                <a:solidFill>
                  <a:srgbClr val="9A5800"/>
                </a:solidFill>
              </a:defRPr>
            </a:lvl6pPr>
            <a:lvl7pPr>
              <a:defRPr>
                <a:solidFill>
                  <a:srgbClr val="9A5800"/>
                </a:solidFill>
              </a:defRPr>
            </a:lvl7pPr>
            <a:lvl8pPr>
              <a:defRPr>
                <a:solidFill>
                  <a:srgbClr val="9A5800"/>
                </a:solidFill>
              </a:defRPr>
            </a:lvl8pPr>
            <a:lvl9pPr>
              <a:defRPr>
                <a:solidFill>
                  <a:srgbClr val="9A5800"/>
                </a:solidFill>
              </a:defRPr>
            </a:lvl9pPr>
          </a:lstStyle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AMBER / AT RISK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60" b="0" u="none" strike="noStrike">
                <a:solidFill>
                  <a:srgbClr val="9A5800"/>
                </a:solidFill>
                <a:latin typeface="Arial"/>
                <a:ea typeface="Arial"/>
                <a:cs typeface="Arial"/>
              </a:rPr>
              <a:t>Jediný otevřený nález: C04 / F1.</a:t>
            </a:r>
            <a:endParaRPr sz="15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0AFDC961-4204-4A11-906B-B44F297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DOLOŽENÝ VÝSLEDEK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5">
            <a:extLst xmlns:a="http://schemas.openxmlformats.org/drawingml/2006/main">
              <a:ext uri="{FF2B5EF4-FFF2-40B4-BE49-F238E27FC236}">
                <a16:creationId xmlns:a16="http://schemas.microsoft.com/office/drawing/2014/main" id="{8F2EC3E5-ACCB-4734-9590-9466E25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 ve dvou bězích.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 toho 40 integračních proti PostgreSQL.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74DBC12D-8354-4781-902C-5C8C1DE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18204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OMEZENÍ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39E0F391-F983-4287-8602-82683CC3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75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 od kritéria po rozhodnutí.</a:t>
            </a:r>
            <a:endParaRPr sz="14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55A175A1-41D2-4DB0-8A6F-539065D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462200"/>
            <a:ext cx="1129248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ZÁVĚR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2E0D6B7E-0BDB-45D5-B082-21C0FF6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754880"/>
            <a:ext cx="11292480" cy="58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3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Části A a B jsou zpracované. Funkční ověření prošlo. Zbývá doplnit C04.</a:t>
            </a:r>
            <a:endParaRPr sz="153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2C0F218A-2ACD-42AB-BF7F-A4D085DE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59480"/>
            <a:ext cx="219420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EA2E97DF-428E-4EE8-9134-7298F27A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59480"/>
            <a:ext cx="9097920" cy="69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Postup a termín dokončení jsou součástí plánu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58884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0">
            <a:extLst xmlns:a="http://schemas.openxmlformats.org/drawingml/2006/main">
              <a:ext uri="{FF2B5EF4-FFF2-40B4-BE49-F238E27FC236}">
                <a16:creationId xmlns:a16="http://schemas.microsoft.com/office/drawing/2014/main" id="{DF4B6CAD-BAA7-4ACF-80F2-F6AA7AC2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1">
            <a:extLst xmlns:a="http://schemas.openxmlformats.org/drawingml/2006/main">
              <a:ext uri="{FF2B5EF4-FFF2-40B4-BE49-F238E27FC236}">
                <a16:creationId xmlns:a16="http://schemas.microsoft.com/office/drawing/2014/main" id="{1A12644F-6CC5-461C-9A01-8BC78EF2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">
            <a:extLst xmlns:a="http://schemas.openxmlformats.org/drawingml/2006/main">
              <a:ext uri="{FF2B5EF4-FFF2-40B4-BE49-F238E27FC236}">
                <a16:creationId xmlns:a16="http://schemas.microsoft.com/office/drawing/2014/main" id="{33E6E54A-EDDF-4120-9F12-33CDF78A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02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">
            <a:extLst xmlns:a="http://schemas.openxmlformats.org/drawingml/2006/main">
              <a:ext uri="{FF2B5EF4-FFF2-40B4-BE49-F238E27FC236}">
                <a16:creationId xmlns:a16="http://schemas.microsoft.com/office/drawing/2014/main" id="{7325E1DD-5619-4610-B858-D5A3954C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ROZSAH A DŮKAZY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4">
            <a:extLst xmlns:a="http://schemas.openxmlformats.org/drawingml/2006/main">
              <a:ext uri="{FF2B5EF4-FFF2-40B4-BE49-F238E27FC236}">
                <a16:creationId xmlns:a16="http://schemas.microsoft.com/office/drawing/2014/main" id="{84ABCDB4-CBD8-4B18-88E2-6A8A6325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YES = doložené. PARTLY = částečné. NO = chybí.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5">
            <a:extLst xmlns:a="http://schemas.openxmlformats.org/drawingml/2006/main">
              <a:ext uri="{FF2B5EF4-FFF2-40B4-BE49-F238E27FC236}">
                <a16:creationId xmlns:a16="http://schemas.microsoft.com/office/drawing/2014/main" id="{EF9100E2-5E5B-4AEA-AF2C-82A30FD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6">
            <a:extLst xmlns:a="http://schemas.openxmlformats.org/drawingml/2006/main">
              <a:ext uri="{FF2B5EF4-FFF2-40B4-BE49-F238E27FC236}">
                <a16:creationId xmlns:a16="http://schemas.microsoft.com/office/drawing/2014/main" id="{6F928144-5421-4E60-8F21-89A1893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c08-report-2026-10-30-v2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7">
            <a:extLst xmlns:a="http://schemas.openxmlformats.org/drawingml/2006/main">
              <a:ext uri="{FF2B5EF4-FFF2-40B4-BE49-F238E27FC236}">
                <a16:creationId xmlns:a16="http://schemas.microsoft.com/office/drawing/2014/main" id="{43A47257-F925-4BEC-8F44-37FF70EA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8">
            <a:extLst xmlns:a="http://schemas.openxmlformats.org/drawingml/2006/main">
              <a:ext uri="{FF2B5EF4-FFF2-40B4-BE49-F238E27FC236}">
                <a16:creationId xmlns:a16="http://schemas.microsoft.com/office/drawing/2014/main" id="{40266466-43E3-4873-A2B5-384EB595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9">
            <a:extLst xmlns:a="http://schemas.openxmlformats.org/drawingml/2006/main">
              <a:ext uri="{FF2B5EF4-FFF2-40B4-BE49-F238E27FC236}">
                <a16:creationId xmlns:a16="http://schemas.microsoft.com/office/drawing/2014/main" id="{952E314A-E24C-4BA4-8D5D-461E1D3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c08-report-2026-10-30-v2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0">
            <a:extLst xmlns:a="http://schemas.openxmlformats.org/drawingml/2006/main">
              <a:ext uri="{FF2B5EF4-FFF2-40B4-BE49-F238E27FC236}">
                <a16:creationId xmlns:a16="http://schemas.microsoft.com/office/drawing/2014/main" id="{98B7BE36-D17A-4BBF-8D4E-C01E344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1956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Oblast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Text 11">
            <a:extLst xmlns:a="http://schemas.openxmlformats.org/drawingml/2006/main">
              <a:ext uri="{FF2B5EF4-FFF2-40B4-BE49-F238E27FC236}">
                <a16:creationId xmlns:a16="http://schemas.microsoft.com/office/drawing/2014/main" id="{DC5ECD97-BC12-4076-A852-5CE29A20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Specifikace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2">
            <a:extLst xmlns:a="http://schemas.openxmlformats.org/drawingml/2006/main">
              <a:ext uri="{FF2B5EF4-FFF2-40B4-BE49-F238E27FC236}">
                <a16:creationId xmlns:a16="http://schemas.microsoft.com/office/drawing/2014/main" id="{872F2AFB-5313-4D45-AD8A-F5BC6C70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1993320"/>
            <a:ext cx="9964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Návrh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3">
            <a:extLst xmlns:a="http://schemas.openxmlformats.org/drawingml/2006/main">
              <a:ext uri="{FF2B5EF4-FFF2-40B4-BE49-F238E27FC236}">
                <a16:creationId xmlns:a16="http://schemas.microsoft.com/office/drawing/2014/main" id="{FC6C650F-3AA5-4152-ADB8-B16F3692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1993320"/>
            <a:ext cx="11700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4">
            <a:extLst xmlns:a="http://schemas.openxmlformats.org/drawingml/2006/main">
              <a:ext uri="{FF2B5EF4-FFF2-40B4-BE49-F238E27FC236}">
                <a16:creationId xmlns:a16="http://schemas.microsoft.com/office/drawing/2014/main" id="{E8644624-E764-4F32-9AC2-C1B91CE0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1993320"/>
            <a:ext cx="10602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Ověření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Text 15">
            <a:extLst xmlns:a="http://schemas.openxmlformats.org/drawingml/2006/main">
              <a:ext uri="{FF2B5EF4-FFF2-40B4-BE49-F238E27FC236}">
                <a16:creationId xmlns:a16="http://schemas.microsoft.com/office/drawing/2014/main" id="{A6CCE31F-2E44-454F-8DC5-E2BE65A8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3320"/>
            <a:ext cx="51112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Důkaz / mezera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16">
            <a:extLst xmlns:a="http://schemas.openxmlformats.org/drawingml/2006/main">
              <a:ext uri="{FF2B5EF4-FFF2-40B4-BE49-F238E27FC236}">
                <a16:creationId xmlns:a16="http://schemas.microsoft.com/office/drawing/2014/main" id="{90F9163D-B9F6-4C84-87C1-4731ED97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17">
            <a:extLst xmlns:a="http://schemas.openxmlformats.org/drawingml/2006/main">
              <a:ext uri="{FF2B5EF4-FFF2-40B4-BE49-F238E27FC236}">
                <a16:creationId xmlns:a16="http://schemas.microsoft.com/office/drawing/2014/main" id="{B86D8FAF-5E5C-44B7-A59C-0CC6239F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18">
            <a:extLst xmlns:a="http://schemas.openxmlformats.org/drawingml/2006/main">
              <a:ext uri="{FF2B5EF4-FFF2-40B4-BE49-F238E27FC236}">
                <a16:creationId xmlns:a16="http://schemas.microsoft.com/office/drawing/2014/main" id="{050AC919-D6D6-4635-A5F3-27967C01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45988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19">
            <a:extLst xmlns:a="http://schemas.openxmlformats.org/drawingml/2006/main">
              <a:ext uri="{FF2B5EF4-FFF2-40B4-BE49-F238E27FC236}">
                <a16:creationId xmlns:a16="http://schemas.microsoft.com/office/drawing/2014/main" id="{E6F335C0-E7C7-415A-A7B8-B4F2ECB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45988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0">
            <a:extLst xmlns:a="http://schemas.openxmlformats.org/drawingml/2006/main">
              <a:ext uri="{FF2B5EF4-FFF2-40B4-BE49-F238E27FC236}">
                <a16:creationId xmlns:a16="http://schemas.microsoft.com/office/drawing/2014/main" id="{96C2BDDE-53E6-4F10-A387-B0B086BF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45988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1">
            <a:extLst xmlns:a="http://schemas.openxmlformats.org/drawingml/2006/main">
              <a:ext uri="{FF2B5EF4-FFF2-40B4-BE49-F238E27FC236}">
                <a16:creationId xmlns:a16="http://schemas.microsoft.com/office/drawing/2014/main" id="{B42BB092-6CDB-4D22-9346-0FBEFF3E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988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Specifikace OP-01, doménové testy a HTTP testy.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22">
            <a:extLst xmlns:a="http://schemas.openxmlformats.org/drawingml/2006/main">
              <a:ext uri="{FF2B5EF4-FFF2-40B4-BE49-F238E27FC236}">
                <a16:creationId xmlns:a16="http://schemas.microsoft.com/office/drawing/2014/main" id="{08A48E98-4724-4413-A264-305610C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99016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Availability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C765EAA5-BAAB-4068-98E9-61B8F4E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B5A400D8-25CB-40DD-81BA-4E9DECC1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299016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5">
            <a:extLst xmlns:a="http://schemas.openxmlformats.org/drawingml/2006/main">
              <a:ext uri="{FF2B5EF4-FFF2-40B4-BE49-F238E27FC236}">
                <a16:creationId xmlns:a16="http://schemas.microsoft.com/office/drawing/2014/main" id="{1A9B3AA0-A8FC-4B21-B1B9-1BB90EBC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299016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 26">
            <a:extLst xmlns:a="http://schemas.openxmlformats.org/drawingml/2006/main">
              <a:ext uri="{FF2B5EF4-FFF2-40B4-BE49-F238E27FC236}">
                <a16:creationId xmlns:a16="http://schemas.microsoft.com/office/drawing/2014/main" id="{E4EA8B66-4D2D-44C0-BC9A-60A38234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299016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73D7F1D1-EED6-4E3D-A22D-9ACEBC0E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16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Specifikace OP-02, volný i kolidující interval.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D851D6CE-388F-4E99-BFB7-C4DE4C7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5204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Confirm / Approval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93157DD6-46C6-4C45-9F4E-BAE83129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30">
            <a:extLst xmlns:a="http://schemas.openxmlformats.org/drawingml/2006/main">
              <a:ext uri="{FF2B5EF4-FFF2-40B4-BE49-F238E27FC236}">
                <a16:creationId xmlns:a16="http://schemas.microsoft.com/office/drawing/2014/main" id="{6F641C20-265A-45DD-A1E7-D86D88C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35204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901B0211-9623-40B7-AA38-B23213EC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35204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Text 32">
            <a:extLst xmlns:a="http://schemas.openxmlformats.org/drawingml/2006/main">
              <a:ext uri="{FF2B5EF4-FFF2-40B4-BE49-F238E27FC236}">
                <a16:creationId xmlns:a16="http://schemas.microsoft.com/office/drawing/2014/main" id="{6FCCF054-C6C2-483B-9FE9-338039B3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35204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33">
            <a:extLst xmlns:a="http://schemas.openxmlformats.org/drawingml/2006/main">
              <a:ext uri="{FF2B5EF4-FFF2-40B4-BE49-F238E27FC236}">
                <a16:creationId xmlns:a16="http://schemas.microsoft.com/office/drawing/2014/main" id="{6402E485-A58D-478A-8666-04C6311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204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Specifikace OP-03/05/08, schválení a expirace.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34">
            <a:extLst xmlns:a="http://schemas.openxmlformats.org/drawingml/2006/main">
              <a:ext uri="{FF2B5EF4-FFF2-40B4-BE49-F238E27FC236}">
                <a16:creationId xmlns:a16="http://schemas.microsoft.com/office/drawing/2014/main" id="{3626AA8B-565E-4E37-85BC-1D9D5A69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05072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Cancel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35">
            <a:extLst xmlns:a="http://schemas.openxmlformats.org/drawingml/2006/main">
              <a:ext uri="{FF2B5EF4-FFF2-40B4-BE49-F238E27FC236}">
                <a16:creationId xmlns:a16="http://schemas.microsoft.com/office/drawing/2014/main" id="{E70B27C3-B294-40DB-80E9-E2A49AB8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Text 36">
            <a:extLst xmlns:a="http://schemas.openxmlformats.org/drawingml/2006/main">
              <a:ext uri="{FF2B5EF4-FFF2-40B4-BE49-F238E27FC236}">
                <a16:creationId xmlns:a16="http://schemas.microsoft.com/office/drawing/2014/main" id="{5E8C894B-238D-4114-82EF-3EE8569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05072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37">
            <a:extLst xmlns:a="http://schemas.openxmlformats.org/drawingml/2006/main">
              <a:ext uri="{FF2B5EF4-FFF2-40B4-BE49-F238E27FC236}">
                <a16:creationId xmlns:a16="http://schemas.microsoft.com/office/drawing/2014/main" id="{12487573-AA1D-4594-82BE-D2B1CE0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05072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38">
            <a:extLst xmlns:a="http://schemas.openxmlformats.org/drawingml/2006/main">
              <a:ext uri="{FF2B5EF4-FFF2-40B4-BE49-F238E27FC236}">
                <a16:creationId xmlns:a16="http://schemas.microsoft.com/office/drawing/2014/main" id="{FD86B397-4E05-49E0-8922-E760743C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05072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Text 39">
            <a:extLst xmlns:a="http://schemas.openxmlformats.org/drawingml/2006/main">
              <a:ext uri="{FF2B5EF4-FFF2-40B4-BE49-F238E27FC236}">
                <a16:creationId xmlns:a16="http://schemas.microsoft.com/office/drawing/2014/main" id="{8FEEB29C-2EFF-43D6-9140-243D9462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072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Specifikace OP-04, vlastník a časová hranice.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Text 40">
            <a:extLst xmlns:a="http://schemas.openxmlformats.org/drawingml/2006/main">
              <a:ext uri="{FF2B5EF4-FFF2-40B4-BE49-F238E27FC236}">
                <a16:creationId xmlns:a16="http://schemas.microsoft.com/office/drawing/2014/main" id="{D092A449-1356-46AC-9938-7998E2E3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58100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 / BR-03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41">
            <a:extLst xmlns:a="http://schemas.openxmlformats.org/drawingml/2006/main">
              <a:ext uri="{FF2B5EF4-FFF2-40B4-BE49-F238E27FC236}">
                <a16:creationId xmlns:a16="http://schemas.microsoft.com/office/drawing/2014/main" id="{EB6F4BCA-ECC9-439A-8137-3C5E2F9B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42">
            <a:extLst xmlns:a="http://schemas.openxmlformats.org/drawingml/2006/main">
              <a:ext uri="{FF2B5EF4-FFF2-40B4-BE49-F238E27FC236}">
                <a16:creationId xmlns:a16="http://schemas.microsoft.com/office/drawing/2014/main" id="{C5D32E2D-3A2F-4E97-9D8A-9AAEA2F2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458100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Text 43">
            <a:extLst xmlns:a="http://schemas.openxmlformats.org/drawingml/2006/main">
              <a:ext uri="{FF2B5EF4-FFF2-40B4-BE49-F238E27FC236}">
                <a16:creationId xmlns:a16="http://schemas.microsoft.com/office/drawing/2014/main" id="{3C945EDB-AFB4-43FA-8E27-26488F9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458100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Text 44">
            <a:extLst xmlns:a="http://schemas.openxmlformats.org/drawingml/2006/main">
              <a:ext uri="{FF2B5EF4-FFF2-40B4-BE49-F238E27FC236}">
                <a16:creationId xmlns:a16="http://schemas.microsoft.com/office/drawing/2014/main" id="{8616E02D-7D0F-4107-84FA-A32DFC6D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458100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YES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45">
            <a:extLst xmlns:a="http://schemas.openxmlformats.org/drawingml/2006/main">
              <a:ext uri="{FF2B5EF4-FFF2-40B4-BE49-F238E27FC236}">
                <a16:creationId xmlns:a16="http://schemas.microsoft.com/office/drawing/2014/main" id="{9E7FE746-AA9A-47FF-AEE5-50C64E48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00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BR-02/03, databázová ochrana a souběžné testy.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46">
            <a:extLst xmlns:a="http://schemas.openxmlformats.org/drawingml/2006/main">
              <a:ext uri="{FF2B5EF4-FFF2-40B4-BE49-F238E27FC236}">
                <a16:creationId xmlns:a16="http://schemas.microsoft.com/office/drawing/2014/main" id="{B5ACFC45-E590-4998-8986-15EEE063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1640"/>
            <a:ext cx="19566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Changeability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Text 47">
            <a:extLst xmlns:a="http://schemas.openxmlformats.org/drawingml/2006/main">
              <a:ext uri="{FF2B5EF4-FFF2-40B4-BE49-F238E27FC236}">
                <a16:creationId xmlns:a16="http://schemas.microsoft.com/office/drawing/2014/main" id="{9FED7013-9E51-4255-A409-B9EE865F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0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PARTLY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Text 48">
            <a:extLst xmlns:a="http://schemas.openxmlformats.org/drawingml/2006/main">
              <a:ext uri="{FF2B5EF4-FFF2-40B4-BE49-F238E27FC236}">
                <a16:creationId xmlns:a16="http://schemas.microsoft.com/office/drawing/2014/main" id="{4027AFEC-D600-43A6-A79C-9A47B806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640" y="5111640"/>
            <a:ext cx="9964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49">
            <a:extLst xmlns:a="http://schemas.openxmlformats.org/drawingml/2006/main">
              <a:ext uri="{FF2B5EF4-FFF2-40B4-BE49-F238E27FC236}">
                <a16:creationId xmlns:a16="http://schemas.microsoft.com/office/drawing/2014/main" id="{215F3012-98AB-416C-A1DB-510AD5A9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120" y="5111640"/>
            <a:ext cx="11700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50">
            <a:extLst xmlns:a="http://schemas.openxmlformats.org/drawingml/2006/main">
              <a:ext uri="{FF2B5EF4-FFF2-40B4-BE49-F238E27FC236}">
                <a16:creationId xmlns:a16="http://schemas.microsoft.com/office/drawing/2014/main" id="{8878FA78-5043-400C-83F5-FA8EF449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40" y="5111640"/>
            <a:ext cx="106020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Text 51">
            <a:extLst xmlns:a="http://schemas.openxmlformats.org/drawingml/2006/main">
              <a:ext uri="{FF2B5EF4-FFF2-40B4-BE49-F238E27FC236}">
                <a16:creationId xmlns:a16="http://schemas.microsoft.com/office/drawing/2014/main" id="{766E1BE0-39D9-4321-B324-78484114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11640"/>
            <a:ext cx="5111280" cy="529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OPEN. Tlak je popsán, kritérium a měření chybí.</a:t>
            </a:r>
            <a:endParaRPr sz="11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52">
            <a:extLst xmlns:a="http://schemas.openxmlformats.org/drawingml/2006/main">
              <a:ext uri="{FF2B5EF4-FFF2-40B4-BE49-F238E27FC236}">
                <a16:creationId xmlns:a16="http://schemas.microsoft.com/office/drawing/2014/main" id="{C19D54B8-7073-4DAA-924B-7329F61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788080"/>
            <a:ext cx="219420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OTEVŘENÁ EVIDENCE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Text 53">
            <a:extLst xmlns:a="http://schemas.openxmlformats.org/drawingml/2006/main">
              <a:ext uri="{FF2B5EF4-FFF2-40B4-BE49-F238E27FC236}">
                <a16:creationId xmlns:a16="http://schemas.microsoft.com/office/drawing/2014/main" id="{FC7CD1A0-AFF7-413C-AA77-0388B5CB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788080"/>
            <a:ext cx="9097920" cy="502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OPEN. Úspěšné funkční testy nenahrazují chybějící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05295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hape 0">
            <a:extLst xmlns:a="http://schemas.openxmlformats.org/drawingml/2006/main">
              <a:ext uri="{FF2B5EF4-FFF2-40B4-BE49-F238E27FC236}">
                <a16:creationId xmlns:a16="http://schemas.microsoft.com/office/drawing/2014/main" id="{F8312F37-A47C-4E7F-8580-22967E5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Text 1">
            <a:extLst xmlns:a="http://schemas.openxmlformats.org/drawingml/2006/main">
              <a:ext uri="{FF2B5EF4-FFF2-40B4-BE49-F238E27FC236}">
                <a16:creationId xmlns:a16="http://schemas.microsoft.com/office/drawing/2014/main" id="{504062A4-C5EB-4A4C-B0A8-F2C26D55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Text 2">
            <a:extLst xmlns:a="http://schemas.openxmlformats.org/drawingml/2006/main">
              <a:ext uri="{FF2B5EF4-FFF2-40B4-BE49-F238E27FC236}">
                <a16:creationId xmlns:a16="http://schemas.microsoft.com/office/drawing/2014/main" id="{63907306-1D59-4146-9BF6-2D9600F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03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Text 3">
            <a:extLst xmlns:a="http://schemas.openxmlformats.org/drawingml/2006/main">
              <a:ext uri="{FF2B5EF4-FFF2-40B4-BE49-F238E27FC236}">
                <a16:creationId xmlns:a16="http://schemas.microsoft.com/office/drawing/2014/main" id="{CC961507-C0B1-4A96-ACE9-A334F1EB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DOKONČENÉ ČÁSTI A ZBÝVAJÍCÍ PRÁCE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 4">
            <a:extLst xmlns:a="http://schemas.openxmlformats.org/drawingml/2006/main">
              <a:ext uri="{FF2B5EF4-FFF2-40B4-BE49-F238E27FC236}">
                <a16:creationId xmlns:a16="http://schemas.microsoft.com/office/drawing/2014/main" id="{CCBC254E-2DAD-4B6A-9EFE-8ECA5464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Dokumentace a funkční ověření jsou připravené. Zbývající práce se týká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 5">
            <a:extLst xmlns:a="http://schemas.openxmlformats.org/drawingml/2006/main">
              <a:ext uri="{FF2B5EF4-FFF2-40B4-BE49-F238E27FC236}">
                <a16:creationId xmlns:a16="http://schemas.microsoft.com/office/drawing/2014/main" id="{BD70CFEE-9CD4-4C3C-8D88-2152F9B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Text 6">
            <a:extLst xmlns:a="http://schemas.openxmlformats.org/drawingml/2006/main">
              <a:ext uri="{FF2B5EF4-FFF2-40B4-BE49-F238E27FC236}">
                <a16:creationId xmlns:a16="http://schemas.microsoft.com/office/drawing/2014/main" id="{0F476D20-FF95-4567-8218-5A864A8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c08-report-2026-10-30-v2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Text 7">
            <a:extLst xmlns:a="http://schemas.openxmlformats.org/drawingml/2006/main">
              <a:ext uri="{FF2B5EF4-FFF2-40B4-BE49-F238E27FC236}">
                <a16:creationId xmlns:a16="http://schemas.microsoft.com/office/drawing/2014/main" id="{CDD2E97C-2402-44D8-876F-3F68A3C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hape 8">
            <a:extLst xmlns:a="http://schemas.openxmlformats.org/drawingml/2006/main">
              <a:ext uri="{FF2B5EF4-FFF2-40B4-BE49-F238E27FC236}">
                <a16:creationId xmlns:a16="http://schemas.microsoft.com/office/drawing/2014/main" id="{F2ACEEE8-D82F-4094-88CF-212DE41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Text 9">
            <a:extLst xmlns:a="http://schemas.openxmlformats.org/drawingml/2006/main">
              <a:ext uri="{FF2B5EF4-FFF2-40B4-BE49-F238E27FC236}">
                <a16:creationId xmlns:a16="http://schemas.microsoft.com/office/drawing/2014/main" id="{240AAA92-2C7B-4511-A236-28EADE93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c08-report-2026-10-30-v2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Text 10">
            <a:extLst xmlns:a="http://schemas.openxmlformats.org/drawingml/2006/main">
              <a:ext uri="{FF2B5EF4-FFF2-40B4-BE49-F238E27FC236}">
                <a16:creationId xmlns:a16="http://schemas.microsoft.com/office/drawing/2014/main" id="{6DB4F697-0435-4623-A46D-8F9B3F4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86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Část projektu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Text 11">
            <a:extLst xmlns:a="http://schemas.openxmlformats.org/drawingml/2006/main">
              <a:ext uri="{FF2B5EF4-FFF2-40B4-BE49-F238E27FC236}">
                <a16:creationId xmlns:a16="http://schemas.microsoft.com/office/drawing/2014/main" id="{DCA7FE42-E87C-4F01-B108-601D8C99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1993320"/>
            <a:ext cx="1225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Odpovědnost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Text 12">
            <a:extLst xmlns:a="http://schemas.openxmlformats.org/drawingml/2006/main">
              <a:ext uri="{FF2B5EF4-FFF2-40B4-BE49-F238E27FC236}">
                <a16:creationId xmlns:a16="http://schemas.microsoft.com/office/drawing/2014/main" id="{2E5B1A40-E8A3-4EFF-9C0E-D8EDD399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Plán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Text 13">
            <a:extLst xmlns:a="http://schemas.openxmlformats.org/drawingml/2006/main">
              <a:ext uri="{FF2B5EF4-FFF2-40B4-BE49-F238E27FC236}">
                <a16:creationId xmlns:a16="http://schemas.microsoft.com/office/drawing/2014/main" id="{401190DD-718D-4AAC-9E37-D10AC115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1993320"/>
            <a:ext cx="16639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Skutečnost / výhled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Text 14">
            <a:extLst xmlns:a="http://schemas.openxmlformats.org/drawingml/2006/main">
              <a:ext uri="{FF2B5EF4-FFF2-40B4-BE49-F238E27FC236}">
                <a16:creationId xmlns:a16="http://schemas.microsoft.com/office/drawing/2014/main" id="{FD58540C-B3F8-4162-9575-203C452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1993320"/>
            <a:ext cx="42332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Text 15">
            <a:extLst xmlns:a="http://schemas.openxmlformats.org/drawingml/2006/main">
              <a:ext uri="{FF2B5EF4-FFF2-40B4-BE49-F238E27FC236}">
                <a16:creationId xmlns:a16="http://schemas.microsoft.com/office/drawing/2014/main" id="{BBC4E44D-5D79-495B-9949-766BD38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A: technická obhajoba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Text 16">
            <a:extLst xmlns:a="http://schemas.openxmlformats.org/drawingml/2006/main">
              <a:ext uri="{FF2B5EF4-FFF2-40B4-BE49-F238E27FC236}">
                <a16:creationId xmlns:a16="http://schemas.microsoft.com/office/drawing/2014/main" id="{AB000C9A-E402-4F13-9FF8-233FF96E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24598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Text 17">
            <a:extLst xmlns:a="http://schemas.openxmlformats.org/drawingml/2006/main">
              <a:ext uri="{FF2B5EF4-FFF2-40B4-BE49-F238E27FC236}">
                <a16:creationId xmlns:a16="http://schemas.microsoft.com/office/drawing/2014/main" id="{32466670-D3F6-4B78-A387-9964D8C5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Text 18">
            <a:extLst xmlns:a="http://schemas.openxmlformats.org/drawingml/2006/main">
              <a:ext uri="{FF2B5EF4-FFF2-40B4-BE49-F238E27FC236}">
                <a16:creationId xmlns:a16="http://schemas.microsoft.com/office/drawing/2014/main" id="{981BDC27-26A7-42D6-8FB7-BDACFAE3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24598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Text 19">
            <a:extLst xmlns:a="http://schemas.openxmlformats.org/drawingml/2006/main">
              <a:ext uri="{FF2B5EF4-FFF2-40B4-BE49-F238E27FC236}">
                <a16:creationId xmlns:a16="http://schemas.microsoft.com/office/drawing/2014/main" id="{E41498C5-03EF-471B-86AE-25E33C84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24598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Požadavky, návrh,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kód a důkazy.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xt 20">
            <a:extLst xmlns:a="http://schemas.openxmlformats.org/drawingml/2006/main">
              <a:ext uri="{FF2B5EF4-FFF2-40B4-BE49-F238E27FC236}">
                <a16:creationId xmlns:a16="http://schemas.microsoft.com/office/drawing/2014/main" id="{A144CB7E-10A3-486A-B821-AFB52E1B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07224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Ověření řešení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Text 21">
            <a:extLst xmlns:a="http://schemas.openxmlformats.org/drawingml/2006/main">
              <a:ext uri="{FF2B5EF4-FFF2-40B4-BE49-F238E27FC236}">
                <a16:creationId xmlns:a16="http://schemas.microsoft.com/office/drawing/2014/main" id="{985A8FDB-4686-4434-A3BC-7806957D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07224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Text 22">
            <a:extLst xmlns:a="http://schemas.openxmlformats.org/drawingml/2006/main">
              <a:ext uri="{FF2B5EF4-FFF2-40B4-BE49-F238E27FC236}">
                <a16:creationId xmlns:a16="http://schemas.microsoft.com/office/drawing/2014/main" id="{15447E61-6D99-4885-AB04-900A565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07224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Text 23">
            <a:extLst xmlns:a="http://schemas.openxmlformats.org/drawingml/2006/main">
              <a:ext uri="{FF2B5EF4-FFF2-40B4-BE49-F238E27FC236}">
                <a16:creationId xmlns:a16="http://schemas.microsoft.com/office/drawing/2014/main" id="{4D965C2C-27B2-4BE8-93B4-C09E4EBE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07224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Ověřeno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Text 24">
            <a:extLst xmlns:a="http://schemas.openxmlformats.org/drawingml/2006/main">
              <a:ext uri="{FF2B5EF4-FFF2-40B4-BE49-F238E27FC236}">
                <a16:creationId xmlns:a16="http://schemas.microsoft.com/office/drawing/2014/main" id="{A78158B6-0B5C-4034-A06E-7F5AC45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07224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97 testů prošlo.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Text 25">
            <a:extLst xmlns:a="http://schemas.openxmlformats.org/drawingml/2006/main">
              <a:ext uri="{FF2B5EF4-FFF2-40B4-BE49-F238E27FC236}">
                <a16:creationId xmlns:a16="http://schemas.microsoft.com/office/drawing/2014/main" id="{E75B3B87-0B68-43F4-874D-0E671369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68496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B: registr rizik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Text 26">
            <a:extLst xmlns:a="http://schemas.openxmlformats.org/drawingml/2006/main">
              <a:ext uri="{FF2B5EF4-FFF2-40B4-BE49-F238E27FC236}">
                <a16:creationId xmlns:a16="http://schemas.microsoft.com/office/drawing/2014/main" id="{C26878B8-5C52-4443-BAB0-DF399000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368496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Tým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Text 27">
            <a:extLst xmlns:a="http://schemas.openxmlformats.org/drawingml/2006/main">
              <a:ext uri="{FF2B5EF4-FFF2-40B4-BE49-F238E27FC236}">
                <a16:creationId xmlns:a16="http://schemas.microsoft.com/office/drawing/2014/main" id="{2DE52797-DC6E-4AE7-A9EF-AC5FD3B1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68496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30. 10. 2026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Text 28">
            <a:extLst xmlns:a="http://schemas.openxmlformats.org/drawingml/2006/main">
              <a:ext uri="{FF2B5EF4-FFF2-40B4-BE49-F238E27FC236}">
                <a16:creationId xmlns:a16="http://schemas.microsoft.com/office/drawing/2014/main" id="{39EEB358-1116-45F5-8944-535438C3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368496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Zpracováno 30. 10.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Text 29">
            <a:extLst xmlns:a="http://schemas.openxmlformats.org/drawingml/2006/main">
              <a:ext uri="{FF2B5EF4-FFF2-40B4-BE49-F238E27FC236}">
                <a16:creationId xmlns:a16="http://schemas.microsoft.com/office/drawing/2014/main" id="{58FD6576-F07F-4126-8099-FEE8A65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368496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GREEN. Čtyři rizika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se všemi položkami.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xt 30">
            <a:extLst xmlns:a="http://schemas.openxmlformats.org/drawingml/2006/main">
              <a:ext uri="{FF2B5EF4-FFF2-40B4-BE49-F238E27FC236}">
                <a16:creationId xmlns:a16="http://schemas.microsoft.com/office/drawing/2014/main" id="{D4D2B936-C467-4F0F-BA69-B1E1BABA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97680"/>
            <a:ext cx="28616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C04 / F1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Text 31">
            <a:extLst xmlns:a="http://schemas.openxmlformats.org/drawingml/2006/main">
              <a:ext uri="{FF2B5EF4-FFF2-40B4-BE49-F238E27FC236}">
                <a16:creationId xmlns:a16="http://schemas.microsoft.com/office/drawing/2014/main" id="{3A59402A-123E-49B2-B8AE-1F4AA97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200" y="4297680"/>
            <a:ext cx="122508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Text 32">
            <a:extLst xmlns:a="http://schemas.openxmlformats.org/drawingml/2006/main">
              <a:ext uri="{FF2B5EF4-FFF2-40B4-BE49-F238E27FC236}">
                <a16:creationId xmlns:a16="http://schemas.microsoft.com/office/drawing/2014/main" id="{9754CA03-CB62-4D1D-B5E5-C41F3F14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297680"/>
            <a:ext cx="130716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neurčen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Text 33">
            <a:extLst xmlns:a="http://schemas.openxmlformats.org/drawingml/2006/main">
              <a:ext uri="{FF2B5EF4-FFF2-40B4-BE49-F238E27FC236}">
                <a16:creationId xmlns:a16="http://schemas.microsoft.com/office/drawing/2014/main" id="{D1722559-F812-4C00-959A-775FAF5A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160" y="4297680"/>
            <a:ext cx="166392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OPEN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ext 34">
            <a:extLst xmlns:a="http://schemas.openxmlformats.org/drawingml/2006/main">
              <a:ext uri="{FF2B5EF4-FFF2-40B4-BE49-F238E27FC236}">
                <a16:creationId xmlns:a16="http://schemas.microsoft.com/office/drawing/2014/main" id="{001C8A34-30A4-4ABB-BCD8-3A90F3C7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080" y="4297680"/>
            <a:ext cx="4233240" cy="61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kritérium, měření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8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 rozhodnutí.</a:t>
            </a:r>
            <a:endParaRPr sz="11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 35">
            <a:extLst xmlns:a="http://schemas.openxmlformats.org/drawingml/2006/main">
              <a:ext uri="{FF2B5EF4-FFF2-40B4-BE49-F238E27FC236}">
                <a16:creationId xmlns:a16="http://schemas.microsoft.com/office/drawing/2014/main" id="{21FA961F-6441-4656-AA69-C4FB203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TÝM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 36">
            <a:extLst xmlns:a="http://schemas.openxmlformats.org/drawingml/2006/main">
              <a:ext uri="{FF2B5EF4-FFF2-40B4-BE49-F238E27FC236}">
                <a16:creationId xmlns:a16="http://schemas.microsoft.com/office/drawing/2014/main" id="{50FC70E2-4F8A-4945-913B-B3B7ED1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Lalošák, Filip Vodák, Jakub Juchelka.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Odpovědnosti za rizika jsou uvedené v registru B.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Text 37">
            <a:extLst xmlns:a="http://schemas.openxmlformats.org/drawingml/2006/main">
              <a:ext uri="{FF2B5EF4-FFF2-40B4-BE49-F238E27FC236}">
                <a16:creationId xmlns:a16="http://schemas.microsoft.com/office/drawing/2014/main" id="{CAFAC205-4F39-40D3-A07D-CBF677D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10228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ZBÝVAJÍCÍ ZÁVISLOST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 38">
            <a:extLst xmlns:a="http://schemas.openxmlformats.org/drawingml/2006/main">
              <a:ext uri="{FF2B5EF4-FFF2-40B4-BE49-F238E27FC236}">
                <a16:creationId xmlns:a16="http://schemas.microsoft.com/office/drawing/2014/main" id="{AE5E93D0-6806-442B-88BA-0DE3DF1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5394960"/>
            <a:ext cx="5545440" cy="78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Dokončení evidence C04 je podmínkou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dokončení C04 zatím není stanovený.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58840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Shape 0">
            <a:extLst xmlns:a="http://schemas.openxmlformats.org/drawingml/2006/main">
              <a:ext uri="{FF2B5EF4-FFF2-40B4-BE49-F238E27FC236}">
                <a16:creationId xmlns:a16="http://schemas.microsoft.com/office/drawing/2014/main" id="{21BCDBB0-7654-4194-8F01-7C5A3BFB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 1">
            <a:extLst xmlns:a="http://schemas.openxmlformats.org/drawingml/2006/main">
              <a:ext uri="{FF2B5EF4-FFF2-40B4-BE49-F238E27FC236}">
                <a16:creationId xmlns:a16="http://schemas.microsoft.com/office/drawing/2014/main" id="{87A1D5BC-8CFC-4733-9024-5F4D4372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889B4814-40F1-44FA-96C3-672F0DF4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04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Text 3">
            <a:extLst xmlns:a="http://schemas.openxmlformats.org/drawingml/2006/main">
              <a:ext uri="{FF2B5EF4-FFF2-40B4-BE49-F238E27FC236}">
                <a16:creationId xmlns:a16="http://schemas.microsoft.com/office/drawing/2014/main" id="{B65594EF-FA75-468C-840C-2DD4037F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HLAVNÍ RIZIKA A OTEVŘENÉ BODY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Text 4">
            <a:extLst xmlns:a="http://schemas.openxmlformats.org/drawingml/2006/main">
              <a:ext uri="{FF2B5EF4-FFF2-40B4-BE49-F238E27FC236}">
                <a16:creationId xmlns:a16="http://schemas.microsoft.com/office/drawing/2014/main" id="{2335C1B2-0402-435B-AB33-05AFAB7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Budoucí rizika jsou přijatá. Jediný otevřený nález je C04 /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Text 5">
            <a:extLst xmlns:a="http://schemas.openxmlformats.org/drawingml/2006/main">
              <a:ext uri="{FF2B5EF4-FFF2-40B4-BE49-F238E27FC236}">
                <a16:creationId xmlns:a16="http://schemas.microsoft.com/office/drawing/2014/main" id="{0E1879D5-ECA0-418B-BEB9-C3276B0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Text 6">
            <a:extLst xmlns:a="http://schemas.openxmlformats.org/drawingml/2006/main">
              <a:ext uri="{FF2B5EF4-FFF2-40B4-BE49-F238E27FC236}">
                <a16:creationId xmlns:a16="http://schemas.microsoft.com/office/drawing/2014/main" id="{0FBEDD10-CAC4-4841-B92B-4BD92C6F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c08-report-2026-10-30-v2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 7">
            <a:extLst xmlns:a="http://schemas.openxmlformats.org/drawingml/2006/main">
              <a:ext uri="{FF2B5EF4-FFF2-40B4-BE49-F238E27FC236}">
                <a16:creationId xmlns:a16="http://schemas.microsoft.com/office/drawing/2014/main" id="{5AC8C2CA-171C-48DC-A6DB-DC13BF47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Shape 8">
            <a:extLst xmlns:a="http://schemas.openxmlformats.org/drawingml/2006/main">
              <a:ext uri="{FF2B5EF4-FFF2-40B4-BE49-F238E27FC236}">
                <a16:creationId xmlns:a16="http://schemas.microsoft.com/office/drawing/2014/main" id="{A3A036A1-87FB-42FF-965B-5B5D1658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Text 9">
            <a:extLst xmlns:a="http://schemas.openxmlformats.org/drawingml/2006/main">
              <a:ext uri="{FF2B5EF4-FFF2-40B4-BE49-F238E27FC236}">
                <a16:creationId xmlns:a16="http://schemas.microsoft.com/office/drawing/2014/main" id="{F1360A4A-E16B-4FD9-A750-8A0EF0B0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c08-report-2026-10-30-v2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10">
            <a:extLst xmlns:a="http://schemas.openxmlformats.org/drawingml/2006/main">
              <a:ext uri="{FF2B5EF4-FFF2-40B4-BE49-F238E27FC236}">
                <a16:creationId xmlns:a16="http://schemas.microsoft.com/office/drawing/2014/main" id="{8074E28B-D274-4ECF-9945-96685ADB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11">
            <a:extLst xmlns:a="http://schemas.openxmlformats.org/drawingml/2006/main">
              <a:ext uri="{FF2B5EF4-FFF2-40B4-BE49-F238E27FC236}">
                <a16:creationId xmlns:a16="http://schemas.microsoft.com/office/drawing/2014/main" id="{011E60F9-2C0B-4558-9FF5-0993FE9D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1993320"/>
            <a:ext cx="13071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Počáteční L/I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Text 12">
            <a:extLst xmlns:a="http://schemas.openxmlformats.org/drawingml/2006/main">
              <a:ext uri="{FF2B5EF4-FFF2-40B4-BE49-F238E27FC236}">
                <a16:creationId xmlns:a16="http://schemas.microsoft.com/office/drawing/2014/main" id="{995B469E-0834-474B-AFDD-7E07200D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1993320"/>
            <a:ext cx="1270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Strategie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13">
            <a:extLst xmlns:a="http://schemas.openxmlformats.org/drawingml/2006/main">
              <a:ext uri="{FF2B5EF4-FFF2-40B4-BE49-F238E27FC236}">
                <a16:creationId xmlns:a16="http://schemas.microsoft.com/office/drawing/2014/main" id="{DDA6D546-8521-4994-A6C4-0BA614A2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1993320"/>
            <a:ext cx="2221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Opatření / vlastník / stav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 14">
            <a:extLst xmlns:a="http://schemas.openxmlformats.org/drawingml/2006/main">
              <a:ext uri="{FF2B5EF4-FFF2-40B4-BE49-F238E27FC236}">
                <a16:creationId xmlns:a16="http://schemas.microsoft.com/office/drawing/2014/main" id="{11F4ED11-B5C2-4088-A25B-2D85E68F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1993320"/>
            <a:ext cx="24868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Zbytkové riziko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Text 15">
            <a:extLst xmlns:a="http://schemas.openxmlformats.org/drawingml/2006/main">
              <a:ext uri="{FF2B5EF4-FFF2-40B4-BE49-F238E27FC236}">
                <a16:creationId xmlns:a16="http://schemas.microsoft.com/office/drawing/2014/main" id="{D98D12E4-725F-495B-A1FE-E5E03434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1993320"/>
            <a:ext cx="178272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Trigger / přijetí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 16">
            <a:extLst xmlns:a="http://schemas.openxmlformats.org/drawingml/2006/main">
              <a:ext uri="{FF2B5EF4-FFF2-40B4-BE49-F238E27FC236}">
                <a16:creationId xmlns:a16="http://schemas.microsoft.com/office/drawing/2014/main" id="{DF4C5038-1826-4A2C-B205-3DB9B29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Dvě potvrzení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stejné učebny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 17">
            <a:extLst xmlns:a="http://schemas.openxmlformats.org/drawingml/2006/main">
              <a:ext uri="{FF2B5EF4-FFF2-40B4-BE49-F238E27FC236}">
                <a16:creationId xmlns:a16="http://schemas.microsoft.com/office/drawing/2014/main" id="{0DE4B6C4-5219-445B-BCD7-9939E99A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24598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I=3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HIGH (6)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Text 18">
            <a:extLst xmlns:a="http://schemas.openxmlformats.org/drawingml/2006/main">
              <a:ext uri="{FF2B5EF4-FFF2-40B4-BE49-F238E27FC236}">
                <a16:creationId xmlns:a16="http://schemas.microsoft.com/office/drawing/2014/main" id="{F51A5100-ECFF-4219-909B-5045397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598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 19">
            <a:extLst xmlns:a="http://schemas.openxmlformats.org/drawingml/2006/main">
              <a:ext uri="{FF2B5EF4-FFF2-40B4-BE49-F238E27FC236}">
                <a16:creationId xmlns:a16="http://schemas.microsoft.com/office/drawing/2014/main" id="{ED6597B3-EC7C-4D5E-8038-0707B670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24598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DB ochrana a souběžné testy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 20">
            <a:extLst xmlns:a="http://schemas.openxmlformats.org/drawingml/2006/main">
              <a:ext uri="{FF2B5EF4-FFF2-40B4-BE49-F238E27FC236}">
                <a16:creationId xmlns:a16="http://schemas.microsoft.com/office/drawing/2014/main" id="{C9E53E5B-417E-4D46-A6DC-7573094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24598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1/3 MEDIUM (3)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Text 21">
            <a:extLst xmlns:a="http://schemas.openxmlformats.org/drawingml/2006/main">
              <a:ext uri="{FF2B5EF4-FFF2-40B4-BE49-F238E27FC236}">
                <a16:creationId xmlns:a16="http://schemas.microsoft.com/office/drawing/2014/main" id="{4532919C-5984-4EDE-9D3D-F681A0BF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24598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ochrany / test selže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 22">
            <a:extLst xmlns:a="http://schemas.openxmlformats.org/drawingml/2006/main">
              <a:ext uri="{FF2B5EF4-FFF2-40B4-BE49-F238E27FC236}">
                <a16:creationId xmlns:a16="http://schemas.microsoft.com/office/drawing/2014/main" id="{C467C5D7-A989-4E9E-B5F3-447005BC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R-01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Dokumentace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neodpovídá kódu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Text 23">
            <a:extLst xmlns:a="http://schemas.openxmlformats.org/drawingml/2006/main">
              <a:ext uri="{FF2B5EF4-FFF2-40B4-BE49-F238E27FC236}">
                <a16:creationId xmlns:a16="http://schemas.microsoft.com/office/drawing/2014/main" id="{567A511C-0B0A-4792-B546-E8FBA80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33742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 24">
            <a:extLst xmlns:a="http://schemas.openxmlformats.org/drawingml/2006/main">
              <a:ext uri="{FF2B5EF4-FFF2-40B4-BE49-F238E27FC236}">
                <a16:creationId xmlns:a16="http://schemas.microsoft.com/office/drawing/2014/main" id="{951A0495-E54A-4B7B-B834-35ACEEB4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3742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Text 25">
            <a:extLst xmlns:a="http://schemas.openxmlformats.org/drawingml/2006/main">
              <a:ext uri="{FF2B5EF4-FFF2-40B4-BE49-F238E27FC236}">
                <a16:creationId xmlns:a16="http://schemas.microsoft.com/office/drawing/2014/main" id="{A400B131-8F10-4307-9A47-D3ED991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33742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Porovnat specifikaci a C05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26">
            <a:extLst xmlns:a="http://schemas.openxmlformats.org/drawingml/2006/main">
              <a:ext uri="{FF2B5EF4-FFF2-40B4-BE49-F238E27FC236}">
                <a16:creationId xmlns:a16="http://schemas.microsoft.com/office/drawing/2014/main" id="{5B15A6B9-A947-4E06-8623-34D41EEC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33742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Text 27">
            <a:extLst xmlns:a="http://schemas.openxmlformats.org/drawingml/2006/main">
              <a:ext uri="{FF2B5EF4-FFF2-40B4-BE49-F238E27FC236}">
                <a16:creationId xmlns:a16="http://schemas.microsoft.com/office/drawing/2014/main" id="{FFB0077D-B44D-4572-826B-291AB6D7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33742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Změna pravidla / rozpor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Jakub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28">
            <a:extLst xmlns:a="http://schemas.openxmlformats.org/drawingml/2006/main">
              <a:ext uri="{FF2B5EF4-FFF2-40B4-BE49-F238E27FC236}">
                <a16:creationId xmlns:a16="http://schemas.microsoft.com/office/drawing/2014/main" id="{44559D18-BBAA-44FE-8824-A7DFF6A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R-04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Úkol ze cvičení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nebude včas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Text 29">
            <a:extLst xmlns:a="http://schemas.openxmlformats.org/drawingml/2006/main">
              <a:ext uri="{FF2B5EF4-FFF2-40B4-BE49-F238E27FC236}">
                <a16:creationId xmlns:a16="http://schemas.microsoft.com/office/drawing/2014/main" id="{3EF15D13-0EE1-4F2E-9299-01425561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120" y="4288680"/>
            <a:ext cx="13071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L=2, I=2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MEDIUM (4)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0">
            <a:extLst xmlns:a="http://schemas.openxmlformats.org/drawingml/2006/main">
              <a:ext uri="{FF2B5EF4-FFF2-40B4-BE49-F238E27FC236}">
                <a16:creationId xmlns:a16="http://schemas.microsoft.com/office/drawing/2014/main" id="{F34CE1BF-DB6B-4976-ADFB-32D95421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288680"/>
            <a:ext cx="127080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MITIGATE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Text 31">
            <a:extLst xmlns:a="http://schemas.openxmlformats.org/drawingml/2006/main">
              <a:ext uri="{FF2B5EF4-FFF2-40B4-BE49-F238E27FC236}">
                <a16:creationId xmlns:a16="http://schemas.microsoft.com/office/drawing/2014/main" id="{FF4FE791-7105-41EA-B850-BABB5C0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00" y="4288680"/>
            <a:ext cx="222156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Rozdělit práci a kontrolovat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Kryštof, 30. 10.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2">
            <a:extLst xmlns:a="http://schemas.openxmlformats.org/drawingml/2006/main">
              <a:ext uri="{FF2B5EF4-FFF2-40B4-BE49-F238E27FC236}">
                <a16:creationId xmlns:a16="http://schemas.microsoft.com/office/drawing/2014/main" id="{B3DA52FD-29E1-44A7-829E-FB29D417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720" y="4288680"/>
            <a:ext cx="248688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Oček.: 1/2 LOW (2)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Skuteč.: NOT VERIFIED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Text 33">
            <a:extLst xmlns:a="http://schemas.openxmlformats.org/drawingml/2006/main">
              <a:ext uri="{FF2B5EF4-FFF2-40B4-BE49-F238E27FC236}">
                <a16:creationId xmlns:a16="http://schemas.microsoft.com/office/drawing/2014/main" id="{B8FA71D3-D1A8-456B-AB8A-4E93294F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960" y="4288680"/>
            <a:ext cx="1782720" cy="914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Práce zaostává za plánem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Přijato: Kryštof</a:t>
            </a:r>
            <a:endParaRPr sz="10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Text 34">
            <a:extLst xmlns:a="http://schemas.openxmlformats.org/drawingml/2006/main">
              <a:ext uri="{FF2B5EF4-FFF2-40B4-BE49-F238E27FC236}">
                <a16:creationId xmlns:a16="http://schemas.microsoft.com/office/drawing/2014/main" id="{6865F149-0464-407E-868E-253EDECF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30880"/>
            <a:ext cx="219420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OTEVŘENÉ ISSUES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Text 35">
            <a:extLst xmlns:a="http://schemas.openxmlformats.org/drawingml/2006/main">
              <a:ext uri="{FF2B5EF4-FFF2-40B4-BE49-F238E27FC236}">
                <a16:creationId xmlns:a16="http://schemas.microsoft.com/office/drawing/2014/main" id="{3B97C5CA-4DBB-4CB5-B598-F13CE918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330880"/>
            <a:ext cx="9097920" cy="566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OPEN: chybí úplný řetězec C04.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Další krok: doplnit kritérium, měření a navazující rozhodnutí.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36">
            <a:extLst xmlns:a="http://schemas.openxmlformats.org/drawingml/2006/main">
              <a:ext uri="{FF2B5EF4-FFF2-40B4-BE49-F238E27FC236}">
                <a16:creationId xmlns:a16="http://schemas.microsoft.com/office/drawing/2014/main" id="{CA2BC58F-43A7-41B7-82F6-1A36FD06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026040"/>
            <a:ext cx="1129248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L × I: 1–2 LOW, 3–4 MEDIUM, 6–9 HIGH. R-02 je ve čtyřpoložkovém registru v repozitáři.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7600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Shape 0">
            <a:extLst xmlns:a="http://schemas.openxmlformats.org/drawingml/2006/main">
              <a:ext uri="{FF2B5EF4-FFF2-40B4-BE49-F238E27FC236}">
                <a16:creationId xmlns:a16="http://schemas.microsoft.com/office/drawing/2014/main" id="{831C794D-8DF3-44E5-8B2A-A430A12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1">
            <a:extLst xmlns:a="http://schemas.openxmlformats.org/drawingml/2006/main">
              <a:ext uri="{FF2B5EF4-FFF2-40B4-BE49-F238E27FC236}">
                <a16:creationId xmlns:a16="http://schemas.microsoft.com/office/drawing/2014/main" id="{8491366A-0BD6-4652-BAC9-EFBF0A9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Text 2">
            <a:extLst xmlns:a="http://schemas.openxmlformats.org/drawingml/2006/main">
              <a:ext uri="{FF2B5EF4-FFF2-40B4-BE49-F238E27FC236}">
                <a16:creationId xmlns:a16="http://schemas.microsoft.com/office/drawing/2014/main" id="{0593A655-0CAB-4944-8494-25666E45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05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3">
            <a:extLst xmlns:a="http://schemas.openxmlformats.org/drawingml/2006/main">
              <a:ext uri="{FF2B5EF4-FFF2-40B4-BE49-F238E27FC236}">
                <a16:creationId xmlns:a16="http://schemas.microsoft.com/office/drawing/2014/main" id="{EC7DED43-7AB0-4AFC-A1ED-78EF876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DALŠÍ KROKY K C04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4">
            <a:extLst xmlns:a="http://schemas.openxmlformats.org/drawingml/2006/main">
              <a:ext uri="{FF2B5EF4-FFF2-40B4-BE49-F238E27FC236}">
                <a16:creationId xmlns:a16="http://schemas.microsoft.com/office/drawing/2014/main" id="{CAFB9B7C-D192-4FAA-8414-8245A84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Všechny další kroky směřují k uzavření jediného otevřeného nálezu F1.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5">
            <a:extLst xmlns:a="http://schemas.openxmlformats.org/drawingml/2006/main">
              <a:ext uri="{FF2B5EF4-FFF2-40B4-BE49-F238E27FC236}">
                <a16:creationId xmlns:a16="http://schemas.microsoft.com/office/drawing/2014/main" id="{664E0CEE-7082-42C9-8CA2-5A75A75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Text 6">
            <a:extLst xmlns:a="http://schemas.openxmlformats.org/drawingml/2006/main">
              <a:ext uri="{FF2B5EF4-FFF2-40B4-BE49-F238E27FC236}">
                <a16:creationId xmlns:a16="http://schemas.microsoft.com/office/drawing/2014/main" id="{68A598FF-5FA6-46C9-8C19-45ADA27D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c08-report-2026-10-30-v2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7">
            <a:extLst xmlns:a="http://schemas.openxmlformats.org/drawingml/2006/main">
              <a:ext uri="{FF2B5EF4-FFF2-40B4-BE49-F238E27FC236}">
                <a16:creationId xmlns:a16="http://schemas.microsoft.com/office/drawing/2014/main" id="{7E5CA1E6-77AD-48F4-9EA6-4FCCCDF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hape 8">
            <a:extLst xmlns:a="http://schemas.openxmlformats.org/drawingml/2006/main">
              <a:ext uri="{FF2B5EF4-FFF2-40B4-BE49-F238E27FC236}">
                <a16:creationId xmlns:a16="http://schemas.microsoft.com/office/drawing/2014/main" id="{C77447DC-3DDA-4A25-8E04-15AD6624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9">
            <a:extLst xmlns:a="http://schemas.openxmlformats.org/drawingml/2006/main">
              <a:ext uri="{FF2B5EF4-FFF2-40B4-BE49-F238E27FC236}">
                <a16:creationId xmlns:a16="http://schemas.microsoft.com/office/drawing/2014/main" id="{203089E5-27E0-416C-8755-3A1471EA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c08-report-2026-10-30-v2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Text 10">
            <a:extLst xmlns:a="http://schemas.openxmlformats.org/drawingml/2006/main">
              <a:ext uri="{FF2B5EF4-FFF2-40B4-BE49-F238E27FC236}">
                <a16:creationId xmlns:a16="http://schemas.microsoft.com/office/drawing/2014/main" id="{E24881BE-C1D1-4D4C-919A-E69983A9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279756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 / akce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1">
            <a:extLst xmlns:a="http://schemas.openxmlformats.org/drawingml/2006/main">
              <a:ext uri="{FF2B5EF4-FFF2-40B4-BE49-F238E27FC236}">
                <a16:creationId xmlns:a16="http://schemas.microsoft.com/office/drawing/2014/main" id="{D782B73F-3B9A-4650-986D-002DD2EC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93320"/>
            <a:ext cx="12888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Vlastník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2">
            <a:extLst xmlns:a="http://schemas.openxmlformats.org/drawingml/2006/main">
              <a:ext uri="{FF2B5EF4-FFF2-40B4-BE49-F238E27FC236}">
                <a16:creationId xmlns:a16="http://schemas.microsoft.com/office/drawing/2014/main" id="{BCDCBF03-CA1D-452F-BC36-ABD46C28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1993320"/>
            <a:ext cx="115164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3">
            <a:extLst xmlns:a="http://schemas.openxmlformats.org/drawingml/2006/main">
              <a:ext uri="{FF2B5EF4-FFF2-40B4-BE49-F238E27FC236}">
                <a16:creationId xmlns:a16="http://schemas.microsoft.com/office/drawing/2014/main" id="{636D5880-CD3A-4D2C-B35F-675BD29A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1993320"/>
            <a:ext cx="408708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Hotovo, když existuje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Text 14">
            <a:extLst xmlns:a="http://schemas.openxmlformats.org/drawingml/2006/main">
              <a:ext uri="{FF2B5EF4-FFF2-40B4-BE49-F238E27FC236}">
                <a16:creationId xmlns:a16="http://schemas.microsoft.com/office/drawing/2014/main" id="{4AF778F9-4015-453B-B7C4-F01F31A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1993320"/>
            <a:ext cx="1965600" cy="46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3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Vazba</a:t>
            </a:r>
            <a:endParaRPr sz="113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Text 15">
            <a:extLst xmlns:a="http://schemas.openxmlformats.org/drawingml/2006/main">
              <a:ext uri="{FF2B5EF4-FFF2-40B4-BE49-F238E27FC236}">
                <a16:creationId xmlns:a16="http://schemas.microsoft.com/office/drawing/2014/main" id="{473445E2-D56C-4CE6-90AB-817D1DC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45988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P1 Kritérium C04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6">
            <a:extLst xmlns:a="http://schemas.openxmlformats.org/drawingml/2006/main">
              <a:ext uri="{FF2B5EF4-FFF2-40B4-BE49-F238E27FC236}">
                <a16:creationId xmlns:a16="http://schemas.microsoft.com/office/drawing/2014/main" id="{B887BFBD-1FC5-44AE-83BA-E46096E5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45988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Text 17">
            <a:extLst xmlns:a="http://schemas.openxmlformats.org/drawingml/2006/main">
              <a:ext uri="{FF2B5EF4-FFF2-40B4-BE49-F238E27FC236}">
                <a16:creationId xmlns:a16="http://schemas.microsoft.com/office/drawing/2014/main" id="{7BB5E051-9857-45F3-99A6-01A7CF0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245988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Neurčen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18">
            <a:extLst xmlns:a="http://schemas.openxmlformats.org/drawingml/2006/main">
              <a:ext uri="{FF2B5EF4-FFF2-40B4-BE49-F238E27FC236}">
                <a16:creationId xmlns:a16="http://schemas.microsoft.com/office/drawing/2014/main" id="{21A48273-0451-4CF8-AAB3-A4C0644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245988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Popsaný quality concern a kritérium,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podle kterého lze vyhodnotit výsledek.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 19">
            <a:extLst xmlns:a="http://schemas.openxmlformats.org/drawingml/2006/main">
              <a:ext uri="{FF2B5EF4-FFF2-40B4-BE49-F238E27FC236}">
                <a16:creationId xmlns:a16="http://schemas.microsoft.com/office/drawing/2014/main" id="{4236D16C-A278-4099-897D-9FD4DF66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245988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20">
            <a:extLst xmlns:a="http://schemas.openxmlformats.org/drawingml/2006/main">
              <a:ext uri="{FF2B5EF4-FFF2-40B4-BE49-F238E27FC236}">
                <a16:creationId xmlns:a16="http://schemas.microsoft.com/office/drawing/2014/main" id="{D1C00109-8C5B-4032-9764-A86A39EB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19140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P2 Měření a důkazy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Text 21">
            <a:extLst xmlns:a="http://schemas.openxmlformats.org/drawingml/2006/main">
              <a:ext uri="{FF2B5EF4-FFF2-40B4-BE49-F238E27FC236}">
                <a16:creationId xmlns:a16="http://schemas.microsoft.com/office/drawing/2014/main" id="{ACA28651-954C-4FC7-B436-E05757B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19140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Filip Vodák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22">
            <a:extLst xmlns:a="http://schemas.openxmlformats.org/drawingml/2006/main">
              <a:ext uri="{FF2B5EF4-FFF2-40B4-BE49-F238E27FC236}">
                <a16:creationId xmlns:a16="http://schemas.microsoft.com/office/drawing/2014/main" id="{BF51DF33-972C-4FC6-960B-DAF46EE4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19140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 23">
            <a:extLst xmlns:a="http://schemas.openxmlformats.org/drawingml/2006/main">
              <a:ext uri="{FF2B5EF4-FFF2-40B4-BE49-F238E27FC236}">
                <a16:creationId xmlns:a16="http://schemas.microsoft.com/office/drawing/2014/main" id="{8131122E-A496-46BD-BBBC-41FCDC7B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19140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Zapsané podmínky měření a skutečný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výsledek odpovídající kritériu.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24">
            <a:extLst xmlns:a="http://schemas.openxmlformats.org/drawingml/2006/main">
              <a:ext uri="{FF2B5EF4-FFF2-40B4-BE49-F238E27FC236}">
                <a16:creationId xmlns:a16="http://schemas.microsoft.com/office/drawing/2014/main" id="{7EED0559-64A4-44ED-AD10-2378C6B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19140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Text 25">
            <a:extLst xmlns:a="http://schemas.openxmlformats.org/drawingml/2006/main">
              <a:ext uri="{FF2B5EF4-FFF2-40B4-BE49-F238E27FC236}">
                <a16:creationId xmlns:a16="http://schemas.microsoft.com/office/drawing/2014/main" id="{AE051F38-CFE0-46A5-B6D8-9BE1118A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92292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P3 Rozhodnutí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 26">
            <a:extLst xmlns:a="http://schemas.openxmlformats.org/drawingml/2006/main">
              <a:ext uri="{FF2B5EF4-FFF2-40B4-BE49-F238E27FC236}">
                <a16:creationId xmlns:a16="http://schemas.microsoft.com/office/drawing/2014/main" id="{6C81C2F4-1D98-4B88-B78A-9846AE35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92292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Kryštof Lalošák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 27">
            <a:extLst xmlns:a="http://schemas.openxmlformats.org/drawingml/2006/main">
              <a:ext uri="{FF2B5EF4-FFF2-40B4-BE49-F238E27FC236}">
                <a16:creationId xmlns:a16="http://schemas.microsoft.com/office/drawing/2014/main" id="{6C2285CF-3AA3-4B3C-93E8-D3268E32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392292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P2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Text 28">
            <a:extLst xmlns:a="http://schemas.openxmlformats.org/drawingml/2006/main">
              <a:ext uri="{FF2B5EF4-FFF2-40B4-BE49-F238E27FC236}">
                <a16:creationId xmlns:a16="http://schemas.microsoft.com/office/drawing/2014/main" id="{068DE5A3-966E-4D9C-A12F-3233A3B8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392292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Závěr vycházející z měření a vazba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na architektonické rozhodnutí.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 29">
            <a:extLst xmlns:a="http://schemas.openxmlformats.org/drawingml/2006/main">
              <a:ext uri="{FF2B5EF4-FFF2-40B4-BE49-F238E27FC236}">
                <a16:creationId xmlns:a16="http://schemas.microsoft.com/office/drawing/2014/main" id="{6590CB4E-78BC-4946-A5F8-B31CC00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392292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 30">
            <a:extLst xmlns:a="http://schemas.openxmlformats.org/drawingml/2006/main">
              <a:ext uri="{FF2B5EF4-FFF2-40B4-BE49-F238E27FC236}">
                <a16:creationId xmlns:a16="http://schemas.microsoft.com/office/drawing/2014/main" id="{82A99FF7-D7A3-4DE8-9C85-6253792B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654440"/>
            <a:ext cx="279756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P4 Uzavření 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Text 31">
            <a:extLst xmlns:a="http://schemas.openxmlformats.org/drawingml/2006/main">
              <a:ext uri="{FF2B5EF4-FFF2-40B4-BE49-F238E27FC236}">
                <a16:creationId xmlns:a16="http://schemas.microsoft.com/office/drawing/2014/main" id="{20AB548A-8D12-4DA5-B24E-18BF7A79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54440"/>
            <a:ext cx="12888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Text 32">
            <a:extLst xmlns:a="http://schemas.openxmlformats.org/drawingml/2006/main">
              <a:ext uri="{FF2B5EF4-FFF2-40B4-BE49-F238E27FC236}">
                <a16:creationId xmlns:a16="http://schemas.microsoft.com/office/drawing/2014/main" id="{C39814E1-9FEE-4CC6-A973-68788BD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280" y="4654440"/>
            <a:ext cx="115164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Po P3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33">
            <a:extLst xmlns:a="http://schemas.openxmlformats.org/drawingml/2006/main">
              <a:ext uri="{FF2B5EF4-FFF2-40B4-BE49-F238E27FC236}">
                <a16:creationId xmlns:a16="http://schemas.microsoft.com/office/drawing/2014/main" id="{CF85D365-0390-416F-B9BC-FE89E36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640" y="4654440"/>
            <a:ext cx="408708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Úplný řetězec C04 a dohledatelný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commit s důkazem kontroly.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34">
            <a:extLst xmlns:a="http://schemas.openxmlformats.org/drawingml/2006/main">
              <a:ext uri="{FF2B5EF4-FFF2-40B4-BE49-F238E27FC236}">
                <a16:creationId xmlns:a16="http://schemas.microsoft.com/office/drawing/2014/main" id="{0C47ED40-FCF4-4FE9-9178-19CD591E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080" y="4654440"/>
            <a:ext cx="1965600" cy="73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C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Text 35">
            <a:extLst xmlns:a="http://schemas.openxmlformats.org/drawingml/2006/main">
              <a:ext uri="{FF2B5EF4-FFF2-40B4-BE49-F238E27FC236}">
                <a16:creationId xmlns:a16="http://schemas.microsoft.com/office/drawing/2014/main" id="{3F9531F9-F873-49A1-A8F2-4B535857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568840"/>
            <a:ext cx="219420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4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TERMÍN C04</a:t>
            </a:r>
            <a:endParaRPr sz="114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Text 36">
            <a:extLst xmlns:a="http://schemas.openxmlformats.org/drawingml/2006/main">
              <a:ext uri="{FF2B5EF4-FFF2-40B4-BE49-F238E27FC236}">
                <a16:creationId xmlns:a16="http://schemas.microsoft.com/office/drawing/2014/main" id="{2717067B-4BCF-4830-A5B1-E70FEFF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60" y="5568840"/>
            <a:ext cx="9097920" cy="63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800" tIns="1800" rIns="1800" bIns="180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Termín doplnění C04 není stanovený.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6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Juchelka doplní časový plán C04 do 6. 11. 2026.</a:t>
            </a:r>
            <a:endParaRPr sz="126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95199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Shape 0">
            <a:extLst xmlns:a="http://schemas.openxmlformats.org/drawingml/2006/main">
              <a:ext uri="{FF2B5EF4-FFF2-40B4-BE49-F238E27FC236}">
                <a16:creationId xmlns:a16="http://schemas.microsoft.com/office/drawing/2014/main" id="{E7CBB3FE-68B3-42F4-BCE1-5EC73650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760" cy="8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12700">
            <a:solidFill>
              <a:srgbClr val="2454A5">
                <a:alpha val="0"/>
              </a:srgbClr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37440" rIns="90000" bIns="374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1">
            <a:extLst xmlns:a="http://schemas.openxmlformats.org/drawingml/2006/main">
              <a:ext uri="{FF2B5EF4-FFF2-40B4-BE49-F238E27FC236}">
                <a16:creationId xmlns:a16="http://schemas.microsoft.com/office/drawing/2014/main" id="{AE4CCE7C-20AE-4E12-BCE6-E83BFE5C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1880"/>
            <a:ext cx="8320680" cy="28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SWI / C08 PROJECT STATUS</a:t>
            </a:r>
            <a:endParaRPr sz="10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Text 2">
            <a:extLst xmlns:a="http://schemas.openxmlformats.org/drawingml/2006/main">
              <a:ext uri="{FF2B5EF4-FFF2-40B4-BE49-F238E27FC236}">
                <a16:creationId xmlns:a16="http://schemas.microsoft.com/office/drawing/2014/main" id="{3C9F974E-6490-4D4A-9285-E66C3D8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91880"/>
            <a:ext cx="511560" cy="30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50" b="1" u="none" strike="noStrike">
                <a:solidFill>
                  <a:srgbClr val="2454A5"/>
                </a:solidFill>
                <a:latin typeface="Arial"/>
                <a:ea typeface="Arial"/>
                <a:cs typeface="Arial"/>
              </a:rPr>
              <a:t>06</a:t>
            </a:r>
            <a:endParaRPr sz="11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Text 3">
            <a:extLst xmlns:a="http://schemas.openxmlformats.org/drawingml/2006/main">
              <a:ext uri="{FF2B5EF4-FFF2-40B4-BE49-F238E27FC236}">
                <a16:creationId xmlns:a16="http://schemas.microsoft.com/office/drawing/2014/main" id="{D5E7A8EB-5B80-4FEB-BBBF-637F9D55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11920"/>
            <a:ext cx="11018160" cy="402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50" b="1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ZÁVĚR A DALŠÍ POSTUP</a:t>
            </a:r>
            <a:endParaRPr sz="2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 4">
            <a:extLst xmlns:a="http://schemas.openxmlformats.org/drawingml/2006/main">
              <a:ext uri="{FF2B5EF4-FFF2-40B4-BE49-F238E27FC236}">
                <a16:creationId xmlns:a16="http://schemas.microsoft.com/office/drawing/2014/main" id="{F7E6C4F0-E108-4509-90EE-ED5DF73B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987480"/>
            <a:ext cx="11228400" cy="292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10" b="0" u="none" strike="noStrike">
                <a:solidFill>
                  <a:srgbClr val="52657D"/>
                </a:solidFill>
                <a:latin typeface="Arial"/>
                <a:ea typeface="Arial"/>
                <a:cs typeface="Arial"/>
              </a:rPr>
              <a:t>Funkční řešení a jeho ověření jsou připravené. Zbývá evidence C04.</a:t>
            </a:r>
            <a:endParaRPr sz="121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5">
            <a:extLst xmlns:a="http://schemas.openxmlformats.org/drawingml/2006/main">
              <a:ext uri="{FF2B5EF4-FFF2-40B4-BE49-F238E27FC236}">
                <a16:creationId xmlns:a16="http://schemas.microsoft.com/office/drawing/2014/main" id="{10D4CCCE-A474-402F-B259-546EFE7D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389960"/>
            <a:ext cx="388584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PROJEKT: Rezervační systém učeben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Text 6">
            <a:extLst xmlns:a="http://schemas.openxmlformats.org/drawingml/2006/main">
              <a:ext uri="{FF2B5EF4-FFF2-40B4-BE49-F238E27FC236}">
                <a16:creationId xmlns:a16="http://schemas.microsoft.com/office/drawing/2014/main" id="{CC5C426D-A4D7-4E5A-97AE-673D8C3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00" y="1389960"/>
            <a:ext cx="40413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BASELINE: c08-report-2026-10-30-v2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Text 7">
            <a:extLst xmlns:a="http://schemas.openxmlformats.org/drawingml/2006/main">
              <a:ext uri="{FF2B5EF4-FFF2-40B4-BE49-F238E27FC236}">
                <a16:creationId xmlns:a16="http://schemas.microsoft.com/office/drawing/2014/main" id="{7621F928-0D9B-4F93-A93D-3D5196B2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760" y="1389960"/>
            <a:ext cx="3364560" cy="40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6350">
            <a:solidFill>
              <a:srgbClr val="EAF1FB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40" b="0" u="none" strike="noStrike">
                <a:solidFill>
                  <a:srgbClr val="122641"/>
                </a:solidFill>
                <a:latin typeface="Arial"/>
                <a:ea typeface="Arial"/>
                <a:cs typeface="Arial"/>
              </a:rPr>
              <a:t>DATUM: 30. 10. 2026 / Jakub Juchelka</a:t>
            </a:r>
            <a:endParaRPr sz="10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Shape 8">
            <a:extLst xmlns:a="http://schemas.openxmlformats.org/drawingml/2006/main">
              <a:ext uri="{FF2B5EF4-FFF2-40B4-BE49-F238E27FC236}">
                <a16:creationId xmlns:a16="http://schemas.microsoft.com/office/drawing/2014/main" id="{20358F04-FD4F-4AC5-A2F8-F2943565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40" y="6496560"/>
            <a:ext cx="11292840" cy="36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9">
            <a:extLst xmlns:a="http://schemas.openxmlformats.org/drawingml/2006/main">
              <a:ext uri="{FF2B5EF4-FFF2-40B4-BE49-F238E27FC236}">
                <a16:creationId xmlns:a16="http://schemas.microsoft.com/office/drawing/2014/main" id="{60C921D4-86A9-43CC-8885-C835A4A8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6510600"/>
            <a:ext cx="11063880" cy="17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80" b="0" u="none" strike="noStrike">
                <a:solidFill>
                  <a:srgbClr val="637184"/>
                </a:solidFill>
                <a:latin typeface="Arial"/>
                <a:ea typeface="Arial"/>
                <a:cs typeface="Arial"/>
              </a:rPr>
              <a:t>SWI C08   Baseline: c08-report-2026-10-30-v2   Stav k 30. 10. 2026</a:t>
            </a:r>
            <a:endParaRPr sz="8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Text 10">
            <a:extLst xmlns:a="http://schemas.openxmlformats.org/drawingml/2006/main">
              <a:ext uri="{FF2B5EF4-FFF2-40B4-BE49-F238E27FC236}">
                <a16:creationId xmlns:a16="http://schemas.microsoft.com/office/drawing/2014/main" id="{387B929B-9DEB-4247-B738-1486A88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DOLOŽENÉ VÝSLEDKY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Text 11">
            <a:extLst xmlns:a="http://schemas.openxmlformats.org/drawingml/2006/main">
              <a:ext uri="{FF2B5EF4-FFF2-40B4-BE49-F238E27FC236}">
                <a16:creationId xmlns:a16="http://schemas.microsoft.com/office/drawing/2014/main" id="{DFCDDD14-1111-45E3-8EA0-63A688E2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Create, Availability, Confirm/Approval a Cancel.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97 vybraných testů prošlo.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Souběžné potvrzení přidělí učebnu jen jednou.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 12">
            <a:extLst xmlns:a="http://schemas.openxmlformats.org/drawingml/2006/main">
              <a:ext uri="{FF2B5EF4-FFF2-40B4-BE49-F238E27FC236}">
                <a16:creationId xmlns:a16="http://schemas.microsoft.com/office/drawing/2014/main" id="{E55DA531-B97F-4549-831B-7A1CD16C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19933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OTEVŘENÝ NÁLEZ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13">
            <a:extLst xmlns:a="http://schemas.openxmlformats.org/drawingml/2006/main">
              <a:ext uri="{FF2B5EF4-FFF2-40B4-BE49-F238E27FC236}">
                <a16:creationId xmlns:a16="http://schemas.microsoft.com/office/drawing/2014/main" id="{2C23AF36-3291-4D88-BA1A-D74D9EC5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2286000"/>
            <a:ext cx="5545440" cy="97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F1 ACCEPTED / OPEN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Chybí úplný řetězec C04: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4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Quality Concern, Criterion, Measurement, Decision.</a:t>
            </a:r>
            <a:endParaRPr sz="14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Text 14">
            <a:extLst xmlns:a="http://schemas.openxmlformats.org/drawingml/2006/main">
              <a:ext uri="{FF2B5EF4-FFF2-40B4-BE49-F238E27FC236}">
                <a16:creationId xmlns:a16="http://schemas.microsoft.com/office/drawing/2014/main" id="{8B1E5C69-4AD2-43BD-8AFA-8A5BB641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HLAVNÍ RIZIKO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Text 15">
            <a:extLst xmlns:a="http://schemas.openxmlformats.org/drawingml/2006/main">
              <a:ext uri="{FF2B5EF4-FFF2-40B4-BE49-F238E27FC236}">
                <a16:creationId xmlns:a16="http://schemas.microsoft.com/office/drawing/2014/main" id="{61DD3496-775C-4C14-BF31-5C502438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R-03: dvojí přidělení učebny.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Jakub: DB ochrana a souběžné testy VERIFIED.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Skutečné zbytkové riziko MEDIUM (3), přijato.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Text 16">
            <a:extLst xmlns:a="http://schemas.openxmlformats.org/drawingml/2006/main">
              <a:ext uri="{FF2B5EF4-FFF2-40B4-BE49-F238E27FC236}">
                <a16:creationId xmlns:a16="http://schemas.microsoft.com/office/drawing/2014/main" id="{34689E6A-DAA2-4E05-BD34-DB27B041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474720"/>
            <a:ext cx="5545440" cy="292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POTŘEBNÉ ROZHODNUTÍ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Text 17">
            <a:extLst xmlns:a="http://schemas.openxmlformats.org/drawingml/2006/main">
              <a:ext uri="{FF2B5EF4-FFF2-40B4-BE49-F238E27FC236}">
                <a16:creationId xmlns:a16="http://schemas.microsoft.com/office/drawing/2014/main" id="{E4F7CD9F-BF52-4425-BE0D-4C520117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240" y="3767400"/>
            <a:ext cx="5545440" cy="99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Doplnit C04 a doložit uzavření F1.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9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Jakub doplní časový plán C04 do 6. 11. 2026.</a:t>
            </a:r>
            <a:endParaRPr sz="139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Text 18">
            <a:extLst xmlns:a="http://schemas.openxmlformats.org/drawingml/2006/main">
              <a:ext uri="{FF2B5EF4-FFF2-40B4-BE49-F238E27FC236}">
                <a16:creationId xmlns:a16="http://schemas.microsoft.com/office/drawing/2014/main" id="{6A8DE2C0-C9E7-48D7-B313-CE81E8AA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4992480"/>
            <a:ext cx="11292480" cy="310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A5"/>
          </a:solidFill>
          <a:ln xmlns:a="http://schemas.openxmlformats.org/drawingml/2006/main" w="8255">
            <a:solidFill>
              <a:srgbClr val="2454A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440" tIns="1440" rIns="1440" bIns="1440" anchor="ctr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60" b="1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CELKOVÝ STAV A VÝHLED</a:t>
            </a:r>
            <a:endParaRPr sz="106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Text 19">
            <a:extLst xmlns:a="http://schemas.openxmlformats.org/drawingml/2006/main">
              <a:ext uri="{FF2B5EF4-FFF2-40B4-BE49-F238E27FC236}">
                <a16:creationId xmlns:a16="http://schemas.microsoft.com/office/drawing/2014/main" id="{7BE70E98-C3FB-4166-A622-327662F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00" y="5303520"/>
            <a:ext cx="11292480" cy="96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255">
            <a:solidFill>
              <a:srgbClr val="C8D4E5"/>
            </a:solidFill>
            <a:round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2160" tIns="2160" rIns="2160" bIns="2160" anchor="t">
            <a:noAutofit/>
          </a:bodyPr>
          <a:lstStyle xmlns:a="http://schemas.openxmlformats.org/drawingml/2006/main"/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AMBER / AT RISK kvůli otevřenému C04.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strike="noStrike">
                <a:solidFill>
                  <a:srgbClr val="26354B"/>
                </a:solidFill>
                <a:latin typeface="Arial"/>
                <a:ea typeface="Arial"/>
                <a:cs typeface="Arial"/>
              </a:rPr>
              <a:t>A, B a 97 úspěšných vybraných testů jsou doložené. Termín dokončení C04 zatím není stanovený.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36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2026-10-30T21:56:05.5580000Z</dcterms:created>
  <dcterms:modified xsi:type="dcterms:W3CDTF">2026-10-30T21:56:05.5580000Z</dcterms:modified>
</coreProperties>
</file>