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6ed95e1bc94fd7" /><Relationship Type="http://schemas.openxmlformats.org/officeDocument/2006/relationships/extended-properties" Target="/docProps/app.xml" Id="R8ba80afaa4c4496f" /><Relationship Type="http://schemas.openxmlformats.org/officeDocument/2006/relationships/officeDocument" Target="/ppt/presentation.xml" Id="Re04b20717bee4f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0a1a2f81264189"/>
  </p:sldMasterIdLst>
  <p:notesMasterIdLst>
    <p:notesMasterId xmlns:r="http://schemas.openxmlformats.org/officeDocument/2006/relationships" r:id="R35194645a48944c3"/>
  </p:notesMasterIdLst>
  <p:sldIdLst>
    <p:sldId xmlns:r="http://schemas.openxmlformats.org/officeDocument/2006/relationships" id="256" r:id="Re498506d25aa497d"/>
    <p:sldId xmlns:r="http://schemas.openxmlformats.org/officeDocument/2006/relationships" id="257" r:id="R2e2e5b7d81a74a64"/>
    <p:sldId xmlns:r="http://schemas.openxmlformats.org/officeDocument/2006/relationships" id="258" r:id="R7da5ef2913ca4d6b"/>
    <p:sldId xmlns:r="http://schemas.openxmlformats.org/officeDocument/2006/relationships" id="259" r:id="R0a61073a712540f1"/>
    <p:sldId xmlns:r="http://schemas.openxmlformats.org/officeDocument/2006/relationships" id="260" r:id="R7e0b868300354c08"/>
    <p:sldId xmlns:r="http://schemas.openxmlformats.org/officeDocument/2006/relationships" id="261" r:id="R4250b1989a624b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bbe9866f154e4b" /><Relationship Type="http://schemas.openxmlformats.org/officeDocument/2006/relationships/slideMaster" Target="/ppt/slideMasters/slideMaster1.xml" Id="R5e0a1a2f81264189" /><Relationship Type="http://schemas.openxmlformats.org/officeDocument/2006/relationships/notesMaster" Target="/ppt/notesMasters/notesMaster1.xml" Id="R35194645a48944c3" /><Relationship Type="http://schemas.openxmlformats.org/officeDocument/2006/relationships/presProps" Target="/ppt/presProps.xml" Id="Rfd3383f017d04fc4" /><Relationship Type="http://schemas.openxmlformats.org/officeDocument/2006/relationships/tableStyles" Target="/ppt/tableStyles.xml" Id="Rcfa37e6e6d904483" /><Relationship Type="http://schemas.openxmlformats.org/officeDocument/2006/relationships/slide" Target="/ppt/slides/slide1.xml" Id="Re498506d25aa497d" /><Relationship Type="http://schemas.openxmlformats.org/officeDocument/2006/relationships/slide" Target="/ppt/slides/slide2.xml" Id="R2e2e5b7d81a74a64" /><Relationship Type="http://schemas.openxmlformats.org/officeDocument/2006/relationships/slide" Target="/ppt/slides/slide3.xml" Id="R7da5ef2913ca4d6b" /><Relationship Type="http://schemas.openxmlformats.org/officeDocument/2006/relationships/slide" Target="/ppt/slides/slide4.xml" Id="R0a61073a712540f1" /><Relationship Type="http://schemas.openxmlformats.org/officeDocument/2006/relationships/slide" Target="/ppt/slides/slide5.xml" Id="R7e0b868300354c08" /><Relationship Type="http://schemas.openxmlformats.org/officeDocument/2006/relationships/slide" Target="/ppt/slides/slide6.xml" Id="R4250b1989a624b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2a0db0309b4c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f30f6ef4f14034" /><Relationship Type="http://schemas.openxmlformats.org/officeDocument/2006/relationships/notesMaster" Target="/ppt/notesMasters/notesMaster1.xml" Id="R739d99fc679c4b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2fe700f53647e1" /><Relationship Type="http://schemas.openxmlformats.org/officeDocument/2006/relationships/notesMaster" Target="/ppt/notesMasters/notesMaster1.xml" Id="R5bc86bafdd704b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0803f15e6a48ff" /><Relationship Type="http://schemas.openxmlformats.org/officeDocument/2006/relationships/notesMaster" Target="/ppt/notesMasters/notesMaster1.xml" Id="Rbf80ae60430b45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18b6a20b474f42" /><Relationship Type="http://schemas.openxmlformats.org/officeDocument/2006/relationships/notesMaster" Target="/ppt/notesMasters/notesMaster1.xml" Id="R57532cac808f4c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c308d2240b4085" /><Relationship Type="http://schemas.openxmlformats.org/officeDocument/2006/relationships/notesMaster" Target="/ppt/notesMasters/notesMaster1.xml" Id="R7b36cb10be4941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d11999224642cc" /><Relationship Type="http://schemas.openxmlformats.org/officeDocument/2006/relationships/notesMaster" Target="/ppt/notesMasters/notesMaster1.xml" Id="Re38a98fe54b04d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Reporting baseline: c08-report-2026-10-30-v3. Ověřený kód vychází z f34f0ec0f31782ff1886e9b3c4020c2c39a3fe28. 97 testů = 57 doménových/architektonických a 40 integračních. Jediný otevřený nález je C04/F1. Zdroj: docs/evidence-and-evolution.md a docs/verification/2026-10-30.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Zdroje všech referencí na slidu 2, baseline c08-report-2026-10-30-v3: OP-01/02/03/04/05 a BR-02/03 jsou v docs/specification-v0.2.md. ADR-001/002/005/007 jsou v docs/architecture-and-decisions.md. C05 je docs/c05_detailed_design.md. I1/I2/I3/I4 jsou metody createReservation/checkAvailability/confirmReservation a approveReservation/cancelReservation ve src/src/main/java/cz/vsb/reservation/domain/service/ReservationService.java. DB ochrana je src/src/main/resources/db/migration/V1__init.sql, doménový model src/src/main/java/cz/vsb/reservation/domain/model/Reservation.java. T1 je docs/verification/2026-10-30/cz.vsb.reservation.domain.ReservationServiceTest.txt (24 úspěšných testů). T2 je docs/verification/2026-10-30/cz.vsb.reservation.infrastructure.web.ReservationLifecycleApiTest.txt (22 úspěšných testů). T3 je docs/verification/2026-10-30/cz.vsb.reservation.infrastructure.web.ApprovalWorkflowApiTest.txt (18 úspěšných testů), doplněné T2 pro běžné Confirm. T4 je docs/verification/2026-10-30/cz.vsb.reservation.domain.ReservationTest.txt (27 úspěšných testů) a concurrentConflictingConfirmations_onlyOneAllocation/concurrentConflictingApprovals_onlyOneAllocation v T2/T3. Přesné výsledky souběhu jsou v docs/verification/2026-10-30/approval-selected-cases.txt. C04 vychází z docs/intent-and-change.md, konkrétní mezera F1 je v docs/evidence-and-evolution.md. Textové reference nahrazují klikací odkazy podle požadavku uživatele.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A a B jsou připravené dokumentační výstupy. B může obsahovat neověřená budoucí opatření, což není samo o sobě další prokázaný defect. Jedinou evidovanou neshodou je F1. Počet hodin ani historické termíny nevymýšlíme. Zdroj: docs/evidence-and-evolution.md. Dostupná kapacita znamená reálný čas členů týmu pro zbývající práci, například hodiny týdně. Její číselná hodnota není známá. Výstup ji nevymýšlí a uvádí vlastníka Jakuba a termín doplnění 6. 11. 2026. Jde o plánovací údaj u C04, nikoli další technický nález.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Rizika R-03, R-01 a R-04 přebírají hodnoty a stavy z B. NOT VERIFIED u plánovaného opatření neznamená nový potvrzený problém aplikace. R-02 zůstává v úplném registru B. F1 je samostatný existující nález.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Kroky P1 až P4 jsou plán doplnění C04, nikoli již provedené změny. Jejich kalendářní termín zatím není známý, proto vykazujeme mezeru přímo u C04. Vlastník Jakub doplní časový plán do 6. 11. 2026. Filip vlastní měření, Kryštof rozhodnutí. Tento plán nemění stav F1 ACCEPTED/OPEN.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Jediný otevřený nález je C04/F1. Omezení prototypu, například simulovaná identita a logování oznámení, jsou deklarované hranice současného řešení, nikoli nově zjištěné defects. Zdroje: docs/evidence-and-evolution.md a docs/intent-and-change.md.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b94d9f52b640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2971818b1a47a5" /></Relationships>
</file>

<file path=ppt/slideLayouts/slideLayout1.xml><?xml version="1.0" encoding="utf-8"?>
<p:sldLayout xmlns:p="http://schemas.openxmlformats.org/presentationml/2006/main" type="blank" preserve="1">
  <p:cSld name="DEFAUL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 preserve="1">
  <p:cSld name="SWI_BLANK"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11A37C6-0245-4D27-A716-A3DEB4C0FE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to edit the title text format</a:t>
            </a:r>
            <a:endParaRPr sz="18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2E2FFD6-2356-4016-9CAF-FC7864552E3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32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Second Outline Level</a:t>
            </a:r>
            <a:endParaRPr sz="24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Third Outline Level</a:t>
            </a:r>
            <a:endParaRPr sz="20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Fourth Outline Level</a:t>
            </a:r>
            <a:endParaRPr sz="20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a089e954f24f62" /><Relationship Type="http://schemas.openxmlformats.org/officeDocument/2006/relationships/slideLayout" Target="/ppt/slideLayouts/slideLayout1.xml" Id="Rc78cfe9727b846fa" /><Relationship Type="http://schemas.openxmlformats.org/officeDocument/2006/relationships/slideLayout" Target="/ppt/slideLayouts/slideLayout2.xml" Id="Rb70cf3be94cc439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8cfe9727b846fa"/>
    <p:sldLayoutId xmlns:r="http://schemas.openxmlformats.org/officeDocument/2006/relationships" id="2147483650" r:id="Rb70cf3be94cc4398"/>
  </p:sldLayoutIdLst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23383f251a49b5" /><Relationship Type="http://schemas.openxmlformats.org/officeDocument/2006/relationships/notesSlide" Target="/ppt/notesSlides/notesSlide1.xml" Id="Rba323606258243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47c0c73dcc4ebd" /><Relationship Type="http://schemas.openxmlformats.org/officeDocument/2006/relationships/notesSlide" Target="/ppt/notesSlides/notesSlide2.xml" Id="Rabe41b6aa47547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a47065c72a4e96" /><Relationship Type="http://schemas.openxmlformats.org/officeDocument/2006/relationships/notesSlide" Target="/ppt/notesSlides/notesSlide3.xml" Id="R975b9042c7894c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d727d96247427a" /><Relationship Type="http://schemas.openxmlformats.org/officeDocument/2006/relationships/notesSlide" Target="/ppt/notesSlides/notesSlide4.xml" Id="R9484546c2aea48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6e5391a4034bef" /><Relationship Type="http://schemas.openxmlformats.org/officeDocument/2006/relationships/notesSlide" Target="/ppt/notesSlides/notesSlide5.xml" Id="R2fb886099b404c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a783b37ab048b1" /><Relationship Type="http://schemas.openxmlformats.org/officeDocument/2006/relationships/notesSlide" Target="/ppt/notesSlides/notesSlide6.xml" Id="R10c4263424b64bc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hape 0">
            <a:extLst xmlns:a="http://schemas.openxmlformats.org/drawingml/2006/main">
              <a:ext uri="{FF2B5EF4-FFF2-40B4-BE49-F238E27FC236}">
                <a16:creationId xmlns:a16="http://schemas.microsoft.com/office/drawing/2014/main" id="{966BE03E-82A7-4DBF-B11E-50E678B1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8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12700">
            <a:solidFill>
              <a:srgbClr val="2454A5">
                <a:alpha val="0"/>
              </a:srgbClr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7440" rIns="90000" bIns="374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 1">
            <a:extLst xmlns:a="http://schemas.openxmlformats.org/drawingml/2006/main">
              <a:ext uri="{FF2B5EF4-FFF2-40B4-BE49-F238E27FC236}">
                <a16:creationId xmlns:a16="http://schemas.microsoft.com/office/drawing/2014/main" id="{D33FC6C8-43D1-4CC4-A284-125F0875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1880"/>
            <a:ext cx="832068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SWI / C08 PROJECT STATUS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 2">
            <a:extLst xmlns:a="http://schemas.openxmlformats.org/drawingml/2006/main">
              <a:ext uri="{FF2B5EF4-FFF2-40B4-BE49-F238E27FC236}">
                <a16:creationId xmlns:a16="http://schemas.microsoft.com/office/drawing/2014/main" id="{299A4333-4AB7-44DC-9EBD-85E67105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91880"/>
            <a:ext cx="51156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01</a:t>
            </a:r>
            <a:endParaRPr sz="11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 3">
            <a:extLst xmlns:a="http://schemas.openxmlformats.org/drawingml/2006/main">
              <a:ext uri="{FF2B5EF4-FFF2-40B4-BE49-F238E27FC236}">
                <a16:creationId xmlns:a16="http://schemas.microsoft.com/office/drawing/2014/main" id="{50B0E77F-3B5A-4496-9630-2D161647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1920"/>
            <a:ext cx="1101816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50" b="1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STAV PROJEKTU</a:t>
            </a:r>
            <a:endParaRPr sz="2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 4">
            <a:extLst xmlns:a="http://schemas.openxmlformats.org/drawingml/2006/main">
              <a:ext uri="{FF2B5EF4-FFF2-40B4-BE49-F238E27FC236}">
                <a16:creationId xmlns:a16="http://schemas.microsoft.com/office/drawing/2014/main" id="{2444972C-70B5-4544-8D73-98C7F102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987480"/>
            <a:ext cx="112284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10" b="0" u="none" strike="noStrike">
                <a:solidFill>
                  <a:srgbClr val="52657D"/>
                </a:solidFill>
                <a:latin typeface="Arial"/>
                <a:ea typeface="Arial"/>
                <a:cs typeface="Arial"/>
              </a:rPr>
              <a:t>Rezervační systém je ověřený. Otevřená zůstává pouze část C04.</a:t>
            </a:r>
            <a:endParaRPr sz="121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Text 5">
            <a:extLst xmlns:a="http://schemas.openxmlformats.org/drawingml/2006/main">
              <a:ext uri="{FF2B5EF4-FFF2-40B4-BE49-F238E27FC236}">
                <a16:creationId xmlns:a16="http://schemas.microsoft.com/office/drawing/2014/main" id="{DC5D4541-36C3-4999-9FCC-476ACBC8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389960"/>
            <a:ext cx="388584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PROJEKT: Rezervační systém učeben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 6">
            <a:extLst xmlns:a="http://schemas.openxmlformats.org/drawingml/2006/main">
              <a:ext uri="{FF2B5EF4-FFF2-40B4-BE49-F238E27FC236}">
                <a16:creationId xmlns:a16="http://schemas.microsoft.com/office/drawing/2014/main" id="{2F4FDCC7-0E4A-417E-8364-BC9EBB9A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400" y="1389960"/>
            <a:ext cx="40413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BASELINE: c08-report-2026-10-30-v3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Text 7">
            <a:extLst xmlns:a="http://schemas.openxmlformats.org/drawingml/2006/main">
              <a:ext uri="{FF2B5EF4-FFF2-40B4-BE49-F238E27FC236}">
                <a16:creationId xmlns:a16="http://schemas.microsoft.com/office/drawing/2014/main" id="{F2313E30-9777-4E91-A8B7-A02284A5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760" y="1389960"/>
            <a:ext cx="33645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DATUM: 30. 10. 2026 / Jakub Juchelka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hape 8">
            <a:extLst xmlns:a="http://schemas.openxmlformats.org/drawingml/2006/main">
              <a:ext uri="{FF2B5EF4-FFF2-40B4-BE49-F238E27FC236}">
                <a16:creationId xmlns:a16="http://schemas.microsoft.com/office/drawing/2014/main" id="{E2E2F80F-C274-4442-BDF2-F9C7DEEF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40" y="6496560"/>
            <a:ext cx="112928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 9">
            <a:extLst xmlns:a="http://schemas.openxmlformats.org/drawingml/2006/main">
              <a:ext uri="{FF2B5EF4-FFF2-40B4-BE49-F238E27FC236}">
                <a16:creationId xmlns:a16="http://schemas.microsoft.com/office/drawing/2014/main" id="{9A2DD636-1052-4215-A4FB-EDD76BED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6510600"/>
            <a:ext cx="11063880" cy="17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80" b="0" u="none" strike="noStrike">
                <a:solidFill>
                  <a:srgbClr val="637184"/>
                </a:solidFill>
                <a:latin typeface="Arial"/>
                <a:ea typeface="Arial"/>
                <a:cs typeface="Arial"/>
              </a:rPr>
              <a:t>SWI C08   Baseline: c08-report-2026-10-30-v3   Stav k 30. 10. 2026</a:t>
            </a:r>
            <a:endParaRPr sz="8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Text 10">
            <a:extLst xmlns:a="http://schemas.openxmlformats.org/drawingml/2006/main">
              <a:ext uri="{FF2B5EF4-FFF2-40B4-BE49-F238E27FC236}">
                <a16:creationId xmlns:a16="http://schemas.microsoft.com/office/drawing/2014/main" id="{9923F77C-44F9-4E55-AAAE-B9DCBDF5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8432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PROJEKT A TÝM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CC65A6C8-04E3-4A06-AF3D-CCBCAC32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2277000"/>
            <a:ext cx="5545440" cy="71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Rezervační systém učeben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Kryštof Lalošák, Filip Vodák, Jakub Juchelka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Text 12">
            <a:extLst xmlns:a="http://schemas.openxmlformats.org/drawingml/2006/main">
              <a:ext uri="{FF2B5EF4-FFF2-40B4-BE49-F238E27FC236}">
                <a16:creationId xmlns:a16="http://schemas.microsoft.com/office/drawing/2014/main" id="{D1807EAB-9682-4636-9C56-A1A78EAD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198432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CELKOVÝ STAV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 13">
            <a:extLst xmlns:a="http://schemas.openxmlformats.org/drawingml/2006/main">
              <a:ext uri="{FF2B5EF4-FFF2-40B4-BE49-F238E27FC236}">
                <a16:creationId xmlns:a16="http://schemas.microsoft.com/office/drawing/2014/main" id="{71488D97-4550-4B9A-B9ED-1C583782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2277000"/>
            <a:ext cx="5545440" cy="71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>
            <a:defPPr>
              <a:defRPr>
                <a:solidFill>
                  <a:srgbClr val="9A5800"/>
                </a:solidFill>
              </a:defRPr>
            </a:defPPr>
            <a:lvl1pPr>
              <a:defRPr>
                <a:solidFill>
                  <a:srgbClr val="9A5800"/>
                </a:solidFill>
              </a:defRPr>
            </a:lvl1pPr>
            <a:lvl2pPr>
              <a:defRPr>
                <a:solidFill>
                  <a:srgbClr val="9A5800"/>
                </a:solidFill>
              </a:defRPr>
            </a:lvl2pPr>
            <a:lvl3pPr>
              <a:defRPr>
                <a:solidFill>
                  <a:srgbClr val="9A5800"/>
                </a:solidFill>
              </a:defRPr>
            </a:lvl3pPr>
            <a:lvl4pPr>
              <a:defRPr>
                <a:solidFill>
                  <a:srgbClr val="9A5800"/>
                </a:solidFill>
              </a:defRPr>
            </a:lvl4pPr>
            <a:lvl5pPr>
              <a:defRPr>
                <a:solidFill>
                  <a:srgbClr val="9A5800"/>
                </a:solidFill>
              </a:defRPr>
            </a:lvl5pPr>
            <a:lvl6pPr>
              <a:defRPr>
                <a:solidFill>
                  <a:srgbClr val="9A5800"/>
                </a:solidFill>
              </a:defRPr>
            </a:lvl6pPr>
            <a:lvl7pPr>
              <a:defRPr>
                <a:solidFill>
                  <a:srgbClr val="9A5800"/>
                </a:solidFill>
              </a:defRPr>
            </a:lvl7pPr>
            <a:lvl8pPr>
              <a:defRPr>
                <a:solidFill>
                  <a:srgbClr val="9A5800"/>
                </a:solidFill>
              </a:defRPr>
            </a:lvl8pPr>
            <a:lvl9pPr>
              <a:defRPr>
                <a:solidFill>
                  <a:srgbClr val="9A5800"/>
                </a:solidFill>
              </a:defRPr>
            </a:lvl9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60" b="0" u="none" strike="noStrike">
                <a:solidFill>
                  <a:srgbClr val="9A5800"/>
                </a:solidFill>
                <a:latin typeface="Arial"/>
                <a:ea typeface="Arial"/>
                <a:cs typeface="Arial"/>
              </a:rPr>
              <a:t>AMBER / AT RISK</a:t>
            </a:r>
            <a:endParaRPr sz="15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60" b="0" u="none" strike="noStrike">
                <a:solidFill>
                  <a:srgbClr val="9A5800"/>
                </a:solidFill>
                <a:latin typeface="Arial"/>
                <a:ea typeface="Arial"/>
                <a:cs typeface="Arial"/>
              </a:rPr>
              <a:t>Jediný otevřený nález: C04 / F1.</a:t>
            </a:r>
            <a:endParaRPr sz="15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Text 14">
            <a:extLst xmlns:a="http://schemas.openxmlformats.org/drawingml/2006/main">
              <a:ext uri="{FF2B5EF4-FFF2-40B4-BE49-F238E27FC236}">
                <a16:creationId xmlns:a16="http://schemas.microsoft.com/office/drawing/2014/main" id="{2AF2180F-2B2C-4A76-94E7-1543B0BF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18204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DOLOŽENÝ VÝSLEDEK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Text 15">
            <a:extLst xmlns:a="http://schemas.openxmlformats.org/drawingml/2006/main">
              <a:ext uri="{FF2B5EF4-FFF2-40B4-BE49-F238E27FC236}">
                <a16:creationId xmlns:a16="http://schemas.microsoft.com/office/drawing/2014/main" id="{A8F88CEB-6956-4766-AEC7-90CD06B6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474720"/>
            <a:ext cx="5545440" cy="758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97 vybraných testů prošlo ve dvou bězích.</a:t>
            </a:r>
            <a:endParaRPr sz="14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Z toho 40 integračních proti PostgreSQL.</a:t>
            </a:r>
            <a:endParaRPr sz="14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Text 16">
            <a:extLst xmlns:a="http://schemas.openxmlformats.org/drawingml/2006/main">
              <a:ext uri="{FF2B5EF4-FFF2-40B4-BE49-F238E27FC236}">
                <a16:creationId xmlns:a16="http://schemas.microsoft.com/office/drawing/2014/main" id="{92F148DB-567B-4ECA-8648-10A2177F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318204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HLAVNÍ OMEZENÍ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Text 17">
            <a:extLst xmlns:a="http://schemas.openxmlformats.org/drawingml/2006/main">
              <a:ext uri="{FF2B5EF4-FFF2-40B4-BE49-F238E27FC236}">
                <a16:creationId xmlns:a16="http://schemas.microsoft.com/office/drawing/2014/main" id="{AEF74FFF-8F41-4847-AA96-E5736E79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3474720"/>
            <a:ext cx="5545440" cy="758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 ACCEPTED / OPEN</a:t>
            </a:r>
            <a:endParaRPr sz="14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Chybí úplný řetězec C04 od kritéria po rozhodnutí.</a:t>
            </a:r>
            <a:endParaRPr sz="14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Text 18">
            <a:extLst xmlns:a="http://schemas.openxmlformats.org/drawingml/2006/main">
              <a:ext uri="{FF2B5EF4-FFF2-40B4-BE49-F238E27FC236}">
                <a16:creationId xmlns:a16="http://schemas.microsoft.com/office/drawing/2014/main" id="{8624DCA9-8410-41AD-9EF2-D3737622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462200"/>
            <a:ext cx="1129248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ZÁVĚR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Text 19">
            <a:extLst xmlns:a="http://schemas.openxmlformats.org/drawingml/2006/main">
              <a:ext uri="{FF2B5EF4-FFF2-40B4-BE49-F238E27FC236}">
                <a16:creationId xmlns:a16="http://schemas.microsoft.com/office/drawing/2014/main" id="{E3023875-C92A-4786-B51A-67F9BB8E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754880"/>
            <a:ext cx="11292480" cy="58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3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Části A a B jsou zpracované. Funkční ověření prošlo. Zbývá doplnit C04.</a:t>
            </a:r>
            <a:endParaRPr sz="15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Text 20">
            <a:extLst xmlns:a="http://schemas.openxmlformats.org/drawingml/2006/main">
              <a:ext uri="{FF2B5EF4-FFF2-40B4-BE49-F238E27FC236}">
                <a16:creationId xmlns:a16="http://schemas.microsoft.com/office/drawing/2014/main" id="{80FE8AD6-FA6A-45E7-A1FF-C28D1762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559480"/>
            <a:ext cx="2194200" cy="69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4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POTŘEBNÉ ROZHODNUTÍ</a:t>
            </a:r>
            <a:endParaRPr sz="114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71112980-DEB1-41EE-B9FC-13F72054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760" y="5559480"/>
            <a:ext cx="9097920" cy="69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00" tIns="1800" rIns="1800" bIns="18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Doplnit C04 a doložit uzavření F1.</a:t>
            </a:r>
            <a:endParaRPr sz="12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Postup a termín dokončení jsou součástí plánu C04.</a:t>
            </a:r>
            <a:endParaRPr sz="12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41490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0">
            <a:extLst xmlns:a="http://schemas.openxmlformats.org/drawingml/2006/main">
              <a:ext uri="{FF2B5EF4-FFF2-40B4-BE49-F238E27FC236}">
                <a16:creationId xmlns:a16="http://schemas.microsoft.com/office/drawing/2014/main" id="{455DF9EE-6F9B-4BB2-8409-B4ECF1AF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8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12700">
            <a:solidFill>
              <a:srgbClr val="2454A5">
                <a:alpha val="0"/>
              </a:srgbClr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7440" rIns="90000" bIns="374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Text 1">
            <a:extLst xmlns:a="http://schemas.openxmlformats.org/drawingml/2006/main">
              <a:ext uri="{FF2B5EF4-FFF2-40B4-BE49-F238E27FC236}">
                <a16:creationId xmlns:a16="http://schemas.microsoft.com/office/drawing/2014/main" id="{64B00A1F-3CD4-4DAE-A0BC-D01AA4A9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1880"/>
            <a:ext cx="832068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SWI / C08 PROJECT STATUS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Text 2">
            <a:extLst xmlns:a="http://schemas.openxmlformats.org/drawingml/2006/main">
              <a:ext uri="{FF2B5EF4-FFF2-40B4-BE49-F238E27FC236}">
                <a16:creationId xmlns:a16="http://schemas.microsoft.com/office/drawing/2014/main" id="{C7F9903A-2901-44D4-A7A4-96AA3B0D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91880"/>
            <a:ext cx="51156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02</a:t>
            </a:r>
            <a:endParaRPr sz="11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 3">
            <a:extLst xmlns:a="http://schemas.openxmlformats.org/drawingml/2006/main">
              <a:ext uri="{FF2B5EF4-FFF2-40B4-BE49-F238E27FC236}">
                <a16:creationId xmlns:a16="http://schemas.microsoft.com/office/drawing/2014/main" id="{1EE252F1-F388-4769-A184-EE6AB97A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1920"/>
            <a:ext cx="1101816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50" b="1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ROZSAH A DŮKAZY</a:t>
            </a:r>
            <a:endParaRPr sz="2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 4">
            <a:extLst xmlns:a="http://schemas.openxmlformats.org/drawingml/2006/main">
              <a:ext uri="{FF2B5EF4-FFF2-40B4-BE49-F238E27FC236}">
                <a16:creationId xmlns:a16="http://schemas.microsoft.com/office/drawing/2014/main" id="{78637E02-6F73-48DD-AD4A-5736E55D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987480"/>
            <a:ext cx="112284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10" b="0" u="none" strike="noStrike">
                <a:solidFill>
                  <a:srgbClr val="52657D"/>
                </a:solidFill>
                <a:latin typeface="Arial"/>
                <a:ea typeface="Arial"/>
                <a:cs typeface="Arial"/>
              </a:rPr>
              <a:t>YES = doložené. PARTLY = částečné. NO = chybí. I = metoda, T = testovací sada.</a:t>
            </a:r>
            <a:endParaRPr sz="121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Text 5">
            <a:extLst xmlns:a="http://schemas.openxmlformats.org/drawingml/2006/main">
              <a:ext uri="{FF2B5EF4-FFF2-40B4-BE49-F238E27FC236}">
                <a16:creationId xmlns:a16="http://schemas.microsoft.com/office/drawing/2014/main" id="{1B39B9EA-89E3-468D-BB40-DEC53345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389960"/>
            <a:ext cx="388584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PROJEKT: Rezervační systém učeben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Text 6">
            <a:extLst xmlns:a="http://schemas.openxmlformats.org/drawingml/2006/main">
              <a:ext uri="{FF2B5EF4-FFF2-40B4-BE49-F238E27FC236}">
                <a16:creationId xmlns:a16="http://schemas.microsoft.com/office/drawing/2014/main" id="{A6ED45B1-3770-48CB-A29A-AC8A14B0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400" y="1389960"/>
            <a:ext cx="40413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BASELINE: c08-report-2026-10-30-v3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Text 7">
            <a:extLst xmlns:a="http://schemas.openxmlformats.org/drawingml/2006/main">
              <a:ext uri="{FF2B5EF4-FFF2-40B4-BE49-F238E27FC236}">
                <a16:creationId xmlns:a16="http://schemas.microsoft.com/office/drawing/2014/main" id="{8ACF8B1C-3BCF-4C8C-8D18-8A0F3E15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760" y="1389960"/>
            <a:ext cx="33645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DATUM: 30. 10. 2026 / Jakub Juchelka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hape 8">
            <a:extLst xmlns:a="http://schemas.openxmlformats.org/drawingml/2006/main">
              <a:ext uri="{FF2B5EF4-FFF2-40B4-BE49-F238E27FC236}">
                <a16:creationId xmlns:a16="http://schemas.microsoft.com/office/drawing/2014/main" id="{26F7CD90-0006-41C4-B8B0-90928D42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40" y="6496560"/>
            <a:ext cx="112928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Text 9">
            <a:extLst xmlns:a="http://schemas.openxmlformats.org/drawingml/2006/main">
              <a:ext uri="{FF2B5EF4-FFF2-40B4-BE49-F238E27FC236}">
                <a16:creationId xmlns:a16="http://schemas.microsoft.com/office/drawing/2014/main" id="{01669F9D-FAF8-462C-9603-71FA6907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6510600"/>
            <a:ext cx="11063880" cy="17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80" b="0" u="none" strike="noStrike">
                <a:solidFill>
                  <a:srgbClr val="637184"/>
                </a:solidFill>
                <a:latin typeface="Arial"/>
                <a:ea typeface="Arial"/>
                <a:cs typeface="Arial"/>
              </a:rPr>
              <a:t>SWI C08   Baseline: c08-report-2026-10-30-v3   Stav k 30. 10. 2026</a:t>
            </a:r>
            <a:endParaRPr sz="8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Text 10">
            <a:extLst xmlns:a="http://schemas.openxmlformats.org/drawingml/2006/main">
              <a:ext uri="{FF2B5EF4-FFF2-40B4-BE49-F238E27FC236}">
                <a16:creationId xmlns:a16="http://schemas.microsoft.com/office/drawing/2014/main" id="{BF096800-CA09-4C14-8E6F-C0A21CE0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93320"/>
            <a:ext cx="195660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Oblast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Text 11">
            <a:extLst xmlns:a="http://schemas.openxmlformats.org/drawingml/2006/main">
              <a:ext uri="{FF2B5EF4-FFF2-40B4-BE49-F238E27FC236}">
                <a16:creationId xmlns:a16="http://schemas.microsoft.com/office/drawing/2014/main" id="{C6C6C209-1201-4A2D-B4D4-41BCDF8D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00" y="1993320"/>
            <a:ext cx="99648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Specifikace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Text 12">
            <a:extLst xmlns:a="http://schemas.openxmlformats.org/drawingml/2006/main">
              <a:ext uri="{FF2B5EF4-FFF2-40B4-BE49-F238E27FC236}">
                <a16:creationId xmlns:a16="http://schemas.microsoft.com/office/drawing/2014/main" id="{266DFA0A-1A71-45EB-869C-A588B718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640" y="1993320"/>
            <a:ext cx="99648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Návrh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Text 13">
            <a:extLst xmlns:a="http://schemas.openxmlformats.org/drawingml/2006/main">
              <a:ext uri="{FF2B5EF4-FFF2-40B4-BE49-F238E27FC236}">
                <a16:creationId xmlns:a16="http://schemas.microsoft.com/office/drawing/2014/main" id="{80E6DAFC-5B6F-443F-BFCE-2334ED87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20" y="1993320"/>
            <a:ext cx="117000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Implementace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Text 14">
            <a:extLst xmlns:a="http://schemas.openxmlformats.org/drawingml/2006/main">
              <a:ext uri="{FF2B5EF4-FFF2-40B4-BE49-F238E27FC236}">
                <a16:creationId xmlns:a16="http://schemas.microsoft.com/office/drawing/2014/main" id="{83B01FA9-2B66-4F77-9A13-07688886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840" y="1993320"/>
            <a:ext cx="106020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Ověření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Text 15">
            <a:extLst xmlns:a="http://schemas.openxmlformats.org/drawingml/2006/main">
              <a:ext uri="{FF2B5EF4-FFF2-40B4-BE49-F238E27FC236}">
                <a16:creationId xmlns:a16="http://schemas.microsoft.com/office/drawing/2014/main" id="{083E38C1-20D2-41B2-A847-68B5C734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93320"/>
            <a:ext cx="511128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Důkaz / mezera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Text 16">
            <a:extLst xmlns:a="http://schemas.openxmlformats.org/drawingml/2006/main">
              <a:ext uri="{FF2B5EF4-FFF2-40B4-BE49-F238E27FC236}">
                <a16:creationId xmlns:a16="http://schemas.microsoft.com/office/drawing/2014/main" id="{E9EECA38-2516-484C-9ECD-37655C89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2459880"/>
            <a:ext cx="19566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Create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7">
            <a:extLst xmlns:a="http://schemas.openxmlformats.org/drawingml/2006/main">
              <a:ext uri="{FF2B5EF4-FFF2-40B4-BE49-F238E27FC236}">
                <a16:creationId xmlns:a16="http://schemas.microsoft.com/office/drawing/2014/main" id="{12CC5F6A-40FE-46E1-AABD-74CEFDE4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00" y="245988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OP-01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Text 18">
            <a:extLst xmlns:a="http://schemas.openxmlformats.org/drawingml/2006/main">
              <a:ext uri="{FF2B5EF4-FFF2-40B4-BE49-F238E27FC236}">
                <a16:creationId xmlns:a16="http://schemas.microsoft.com/office/drawing/2014/main" id="{464B71BC-E247-4547-A149-AFC3439D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640" y="245988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ADR-001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Text 19">
            <a:extLst xmlns:a="http://schemas.openxmlformats.org/drawingml/2006/main">
              <a:ext uri="{FF2B5EF4-FFF2-40B4-BE49-F238E27FC236}">
                <a16:creationId xmlns:a16="http://schemas.microsoft.com/office/drawing/2014/main" id="{56D6F5AE-D844-4D3D-B526-B81FFF15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20" y="2459880"/>
            <a:ext cx="11700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I1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Text 20">
            <a:extLst xmlns:a="http://schemas.openxmlformats.org/drawingml/2006/main">
              <a:ext uri="{FF2B5EF4-FFF2-40B4-BE49-F238E27FC236}">
                <a16:creationId xmlns:a16="http://schemas.microsoft.com/office/drawing/2014/main" id="{61D5F2F5-A745-4FB7-9C11-4D61D862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840" y="2459880"/>
            <a:ext cx="10602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T1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Text 21">
            <a:extLst xmlns:a="http://schemas.openxmlformats.org/drawingml/2006/main">
              <a:ext uri="{FF2B5EF4-FFF2-40B4-BE49-F238E27FC236}">
                <a16:creationId xmlns:a16="http://schemas.microsoft.com/office/drawing/2014/main" id="{07AFD7BE-9B50-4E0A-B235-33D30EAC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9880"/>
            <a:ext cx="51112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I1: ReservationService.createReservation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T1: ReservationServiceTest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Text 22">
            <a:extLst xmlns:a="http://schemas.openxmlformats.org/drawingml/2006/main">
              <a:ext uri="{FF2B5EF4-FFF2-40B4-BE49-F238E27FC236}">
                <a16:creationId xmlns:a16="http://schemas.microsoft.com/office/drawing/2014/main" id="{DAE4D6F5-0E09-465E-868B-155E3DCB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2990160"/>
            <a:ext cx="19566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Availability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Text 23">
            <a:extLst xmlns:a="http://schemas.openxmlformats.org/drawingml/2006/main">
              <a:ext uri="{FF2B5EF4-FFF2-40B4-BE49-F238E27FC236}">
                <a16:creationId xmlns:a16="http://schemas.microsoft.com/office/drawing/2014/main" id="{B9D80B7D-77FF-4165-829A-2076E98D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00" y="299016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OP-02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Text 24">
            <a:extLst xmlns:a="http://schemas.openxmlformats.org/drawingml/2006/main">
              <a:ext uri="{FF2B5EF4-FFF2-40B4-BE49-F238E27FC236}">
                <a16:creationId xmlns:a16="http://schemas.microsoft.com/office/drawing/2014/main" id="{D7DC5AA0-6500-4892-989D-824620F7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640" y="299016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ADR-001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Text 25">
            <a:extLst xmlns:a="http://schemas.openxmlformats.org/drawingml/2006/main">
              <a:ext uri="{FF2B5EF4-FFF2-40B4-BE49-F238E27FC236}">
                <a16:creationId xmlns:a16="http://schemas.microsoft.com/office/drawing/2014/main" id="{88DF73EA-9BF6-4385-9758-BABB4007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20" y="2990160"/>
            <a:ext cx="11700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I2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Text 26">
            <a:extLst xmlns:a="http://schemas.openxmlformats.org/drawingml/2006/main">
              <a:ext uri="{FF2B5EF4-FFF2-40B4-BE49-F238E27FC236}">
                <a16:creationId xmlns:a16="http://schemas.microsoft.com/office/drawing/2014/main" id="{6E4291E4-E676-4026-950D-E05884B7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840" y="2990160"/>
            <a:ext cx="10602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T2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Text 27">
            <a:extLst xmlns:a="http://schemas.openxmlformats.org/drawingml/2006/main">
              <a:ext uri="{FF2B5EF4-FFF2-40B4-BE49-F238E27FC236}">
                <a16:creationId xmlns:a16="http://schemas.microsoft.com/office/drawing/2014/main" id="{90EBF4CE-C8D8-4978-87CA-DD9279CA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90160"/>
            <a:ext cx="51112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I2: ReservationService.checkAvailability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T2: ReservationLifecycleApiTest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Text 28">
            <a:extLst xmlns:a="http://schemas.openxmlformats.org/drawingml/2006/main">
              <a:ext uri="{FF2B5EF4-FFF2-40B4-BE49-F238E27FC236}">
                <a16:creationId xmlns:a16="http://schemas.microsoft.com/office/drawing/2014/main" id="{E25A9382-79A0-4B78-81C2-BF7DCA26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520440"/>
            <a:ext cx="19566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Confirm / Approval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Text 29">
            <a:extLst xmlns:a="http://schemas.openxmlformats.org/drawingml/2006/main">
              <a:ext uri="{FF2B5EF4-FFF2-40B4-BE49-F238E27FC236}">
                <a16:creationId xmlns:a16="http://schemas.microsoft.com/office/drawing/2014/main" id="{101DE818-BF3A-4844-9E34-6F27E305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00" y="352044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OP-03/05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Text 30">
            <a:extLst xmlns:a="http://schemas.openxmlformats.org/drawingml/2006/main">
              <a:ext uri="{FF2B5EF4-FFF2-40B4-BE49-F238E27FC236}">
                <a16:creationId xmlns:a16="http://schemas.microsoft.com/office/drawing/2014/main" id="{0F1257FF-E84C-4BB3-B4AD-4BFABF90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640" y="352044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C05 / ADR-007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Text 31">
            <a:extLst xmlns:a="http://schemas.openxmlformats.org/drawingml/2006/main">
              <a:ext uri="{FF2B5EF4-FFF2-40B4-BE49-F238E27FC236}">
                <a16:creationId xmlns:a16="http://schemas.microsoft.com/office/drawing/2014/main" id="{517CBEB2-89BF-4C2F-8BBD-0800583D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20" y="3520440"/>
            <a:ext cx="11700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I3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Text 32">
            <a:extLst xmlns:a="http://schemas.openxmlformats.org/drawingml/2006/main">
              <a:ext uri="{FF2B5EF4-FFF2-40B4-BE49-F238E27FC236}">
                <a16:creationId xmlns:a16="http://schemas.microsoft.com/office/drawing/2014/main" id="{A09BDE85-965F-4A08-9EB2-CF56AC73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840" y="3520440"/>
            <a:ext cx="10602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T3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Text 33">
            <a:extLst xmlns:a="http://schemas.openxmlformats.org/drawingml/2006/main">
              <a:ext uri="{FF2B5EF4-FFF2-40B4-BE49-F238E27FC236}">
                <a16:creationId xmlns:a16="http://schemas.microsoft.com/office/drawing/2014/main" id="{234CF11A-202E-4BD4-AAE9-86BF1EC5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20440"/>
            <a:ext cx="51112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I3: confirmReservation / approveReservation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T3: ApprovalWorkflowApiTest + T2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Text 34">
            <a:extLst xmlns:a="http://schemas.openxmlformats.org/drawingml/2006/main">
              <a:ext uri="{FF2B5EF4-FFF2-40B4-BE49-F238E27FC236}">
                <a16:creationId xmlns:a16="http://schemas.microsoft.com/office/drawing/2014/main" id="{39968282-0F8F-4A73-8872-56033A27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050720"/>
            <a:ext cx="19566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Cancel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Text 35">
            <a:extLst xmlns:a="http://schemas.openxmlformats.org/drawingml/2006/main">
              <a:ext uri="{FF2B5EF4-FFF2-40B4-BE49-F238E27FC236}">
                <a16:creationId xmlns:a16="http://schemas.microsoft.com/office/drawing/2014/main" id="{7B296F19-2224-43F1-AD17-032BBD85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00" y="405072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OP-04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Text 36">
            <a:extLst xmlns:a="http://schemas.openxmlformats.org/drawingml/2006/main">
              <a:ext uri="{FF2B5EF4-FFF2-40B4-BE49-F238E27FC236}">
                <a16:creationId xmlns:a16="http://schemas.microsoft.com/office/drawing/2014/main" id="{40361C42-4E28-4118-8408-F8614F35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640" y="405072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ADR-005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Text 37">
            <a:extLst xmlns:a="http://schemas.openxmlformats.org/drawingml/2006/main">
              <a:ext uri="{FF2B5EF4-FFF2-40B4-BE49-F238E27FC236}">
                <a16:creationId xmlns:a16="http://schemas.microsoft.com/office/drawing/2014/main" id="{6B6D9652-C0B8-4D89-9A66-EB9C9F8F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20" y="4050720"/>
            <a:ext cx="11700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I4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Text 38">
            <a:extLst xmlns:a="http://schemas.openxmlformats.org/drawingml/2006/main">
              <a:ext uri="{FF2B5EF4-FFF2-40B4-BE49-F238E27FC236}">
                <a16:creationId xmlns:a16="http://schemas.microsoft.com/office/drawing/2014/main" id="{D59DB061-16D7-4686-974D-A445F433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840" y="4050720"/>
            <a:ext cx="10602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T2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Text 39">
            <a:extLst xmlns:a="http://schemas.openxmlformats.org/drawingml/2006/main">
              <a:ext uri="{FF2B5EF4-FFF2-40B4-BE49-F238E27FC236}">
                <a16:creationId xmlns:a16="http://schemas.microsoft.com/office/drawing/2014/main" id="{58096D43-23A7-4A7B-B46B-AF461D63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50720"/>
            <a:ext cx="51112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I4: ReservationService.cancelReservation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T2: ReservationLifecycleApiTest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Text 40">
            <a:extLst xmlns:a="http://schemas.openxmlformats.org/drawingml/2006/main">
              <a:ext uri="{FF2B5EF4-FFF2-40B4-BE49-F238E27FC236}">
                <a16:creationId xmlns:a16="http://schemas.microsoft.com/office/drawing/2014/main" id="{33DB612C-8838-4B82-A27A-B81D63B7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581000"/>
            <a:ext cx="19566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BR-02 / BR-03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Text 41">
            <a:extLst xmlns:a="http://schemas.openxmlformats.org/drawingml/2006/main">
              <a:ext uri="{FF2B5EF4-FFF2-40B4-BE49-F238E27FC236}">
                <a16:creationId xmlns:a16="http://schemas.microsoft.com/office/drawing/2014/main" id="{5C2F5C26-75AC-47DF-ACDE-365AFE36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00" y="458100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BR-02/03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Text 42">
            <a:extLst xmlns:a="http://schemas.openxmlformats.org/drawingml/2006/main">
              <a:ext uri="{FF2B5EF4-FFF2-40B4-BE49-F238E27FC236}">
                <a16:creationId xmlns:a16="http://schemas.microsoft.com/office/drawing/2014/main" id="{E9AEBADA-D3E1-4877-9688-7950A7BC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640" y="458100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ADR-002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Text 43">
            <a:extLst xmlns:a="http://schemas.openxmlformats.org/drawingml/2006/main">
              <a:ext uri="{FF2B5EF4-FFF2-40B4-BE49-F238E27FC236}">
                <a16:creationId xmlns:a16="http://schemas.microsoft.com/office/drawing/2014/main" id="{A02AB2DF-A18B-494C-9F4C-2CF28D2F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20" y="4581000"/>
            <a:ext cx="11700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DB / model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Text 44">
            <a:extLst xmlns:a="http://schemas.openxmlformats.org/drawingml/2006/main">
              <a:ext uri="{FF2B5EF4-FFF2-40B4-BE49-F238E27FC236}">
                <a16:creationId xmlns:a16="http://schemas.microsoft.com/office/drawing/2014/main" id="{8E0307DB-3C5B-4D29-9B1B-98968A1B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840" y="4581000"/>
            <a:ext cx="10602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T4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ext 45">
            <a:extLst xmlns:a="http://schemas.openxmlformats.org/drawingml/2006/main">
              <a:ext uri="{FF2B5EF4-FFF2-40B4-BE49-F238E27FC236}">
                <a16:creationId xmlns:a16="http://schemas.microsoft.com/office/drawing/2014/main" id="{41C848E0-F9CF-46F5-88CA-078E4799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81000"/>
            <a:ext cx="51112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T4: ReservationTest + souběh v T2 a T3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DB: V1__init.sql, model: Reservation.java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Text 46">
            <a:extLst xmlns:a="http://schemas.openxmlformats.org/drawingml/2006/main">
              <a:ext uri="{FF2B5EF4-FFF2-40B4-BE49-F238E27FC236}">
                <a16:creationId xmlns:a16="http://schemas.microsoft.com/office/drawing/2014/main" id="{8B18A6B4-753A-498F-8B78-0A138030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11640"/>
            <a:ext cx="19566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C04 Changeability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Text 47">
            <a:extLst xmlns:a="http://schemas.openxmlformats.org/drawingml/2006/main">
              <a:ext uri="{FF2B5EF4-FFF2-40B4-BE49-F238E27FC236}">
                <a16:creationId xmlns:a16="http://schemas.microsoft.com/office/drawing/2014/main" id="{19EE9185-4D0E-4236-97DC-7A3779B2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00" y="511164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PARTLY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Project Frame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Text 48">
            <a:extLst xmlns:a="http://schemas.openxmlformats.org/drawingml/2006/main">
              <a:ext uri="{FF2B5EF4-FFF2-40B4-BE49-F238E27FC236}">
                <a16:creationId xmlns:a16="http://schemas.microsoft.com/office/drawing/2014/main" id="{AC1F251B-38C6-4D4C-ABF6-35CBD06F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640" y="511164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NO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Text 49">
            <a:extLst xmlns:a="http://schemas.openxmlformats.org/drawingml/2006/main">
              <a:ext uri="{FF2B5EF4-FFF2-40B4-BE49-F238E27FC236}">
                <a16:creationId xmlns:a16="http://schemas.microsoft.com/office/drawing/2014/main" id="{97646C41-D419-4703-8037-0239A064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20" y="5111640"/>
            <a:ext cx="11700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NO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Text 50">
            <a:extLst xmlns:a="http://schemas.openxmlformats.org/drawingml/2006/main">
              <a:ext uri="{FF2B5EF4-FFF2-40B4-BE49-F238E27FC236}">
                <a16:creationId xmlns:a16="http://schemas.microsoft.com/office/drawing/2014/main" id="{37423F14-FEA8-41F4-B05D-8EF68244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840" y="5111640"/>
            <a:ext cx="10602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NO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Text 51">
            <a:extLst xmlns:a="http://schemas.openxmlformats.org/drawingml/2006/main">
              <a:ext uri="{FF2B5EF4-FFF2-40B4-BE49-F238E27FC236}">
                <a16:creationId xmlns:a16="http://schemas.microsoft.com/office/drawing/2014/main" id="{275F2571-6BA6-4B7E-AE8C-1FE6621C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11640"/>
            <a:ext cx="51112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intent-and-change.md: Changeability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 OPEN. Kritérium a měření chybí.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Text 52">
            <a:extLst xmlns:a="http://schemas.openxmlformats.org/drawingml/2006/main">
              <a:ext uri="{FF2B5EF4-FFF2-40B4-BE49-F238E27FC236}">
                <a16:creationId xmlns:a16="http://schemas.microsoft.com/office/drawing/2014/main" id="{F48BCAC5-6C77-43E9-B8EC-0C651295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788080"/>
            <a:ext cx="2194200" cy="502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4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OTEVŘENÁ EVIDENCE</a:t>
            </a:r>
            <a:endParaRPr sz="114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Text 53">
            <a:extLst xmlns:a="http://schemas.openxmlformats.org/drawingml/2006/main">
              <a:ext uri="{FF2B5EF4-FFF2-40B4-BE49-F238E27FC236}">
                <a16:creationId xmlns:a16="http://schemas.microsoft.com/office/drawing/2014/main" id="{C6CB0F43-E24A-49B7-861D-3F232691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760" y="5788080"/>
            <a:ext cx="9097920" cy="502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00" tIns="1800" rIns="1800" bIns="18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 ACCEPTED / OPEN. Úspěšné funkční testy nenahrazují chybějící C04.</a:t>
            </a:r>
            <a:endParaRPr sz="12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34100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Shape 0">
            <a:extLst xmlns:a="http://schemas.openxmlformats.org/drawingml/2006/main">
              <a:ext uri="{FF2B5EF4-FFF2-40B4-BE49-F238E27FC236}">
                <a16:creationId xmlns:a16="http://schemas.microsoft.com/office/drawing/2014/main" id="{AF3CDCCF-12B1-43D4-8A71-736559AF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8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12700">
            <a:solidFill>
              <a:srgbClr val="2454A5">
                <a:alpha val="0"/>
              </a:srgbClr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7440" rIns="90000" bIns="374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Text 1">
            <a:extLst xmlns:a="http://schemas.openxmlformats.org/drawingml/2006/main">
              <a:ext uri="{FF2B5EF4-FFF2-40B4-BE49-F238E27FC236}">
                <a16:creationId xmlns:a16="http://schemas.microsoft.com/office/drawing/2014/main" id="{7483C8EA-7D7A-4B1C-984D-13804AD8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1880"/>
            <a:ext cx="832068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SWI / C08 PROJECT STATUS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Text 2">
            <a:extLst xmlns:a="http://schemas.openxmlformats.org/drawingml/2006/main">
              <a:ext uri="{FF2B5EF4-FFF2-40B4-BE49-F238E27FC236}">
                <a16:creationId xmlns:a16="http://schemas.microsoft.com/office/drawing/2014/main" id="{6C16F1D1-97A0-4D5A-A2D6-8DA66D6E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91880"/>
            <a:ext cx="51156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03</a:t>
            </a:r>
            <a:endParaRPr sz="11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Text 3">
            <a:extLst xmlns:a="http://schemas.openxmlformats.org/drawingml/2006/main">
              <a:ext uri="{FF2B5EF4-FFF2-40B4-BE49-F238E27FC236}">
                <a16:creationId xmlns:a16="http://schemas.microsoft.com/office/drawing/2014/main" id="{95D14E46-B67C-4153-AEA8-FF981CA0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1920"/>
            <a:ext cx="1101816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50" b="1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DOKONČENÉ ČÁSTI A ZBÝVAJÍCÍ PRÁCE</a:t>
            </a:r>
            <a:endParaRPr sz="2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Text 4">
            <a:extLst xmlns:a="http://schemas.openxmlformats.org/drawingml/2006/main">
              <a:ext uri="{FF2B5EF4-FFF2-40B4-BE49-F238E27FC236}">
                <a16:creationId xmlns:a16="http://schemas.microsoft.com/office/drawing/2014/main" id="{D7E0F1E6-4666-4E29-952E-0CC8F091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987480"/>
            <a:ext cx="112284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10" b="0" u="none" strike="noStrike">
                <a:solidFill>
                  <a:srgbClr val="52657D"/>
                </a:solidFill>
                <a:latin typeface="Arial"/>
                <a:ea typeface="Arial"/>
                <a:cs typeface="Arial"/>
              </a:rPr>
              <a:t>Dokumentace a funkční ověření jsou připravené. Zbývající práce se týká C04.</a:t>
            </a:r>
            <a:endParaRPr sz="121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Text 5">
            <a:extLst xmlns:a="http://schemas.openxmlformats.org/drawingml/2006/main">
              <a:ext uri="{FF2B5EF4-FFF2-40B4-BE49-F238E27FC236}">
                <a16:creationId xmlns:a16="http://schemas.microsoft.com/office/drawing/2014/main" id="{1FD401C3-9292-441E-8FFF-2D04952A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389960"/>
            <a:ext cx="388584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PROJEKT: Rezervační systém učeben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Text 6">
            <a:extLst xmlns:a="http://schemas.openxmlformats.org/drawingml/2006/main">
              <a:ext uri="{FF2B5EF4-FFF2-40B4-BE49-F238E27FC236}">
                <a16:creationId xmlns:a16="http://schemas.microsoft.com/office/drawing/2014/main" id="{2504ED4A-597F-4C87-84C9-6D676998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400" y="1389960"/>
            <a:ext cx="40413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BASELINE: c08-report-2026-10-30-v3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Text 7">
            <a:extLst xmlns:a="http://schemas.openxmlformats.org/drawingml/2006/main">
              <a:ext uri="{FF2B5EF4-FFF2-40B4-BE49-F238E27FC236}">
                <a16:creationId xmlns:a16="http://schemas.microsoft.com/office/drawing/2014/main" id="{34ABBBA6-C91F-41C8-A668-0C8385A4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760" y="1389960"/>
            <a:ext cx="33645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DATUM: 30. 10. 2026 / Jakub Juchelka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Shape 8">
            <a:extLst xmlns:a="http://schemas.openxmlformats.org/drawingml/2006/main">
              <a:ext uri="{FF2B5EF4-FFF2-40B4-BE49-F238E27FC236}">
                <a16:creationId xmlns:a16="http://schemas.microsoft.com/office/drawing/2014/main" id="{212F17FB-5607-480D-82AD-C84EBF7E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40" y="6496560"/>
            <a:ext cx="112928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Text 9">
            <a:extLst xmlns:a="http://schemas.openxmlformats.org/drawingml/2006/main">
              <a:ext uri="{FF2B5EF4-FFF2-40B4-BE49-F238E27FC236}">
                <a16:creationId xmlns:a16="http://schemas.microsoft.com/office/drawing/2014/main" id="{1841DDB1-8772-434A-B4E8-57486342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6510600"/>
            <a:ext cx="11063880" cy="17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80" b="0" u="none" strike="noStrike">
                <a:solidFill>
                  <a:srgbClr val="637184"/>
                </a:solidFill>
                <a:latin typeface="Arial"/>
                <a:ea typeface="Arial"/>
                <a:cs typeface="Arial"/>
              </a:rPr>
              <a:t>SWI C08   Baseline: c08-report-2026-10-30-v3   Stav k 30. 10. 2026</a:t>
            </a:r>
            <a:endParaRPr sz="8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Text 10">
            <a:extLst xmlns:a="http://schemas.openxmlformats.org/drawingml/2006/main">
              <a:ext uri="{FF2B5EF4-FFF2-40B4-BE49-F238E27FC236}">
                <a16:creationId xmlns:a16="http://schemas.microsoft.com/office/drawing/2014/main" id="{0C3D4FA8-ED5F-4085-A2D5-92E8A120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93320"/>
            <a:ext cx="286164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Část projektu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Text 11">
            <a:extLst xmlns:a="http://schemas.openxmlformats.org/drawingml/2006/main">
              <a:ext uri="{FF2B5EF4-FFF2-40B4-BE49-F238E27FC236}">
                <a16:creationId xmlns:a16="http://schemas.microsoft.com/office/drawing/2014/main" id="{69E5770D-1918-400F-972E-4C8FC967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200" y="1993320"/>
            <a:ext cx="122508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Odpovědnost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Text 12">
            <a:extLst xmlns:a="http://schemas.openxmlformats.org/drawingml/2006/main">
              <a:ext uri="{FF2B5EF4-FFF2-40B4-BE49-F238E27FC236}">
                <a16:creationId xmlns:a16="http://schemas.microsoft.com/office/drawing/2014/main" id="{711671FB-84CE-4620-A6D7-A746D034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1993320"/>
            <a:ext cx="130716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Plán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Text 13">
            <a:extLst xmlns:a="http://schemas.openxmlformats.org/drawingml/2006/main">
              <a:ext uri="{FF2B5EF4-FFF2-40B4-BE49-F238E27FC236}">
                <a16:creationId xmlns:a16="http://schemas.microsoft.com/office/drawing/2014/main" id="{8D1E8A7A-E54D-4FB9-AB49-240D681E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160" y="1993320"/>
            <a:ext cx="166392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Skutečnost / výhled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Text 14">
            <a:extLst xmlns:a="http://schemas.openxmlformats.org/drawingml/2006/main">
              <a:ext uri="{FF2B5EF4-FFF2-40B4-BE49-F238E27FC236}">
                <a16:creationId xmlns:a16="http://schemas.microsoft.com/office/drawing/2014/main" id="{D9C6736B-FDA5-4631-A622-04014410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080" y="1993320"/>
            <a:ext cx="423324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Stav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Text 15">
            <a:extLst xmlns:a="http://schemas.openxmlformats.org/drawingml/2006/main">
              <a:ext uri="{FF2B5EF4-FFF2-40B4-BE49-F238E27FC236}">
                <a16:creationId xmlns:a16="http://schemas.microsoft.com/office/drawing/2014/main" id="{9F5EF8F9-A2B6-409F-9FF2-39010E45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2459880"/>
            <a:ext cx="28616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A: technická obhajoba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Text 16">
            <a:extLst xmlns:a="http://schemas.openxmlformats.org/drawingml/2006/main">
              <a:ext uri="{FF2B5EF4-FFF2-40B4-BE49-F238E27FC236}">
                <a16:creationId xmlns:a16="http://schemas.microsoft.com/office/drawing/2014/main" id="{397639A0-DBE8-415E-A63F-EE3D1D00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200" y="2459880"/>
            <a:ext cx="122508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Tým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Text 17">
            <a:extLst xmlns:a="http://schemas.openxmlformats.org/drawingml/2006/main">
              <a:ext uri="{FF2B5EF4-FFF2-40B4-BE49-F238E27FC236}">
                <a16:creationId xmlns:a16="http://schemas.microsoft.com/office/drawing/2014/main" id="{1ABA6889-296F-4786-A21A-3FD06FBE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2459880"/>
            <a:ext cx="130716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30. 10. 2026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Text 18">
            <a:extLst xmlns:a="http://schemas.openxmlformats.org/drawingml/2006/main">
              <a:ext uri="{FF2B5EF4-FFF2-40B4-BE49-F238E27FC236}">
                <a16:creationId xmlns:a16="http://schemas.microsoft.com/office/drawing/2014/main" id="{AB4A5763-7C2F-4EAD-BBBE-D7C3492C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160" y="2459880"/>
            <a:ext cx="166392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Zpracováno 30. 10.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Text 19">
            <a:extLst xmlns:a="http://schemas.openxmlformats.org/drawingml/2006/main">
              <a:ext uri="{FF2B5EF4-FFF2-40B4-BE49-F238E27FC236}">
                <a16:creationId xmlns:a16="http://schemas.microsoft.com/office/drawing/2014/main" id="{B82534A8-2400-4213-BDD5-E9F488C3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080" y="2459880"/>
            <a:ext cx="42332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GREEN. Požadavky, návrh,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kód a důkazy.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Text 20">
            <a:extLst xmlns:a="http://schemas.openxmlformats.org/drawingml/2006/main">
              <a:ext uri="{FF2B5EF4-FFF2-40B4-BE49-F238E27FC236}">
                <a16:creationId xmlns:a16="http://schemas.microsoft.com/office/drawing/2014/main" id="{FFC6CB88-2D6E-4CD8-BD81-7D4CB6A0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072240"/>
            <a:ext cx="28616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Ověření řešení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Text 21">
            <a:extLst xmlns:a="http://schemas.openxmlformats.org/drawingml/2006/main">
              <a:ext uri="{FF2B5EF4-FFF2-40B4-BE49-F238E27FC236}">
                <a16:creationId xmlns:a16="http://schemas.microsoft.com/office/drawing/2014/main" id="{67D87FE5-2F72-4152-951F-6F0E6A38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200" y="3072240"/>
            <a:ext cx="122508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 Juchelka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Text 22">
            <a:extLst xmlns:a="http://schemas.openxmlformats.org/drawingml/2006/main">
              <a:ext uri="{FF2B5EF4-FFF2-40B4-BE49-F238E27FC236}">
                <a16:creationId xmlns:a16="http://schemas.microsoft.com/office/drawing/2014/main" id="{48CCB2B1-F66D-4B22-BE21-BEE37BEC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3072240"/>
            <a:ext cx="130716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30. 10. 2026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Text 23">
            <a:extLst xmlns:a="http://schemas.openxmlformats.org/drawingml/2006/main">
              <a:ext uri="{FF2B5EF4-FFF2-40B4-BE49-F238E27FC236}">
                <a16:creationId xmlns:a16="http://schemas.microsoft.com/office/drawing/2014/main" id="{6E868EF1-40F6-4E38-B43F-1BA03B3D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160" y="3072240"/>
            <a:ext cx="166392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Ověřeno 30. 10.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Text 24">
            <a:extLst xmlns:a="http://schemas.openxmlformats.org/drawingml/2006/main">
              <a:ext uri="{FF2B5EF4-FFF2-40B4-BE49-F238E27FC236}">
                <a16:creationId xmlns:a16="http://schemas.microsoft.com/office/drawing/2014/main" id="{48045F09-C94D-4CD9-A98D-739E25AC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080" y="3072240"/>
            <a:ext cx="42332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GREEN. 97 testů prošlo.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Text 25">
            <a:extLst xmlns:a="http://schemas.openxmlformats.org/drawingml/2006/main">
              <a:ext uri="{FF2B5EF4-FFF2-40B4-BE49-F238E27FC236}">
                <a16:creationId xmlns:a16="http://schemas.microsoft.com/office/drawing/2014/main" id="{F70D1FAF-7C28-4F23-B48B-951AEBD1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684960"/>
            <a:ext cx="28616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B: registr rizik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Text 26">
            <a:extLst xmlns:a="http://schemas.openxmlformats.org/drawingml/2006/main">
              <a:ext uri="{FF2B5EF4-FFF2-40B4-BE49-F238E27FC236}">
                <a16:creationId xmlns:a16="http://schemas.microsoft.com/office/drawing/2014/main" id="{C8C2700A-AE17-46A1-A902-2143EE64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200" y="3684960"/>
            <a:ext cx="122508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Tým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Text 27">
            <a:extLst xmlns:a="http://schemas.openxmlformats.org/drawingml/2006/main">
              <a:ext uri="{FF2B5EF4-FFF2-40B4-BE49-F238E27FC236}">
                <a16:creationId xmlns:a16="http://schemas.microsoft.com/office/drawing/2014/main" id="{A3C949C7-5D2F-4958-B3E0-70168E1F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3684960"/>
            <a:ext cx="130716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30. 10. 2026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Text 28">
            <a:extLst xmlns:a="http://schemas.openxmlformats.org/drawingml/2006/main">
              <a:ext uri="{FF2B5EF4-FFF2-40B4-BE49-F238E27FC236}">
                <a16:creationId xmlns:a16="http://schemas.microsoft.com/office/drawing/2014/main" id="{D18334E7-D060-46A6-8C06-9D80E66B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160" y="3684960"/>
            <a:ext cx="166392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Zpracováno 30. 10.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Text 29">
            <a:extLst xmlns:a="http://schemas.openxmlformats.org/drawingml/2006/main">
              <a:ext uri="{FF2B5EF4-FFF2-40B4-BE49-F238E27FC236}">
                <a16:creationId xmlns:a16="http://schemas.microsoft.com/office/drawing/2014/main" id="{E8F080F8-CF04-4C00-96EF-8163B4B9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080" y="3684960"/>
            <a:ext cx="42332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GREEN. Čtyři rizika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se všemi položkami.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Text 30">
            <a:extLst xmlns:a="http://schemas.openxmlformats.org/drawingml/2006/main">
              <a:ext uri="{FF2B5EF4-FFF2-40B4-BE49-F238E27FC236}">
                <a16:creationId xmlns:a16="http://schemas.microsoft.com/office/drawing/2014/main" id="{4D98624C-F146-471E-A0B3-EC3AEFA0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297680"/>
            <a:ext cx="28616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C04 / F1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Text 31">
            <a:extLst xmlns:a="http://schemas.openxmlformats.org/drawingml/2006/main">
              <a:ext uri="{FF2B5EF4-FFF2-40B4-BE49-F238E27FC236}">
                <a16:creationId xmlns:a16="http://schemas.microsoft.com/office/drawing/2014/main" id="{8299411D-37FC-429D-9AD4-3AF51D33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200" y="4297680"/>
            <a:ext cx="122508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 Juchelka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Text 32">
            <a:extLst xmlns:a="http://schemas.openxmlformats.org/drawingml/2006/main">
              <a:ext uri="{FF2B5EF4-FFF2-40B4-BE49-F238E27FC236}">
                <a16:creationId xmlns:a16="http://schemas.microsoft.com/office/drawing/2014/main" id="{89991143-D05E-49E5-8F50-E9B28EA4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4297680"/>
            <a:ext cx="130716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Termín neurčen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Text 33">
            <a:extLst xmlns:a="http://schemas.openxmlformats.org/drawingml/2006/main">
              <a:ext uri="{FF2B5EF4-FFF2-40B4-BE49-F238E27FC236}">
                <a16:creationId xmlns:a16="http://schemas.microsoft.com/office/drawing/2014/main" id="{C1749104-2409-471C-A68D-EAD6ACE7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160" y="4297680"/>
            <a:ext cx="166392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OPEN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Text 34">
            <a:extLst xmlns:a="http://schemas.openxmlformats.org/drawingml/2006/main">
              <a:ext uri="{FF2B5EF4-FFF2-40B4-BE49-F238E27FC236}">
                <a16:creationId xmlns:a16="http://schemas.microsoft.com/office/drawing/2014/main" id="{E72786DE-9077-4608-B23E-A38E6F67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080" y="4297680"/>
            <a:ext cx="42332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Doplnit kritérium, měření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 rozhodnutí.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Text 35">
            <a:extLst xmlns:a="http://schemas.openxmlformats.org/drawingml/2006/main">
              <a:ext uri="{FF2B5EF4-FFF2-40B4-BE49-F238E27FC236}">
                <a16:creationId xmlns:a16="http://schemas.microsoft.com/office/drawing/2014/main" id="{99D7D034-0886-4C56-B9CB-EFD51E56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0228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TÝM A DOSTUPNÝ ČAS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Text 36">
            <a:extLst xmlns:a="http://schemas.openxmlformats.org/drawingml/2006/main">
              <a:ext uri="{FF2B5EF4-FFF2-40B4-BE49-F238E27FC236}">
                <a16:creationId xmlns:a16="http://schemas.microsoft.com/office/drawing/2014/main" id="{E5702110-91FB-49B4-8A41-39ADEB8E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394960"/>
            <a:ext cx="5545440" cy="78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Tři členové týmu. Čas na zbývající C04 není vyčíslený.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 doplní dostupné hodiny a plán do 6. 11. 2026.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Text 37">
            <a:extLst xmlns:a="http://schemas.openxmlformats.org/drawingml/2006/main">
              <a:ext uri="{FF2B5EF4-FFF2-40B4-BE49-F238E27FC236}">
                <a16:creationId xmlns:a16="http://schemas.microsoft.com/office/drawing/2014/main" id="{DE76FE86-EE63-47FB-A92C-7214B48B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510228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ZBÝVAJÍCÍ ZÁVISLOST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Text 38">
            <a:extLst xmlns:a="http://schemas.openxmlformats.org/drawingml/2006/main">
              <a:ext uri="{FF2B5EF4-FFF2-40B4-BE49-F238E27FC236}">
                <a16:creationId xmlns:a16="http://schemas.microsoft.com/office/drawing/2014/main" id="{80D374BB-E577-463D-B349-1151A67E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5394960"/>
            <a:ext cx="5545440" cy="78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Dokončení evidence C04 je podmínkou uzavření F1.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Termín se určí podle měření a dostupného času.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39661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Shape 0">
            <a:extLst xmlns:a="http://schemas.openxmlformats.org/drawingml/2006/main">
              <a:ext uri="{FF2B5EF4-FFF2-40B4-BE49-F238E27FC236}">
                <a16:creationId xmlns:a16="http://schemas.microsoft.com/office/drawing/2014/main" id="{4F0A142C-0B5B-4EEB-A4C1-B6274408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8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12700">
            <a:solidFill>
              <a:srgbClr val="2454A5">
                <a:alpha val="0"/>
              </a:srgbClr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7440" rIns="90000" bIns="374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Text 1">
            <a:extLst xmlns:a="http://schemas.openxmlformats.org/drawingml/2006/main">
              <a:ext uri="{FF2B5EF4-FFF2-40B4-BE49-F238E27FC236}">
                <a16:creationId xmlns:a16="http://schemas.microsoft.com/office/drawing/2014/main" id="{C7F5BB0A-DEFC-4CD6-8946-B68EBE17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1880"/>
            <a:ext cx="832068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SWI / C08 PROJECT STATUS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Text 2">
            <a:extLst xmlns:a="http://schemas.openxmlformats.org/drawingml/2006/main">
              <a:ext uri="{FF2B5EF4-FFF2-40B4-BE49-F238E27FC236}">
                <a16:creationId xmlns:a16="http://schemas.microsoft.com/office/drawing/2014/main" id="{AD31E5A1-2EA9-4CE4-9CDC-D69EF540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91880"/>
            <a:ext cx="51156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04</a:t>
            </a:r>
            <a:endParaRPr sz="11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Text 3">
            <a:extLst xmlns:a="http://schemas.openxmlformats.org/drawingml/2006/main">
              <a:ext uri="{FF2B5EF4-FFF2-40B4-BE49-F238E27FC236}">
                <a16:creationId xmlns:a16="http://schemas.microsoft.com/office/drawing/2014/main" id="{C4B1520C-8D70-415D-BCD0-E6A4FC97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1920"/>
            <a:ext cx="1101816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50" b="1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HLAVNÍ RIZIKA A OTEVŘENÉ BODY</a:t>
            </a:r>
            <a:endParaRPr sz="2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Text 4">
            <a:extLst xmlns:a="http://schemas.openxmlformats.org/drawingml/2006/main">
              <a:ext uri="{FF2B5EF4-FFF2-40B4-BE49-F238E27FC236}">
                <a16:creationId xmlns:a16="http://schemas.microsoft.com/office/drawing/2014/main" id="{511E0AFD-B1CB-4BC1-AB64-7FECD73F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987480"/>
            <a:ext cx="112284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10" b="0" u="none" strike="noStrike">
                <a:solidFill>
                  <a:srgbClr val="52657D"/>
                </a:solidFill>
                <a:latin typeface="Arial"/>
                <a:ea typeface="Arial"/>
                <a:cs typeface="Arial"/>
              </a:rPr>
              <a:t>Budoucí rizika jsou přijatá. Jediný otevřený nález je C04 / F1.</a:t>
            </a:r>
            <a:endParaRPr sz="121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Text 5">
            <a:extLst xmlns:a="http://schemas.openxmlformats.org/drawingml/2006/main">
              <a:ext uri="{FF2B5EF4-FFF2-40B4-BE49-F238E27FC236}">
                <a16:creationId xmlns:a16="http://schemas.microsoft.com/office/drawing/2014/main" id="{9AF280CD-4C31-4540-BCF3-F1991A1D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389960"/>
            <a:ext cx="388584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PROJEKT: Rezervační systém učeben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Text 6">
            <a:extLst xmlns:a="http://schemas.openxmlformats.org/drawingml/2006/main">
              <a:ext uri="{FF2B5EF4-FFF2-40B4-BE49-F238E27FC236}">
                <a16:creationId xmlns:a16="http://schemas.microsoft.com/office/drawing/2014/main" id="{CBCDFE8A-4EDD-414A-AFF6-32D8CDC3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400" y="1389960"/>
            <a:ext cx="40413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BASELINE: c08-report-2026-10-30-v3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Text 7">
            <a:extLst xmlns:a="http://schemas.openxmlformats.org/drawingml/2006/main">
              <a:ext uri="{FF2B5EF4-FFF2-40B4-BE49-F238E27FC236}">
                <a16:creationId xmlns:a16="http://schemas.microsoft.com/office/drawing/2014/main" id="{C68BFAA4-F8A7-42E5-A428-AAEFC1E6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760" y="1389960"/>
            <a:ext cx="33645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DATUM: 30. 10. 2026 / Jakub Juchelka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Shape 8">
            <a:extLst xmlns:a="http://schemas.openxmlformats.org/drawingml/2006/main">
              <a:ext uri="{FF2B5EF4-FFF2-40B4-BE49-F238E27FC236}">
                <a16:creationId xmlns:a16="http://schemas.microsoft.com/office/drawing/2014/main" id="{81209EDA-A645-4913-B43C-95A10BED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40" y="6496560"/>
            <a:ext cx="112928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Text 9">
            <a:extLst xmlns:a="http://schemas.openxmlformats.org/drawingml/2006/main">
              <a:ext uri="{FF2B5EF4-FFF2-40B4-BE49-F238E27FC236}">
                <a16:creationId xmlns:a16="http://schemas.microsoft.com/office/drawing/2014/main" id="{351CC7CE-F288-47A2-8B6B-0A419317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6510600"/>
            <a:ext cx="11063880" cy="17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80" b="0" u="none" strike="noStrike">
                <a:solidFill>
                  <a:srgbClr val="637184"/>
                </a:solidFill>
                <a:latin typeface="Arial"/>
                <a:ea typeface="Arial"/>
                <a:cs typeface="Arial"/>
              </a:rPr>
              <a:t>SWI C08   Baseline: c08-report-2026-10-30-v3   Stav k 30. 10. 2026</a:t>
            </a:r>
            <a:endParaRPr sz="8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Text 10">
            <a:extLst xmlns:a="http://schemas.openxmlformats.org/drawingml/2006/main">
              <a:ext uri="{FF2B5EF4-FFF2-40B4-BE49-F238E27FC236}">
                <a16:creationId xmlns:a16="http://schemas.microsoft.com/office/drawing/2014/main" id="{D9663401-1026-44BC-8178-99A7A333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93320"/>
            <a:ext cx="222156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Riziko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Text 11">
            <a:extLst xmlns:a="http://schemas.openxmlformats.org/drawingml/2006/main">
              <a:ext uri="{FF2B5EF4-FFF2-40B4-BE49-F238E27FC236}">
                <a16:creationId xmlns:a16="http://schemas.microsoft.com/office/drawing/2014/main" id="{1CDCCA4C-FD3A-409D-9612-F34CD80A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120" y="1993320"/>
            <a:ext cx="130716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Počáteční L/I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Text 12">
            <a:extLst xmlns:a="http://schemas.openxmlformats.org/drawingml/2006/main">
              <a:ext uri="{FF2B5EF4-FFF2-40B4-BE49-F238E27FC236}">
                <a16:creationId xmlns:a16="http://schemas.microsoft.com/office/drawing/2014/main" id="{9C741449-F81E-4941-AE5F-B4A967BE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1993320"/>
            <a:ext cx="127080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Strategie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Text 13">
            <a:extLst xmlns:a="http://schemas.openxmlformats.org/drawingml/2006/main">
              <a:ext uri="{FF2B5EF4-FFF2-40B4-BE49-F238E27FC236}">
                <a16:creationId xmlns:a16="http://schemas.microsoft.com/office/drawing/2014/main" id="{BDE0264B-A7FC-4F0F-B32E-6F96B400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00" y="1993320"/>
            <a:ext cx="222156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Opatření / vlastník / stav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Text 14">
            <a:extLst xmlns:a="http://schemas.openxmlformats.org/drawingml/2006/main">
              <a:ext uri="{FF2B5EF4-FFF2-40B4-BE49-F238E27FC236}">
                <a16:creationId xmlns:a16="http://schemas.microsoft.com/office/drawing/2014/main" id="{7001D370-BF3C-43C4-9261-0B7964C3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720" y="1993320"/>
            <a:ext cx="248688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Zbytkové riziko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Text 15">
            <a:extLst xmlns:a="http://schemas.openxmlformats.org/drawingml/2006/main">
              <a:ext uri="{FF2B5EF4-FFF2-40B4-BE49-F238E27FC236}">
                <a16:creationId xmlns:a16="http://schemas.microsoft.com/office/drawing/2014/main" id="{69080640-181E-4304-9328-5C9D9A9A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960" y="1993320"/>
            <a:ext cx="178272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Trigger / přijetí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Text 16">
            <a:extLst xmlns:a="http://schemas.openxmlformats.org/drawingml/2006/main">
              <a:ext uri="{FF2B5EF4-FFF2-40B4-BE49-F238E27FC236}">
                <a16:creationId xmlns:a16="http://schemas.microsoft.com/office/drawing/2014/main" id="{7900629A-2AE8-4A39-82D0-BCEAAAF9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2459880"/>
            <a:ext cx="22215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R-03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Dvě potvrzení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stejné učebny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Text 17">
            <a:extLst xmlns:a="http://schemas.openxmlformats.org/drawingml/2006/main">
              <a:ext uri="{FF2B5EF4-FFF2-40B4-BE49-F238E27FC236}">
                <a16:creationId xmlns:a16="http://schemas.microsoft.com/office/drawing/2014/main" id="{D5B28767-902B-4CF4-9C70-F1822E0F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120" y="2459880"/>
            <a:ext cx="13071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L=2, I=3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HIGH (6)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Text 18">
            <a:extLst xmlns:a="http://schemas.openxmlformats.org/drawingml/2006/main">
              <a:ext uri="{FF2B5EF4-FFF2-40B4-BE49-F238E27FC236}">
                <a16:creationId xmlns:a16="http://schemas.microsoft.com/office/drawing/2014/main" id="{4C2C166A-63C6-4507-A90C-B267F2E9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459880"/>
            <a:ext cx="127080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MITIGATE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Text 19">
            <a:extLst xmlns:a="http://schemas.openxmlformats.org/drawingml/2006/main">
              <a:ext uri="{FF2B5EF4-FFF2-40B4-BE49-F238E27FC236}">
                <a16:creationId xmlns:a16="http://schemas.microsoft.com/office/drawing/2014/main" id="{A902A4C3-0687-4B19-AA35-FEC9503D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00" y="2459880"/>
            <a:ext cx="22215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DB ochrana a souběžné testy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Jakub, 30. 10.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VERIFIED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Text 20">
            <a:extLst xmlns:a="http://schemas.openxmlformats.org/drawingml/2006/main">
              <a:ext uri="{FF2B5EF4-FFF2-40B4-BE49-F238E27FC236}">
                <a16:creationId xmlns:a16="http://schemas.microsoft.com/office/drawing/2014/main" id="{45A5A496-4229-43FD-A80E-33142E95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720" y="2459880"/>
            <a:ext cx="248688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Oček.: 1/3 MEDIUM (3)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Skuteč.: 1/3 MEDIUM (3)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Text 21">
            <a:extLst xmlns:a="http://schemas.openxmlformats.org/drawingml/2006/main">
              <a:ext uri="{FF2B5EF4-FFF2-40B4-BE49-F238E27FC236}">
                <a16:creationId xmlns:a16="http://schemas.microsoft.com/office/drawing/2014/main" id="{ADA11DBE-4A88-4051-B88F-6658AAFE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960" y="2459880"/>
            <a:ext cx="178272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Změna ochrany / test selže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Přijato: Jakub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Text 22">
            <a:extLst xmlns:a="http://schemas.openxmlformats.org/drawingml/2006/main">
              <a:ext uri="{FF2B5EF4-FFF2-40B4-BE49-F238E27FC236}">
                <a16:creationId xmlns:a16="http://schemas.microsoft.com/office/drawing/2014/main" id="{08B20E7D-5A8B-4762-87F6-01501742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374280"/>
            <a:ext cx="22215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R-01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Dokumentace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neodpovídá kódu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Text 23">
            <a:extLst xmlns:a="http://schemas.openxmlformats.org/drawingml/2006/main">
              <a:ext uri="{FF2B5EF4-FFF2-40B4-BE49-F238E27FC236}">
                <a16:creationId xmlns:a16="http://schemas.microsoft.com/office/drawing/2014/main" id="{3A7B99EE-1FFD-475B-99C9-BE5E8433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120" y="3374280"/>
            <a:ext cx="13071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L=2, I=2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MEDIUM (4)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Text 24">
            <a:extLst xmlns:a="http://schemas.openxmlformats.org/drawingml/2006/main">
              <a:ext uri="{FF2B5EF4-FFF2-40B4-BE49-F238E27FC236}">
                <a16:creationId xmlns:a16="http://schemas.microsoft.com/office/drawing/2014/main" id="{E29FBD03-E0B4-42F7-9935-5625F690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3374280"/>
            <a:ext cx="127080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MITIGATE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Text 25">
            <a:extLst xmlns:a="http://schemas.openxmlformats.org/drawingml/2006/main">
              <a:ext uri="{FF2B5EF4-FFF2-40B4-BE49-F238E27FC236}">
                <a16:creationId xmlns:a16="http://schemas.microsoft.com/office/drawing/2014/main" id="{280D5758-9F64-4D25-A0E4-F652B74B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00" y="3374280"/>
            <a:ext cx="22215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Porovnat specifikaci a C05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Jakub, 30. 10.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NOT VERIFIED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Text 26">
            <a:extLst xmlns:a="http://schemas.openxmlformats.org/drawingml/2006/main">
              <a:ext uri="{FF2B5EF4-FFF2-40B4-BE49-F238E27FC236}">
                <a16:creationId xmlns:a16="http://schemas.microsoft.com/office/drawing/2014/main" id="{C905FC11-7952-4442-AB93-8ADBCBF0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720" y="3374280"/>
            <a:ext cx="248688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Oček.: 1/2 LOW (2)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Skuteč.: NOT VERIFIED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Text 27">
            <a:extLst xmlns:a="http://schemas.openxmlformats.org/drawingml/2006/main">
              <a:ext uri="{FF2B5EF4-FFF2-40B4-BE49-F238E27FC236}">
                <a16:creationId xmlns:a16="http://schemas.microsoft.com/office/drawing/2014/main" id="{C042B97C-D723-494A-A337-4F49A507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960" y="3374280"/>
            <a:ext cx="178272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Změna pravidla / rozpor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Přijato: Jakub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Text 28">
            <a:extLst xmlns:a="http://schemas.openxmlformats.org/drawingml/2006/main">
              <a:ext uri="{FF2B5EF4-FFF2-40B4-BE49-F238E27FC236}">
                <a16:creationId xmlns:a16="http://schemas.microsoft.com/office/drawing/2014/main" id="{9D40365F-E305-4A97-A4D6-C718FD2D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288680"/>
            <a:ext cx="22215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R-04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Úkol ze cvičení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nebude včas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Text 29">
            <a:extLst xmlns:a="http://schemas.openxmlformats.org/drawingml/2006/main">
              <a:ext uri="{FF2B5EF4-FFF2-40B4-BE49-F238E27FC236}">
                <a16:creationId xmlns:a16="http://schemas.microsoft.com/office/drawing/2014/main" id="{5957EF48-DC9D-46AF-B432-FA0C418A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120" y="4288680"/>
            <a:ext cx="13071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L=2, I=2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MEDIUM (4)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Text 30">
            <a:extLst xmlns:a="http://schemas.openxmlformats.org/drawingml/2006/main">
              <a:ext uri="{FF2B5EF4-FFF2-40B4-BE49-F238E27FC236}">
                <a16:creationId xmlns:a16="http://schemas.microsoft.com/office/drawing/2014/main" id="{4AF040E9-35E1-427A-84F7-B0F80F81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4288680"/>
            <a:ext cx="127080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MITIGATE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Text 31">
            <a:extLst xmlns:a="http://schemas.openxmlformats.org/drawingml/2006/main">
              <a:ext uri="{FF2B5EF4-FFF2-40B4-BE49-F238E27FC236}">
                <a16:creationId xmlns:a16="http://schemas.microsoft.com/office/drawing/2014/main" id="{CB017728-9F27-459B-9056-FFA2B137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00" y="4288680"/>
            <a:ext cx="22215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Rozdělit práci a kontrolovat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Kryštof, 30. 10.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NOT VERIFIED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Text 32">
            <a:extLst xmlns:a="http://schemas.openxmlformats.org/drawingml/2006/main">
              <a:ext uri="{FF2B5EF4-FFF2-40B4-BE49-F238E27FC236}">
                <a16:creationId xmlns:a16="http://schemas.microsoft.com/office/drawing/2014/main" id="{4EA4F315-B2A7-4189-B7B7-9471B1ED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720" y="4288680"/>
            <a:ext cx="248688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Oček.: 1/2 LOW (2)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Skuteč.: NOT VERIFIED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Text 33">
            <a:extLst xmlns:a="http://schemas.openxmlformats.org/drawingml/2006/main">
              <a:ext uri="{FF2B5EF4-FFF2-40B4-BE49-F238E27FC236}">
                <a16:creationId xmlns:a16="http://schemas.microsoft.com/office/drawing/2014/main" id="{08B0F6DC-16D7-4A55-B711-766E33EF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960" y="4288680"/>
            <a:ext cx="178272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Práce zaostává za plánem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Přijato: Kryštof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Text 34">
            <a:extLst xmlns:a="http://schemas.openxmlformats.org/drawingml/2006/main">
              <a:ext uri="{FF2B5EF4-FFF2-40B4-BE49-F238E27FC236}">
                <a16:creationId xmlns:a16="http://schemas.microsoft.com/office/drawing/2014/main" id="{78AC79EE-6D48-408C-9D55-23FCCF24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330880"/>
            <a:ext cx="219420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4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OTEVŘENÉ ISSUES</a:t>
            </a:r>
            <a:endParaRPr sz="114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Text 35">
            <a:extLst xmlns:a="http://schemas.openxmlformats.org/drawingml/2006/main">
              <a:ext uri="{FF2B5EF4-FFF2-40B4-BE49-F238E27FC236}">
                <a16:creationId xmlns:a16="http://schemas.microsoft.com/office/drawing/2014/main" id="{D32758F7-24A3-4C56-A69E-93A45206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760" y="5330880"/>
            <a:ext cx="909792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00" tIns="1800" rIns="1800" bIns="18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 ACCEPTED / OPEN: chybí úplný řetězec C04.</a:t>
            </a:r>
            <a:endParaRPr sz="12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Další krok: doplnit kritérium, měření a navazující rozhodnutí.</a:t>
            </a:r>
            <a:endParaRPr sz="12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Text 36">
            <a:extLst xmlns:a="http://schemas.openxmlformats.org/drawingml/2006/main">
              <a:ext uri="{FF2B5EF4-FFF2-40B4-BE49-F238E27FC236}">
                <a16:creationId xmlns:a16="http://schemas.microsoft.com/office/drawing/2014/main" id="{5B6C6F4A-C245-4F31-AB9A-D0513822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6026040"/>
            <a:ext cx="11292480" cy="24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 strike="noStrike">
                <a:solidFill>
                  <a:srgbClr val="52657D"/>
                </a:solidFill>
                <a:latin typeface="Arial"/>
                <a:ea typeface="Arial"/>
                <a:cs typeface="Arial"/>
              </a:rPr>
              <a:t>L × I: 1–2 LOW, 3–4 MEDIUM, 6–9 HIGH. R-02 je ve čtyřpoložkovém registru v repozitáři.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9947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Shape 0">
            <a:extLst xmlns:a="http://schemas.openxmlformats.org/drawingml/2006/main">
              <a:ext uri="{FF2B5EF4-FFF2-40B4-BE49-F238E27FC236}">
                <a16:creationId xmlns:a16="http://schemas.microsoft.com/office/drawing/2014/main" id="{4FEAE203-37B4-40B8-BA08-D70A7FA8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8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12700">
            <a:solidFill>
              <a:srgbClr val="2454A5">
                <a:alpha val="0"/>
              </a:srgbClr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7440" rIns="90000" bIns="374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Text 1">
            <a:extLst xmlns:a="http://schemas.openxmlformats.org/drawingml/2006/main">
              <a:ext uri="{FF2B5EF4-FFF2-40B4-BE49-F238E27FC236}">
                <a16:creationId xmlns:a16="http://schemas.microsoft.com/office/drawing/2014/main" id="{9A7EBFDA-C24C-4997-BE71-1A2EE6F2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1880"/>
            <a:ext cx="832068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SWI / C08 PROJECT STATUS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Text 2">
            <a:extLst xmlns:a="http://schemas.openxmlformats.org/drawingml/2006/main">
              <a:ext uri="{FF2B5EF4-FFF2-40B4-BE49-F238E27FC236}">
                <a16:creationId xmlns:a16="http://schemas.microsoft.com/office/drawing/2014/main" id="{BC80D97C-4BCC-4AB3-9BA3-27E2D7D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91880"/>
            <a:ext cx="51156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05</a:t>
            </a:r>
            <a:endParaRPr sz="11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Text 3">
            <a:extLst xmlns:a="http://schemas.openxmlformats.org/drawingml/2006/main">
              <a:ext uri="{FF2B5EF4-FFF2-40B4-BE49-F238E27FC236}">
                <a16:creationId xmlns:a16="http://schemas.microsoft.com/office/drawing/2014/main" id="{BA32D60D-5479-41B7-8469-F9479448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1920"/>
            <a:ext cx="1101816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50" b="1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DALŠÍ KROKY K C04</a:t>
            </a:r>
            <a:endParaRPr sz="2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Text 4">
            <a:extLst xmlns:a="http://schemas.openxmlformats.org/drawingml/2006/main">
              <a:ext uri="{FF2B5EF4-FFF2-40B4-BE49-F238E27FC236}">
                <a16:creationId xmlns:a16="http://schemas.microsoft.com/office/drawing/2014/main" id="{1AC20802-4E41-4D64-B65F-9DB49BFE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987480"/>
            <a:ext cx="112284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10" b="0" u="none" strike="noStrike">
                <a:solidFill>
                  <a:srgbClr val="52657D"/>
                </a:solidFill>
                <a:latin typeface="Arial"/>
                <a:ea typeface="Arial"/>
                <a:cs typeface="Arial"/>
              </a:rPr>
              <a:t>Všechny další kroky směřují k uzavření jediného otevřeného nálezu F1.</a:t>
            </a:r>
            <a:endParaRPr sz="121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Text 5">
            <a:extLst xmlns:a="http://schemas.openxmlformats.org/drawingml/2006/main">
              <a:ext uri="{FF2B5EF4-FFF2-40B4-BE49-F238E27FC236}">
                <a16:creationId xmlns:a16="http://schemas.microsoft.com/office/drawing/2014/main" id="{B8272365-110D-43E6-8310-17056E56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389960"/>
            <a:ext cx="388584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PROJEKT: Rezervační systém učeben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Text 6">
            <a:extLst xmlns:a="http://schemas.openxmlformats.org/drawingml/2006/main">
              <a:ext uri="{FF2B5EF4-FFF2-40B4-BE49-F238E27FC236}">
                <a16:creationId xmlns:a16="http://schemas.microsoft.com/office/drawing/2014/main" id="{A721D78E-A4D9-4DF5-B730-36357D86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400" y="1389960"/>
            <a:ext cx="40413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BASELINE: c08-report-2026-10-30-v3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Text 7">
            <a:extLst xmlns:a="http://schemas.openxmlformats.org/drawingml/2006/main">
              <a:ext uri="{FF2B5EF4-FFF2-40B4-BE49-F238E27FC236}">
                <a16:creationId xmlns:a16="http://schemas.microsoft.com/office/drawing/2014/main" id="{B7AC6A65-D95D-4D97-84F9-4C4CE4D9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760" y="1389960"/>
            <a:ext cx="33645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DATUM: 30. 10. 2026 / Jakub Juchelka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Shape 8">
            <a:extLst xmlns:a="http://schemas.openxmlformats.org/drawingml/2006/main">
              <a:ext uri="{FF2B5EF4-FFF2-40B4-BE49-F238E27FC236}">
                <a16:creationId xmlns:a16="http://schemas.microsoft.com/office/drawing/2014/main" id="{BEDE1AE2-4013-4FA3-A280-B6CC26B8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40" y="6496560"/>
            <a:ext cx="112928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Text 9">
            <a:extLst xmlns:a="http://schemas.openxmlformats.org/drawingml/2006/main">
              <a:ext uri="{FF2B5EF4-FFF2-40B4-BE49-F238E27FC236}">
                <a16:creationId xmlns:a16="http://schemas.microsoft.com/office/drawing/2014/main" id="{AAE8480C-8C80-4D0A-8ACC-FCC536DB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6510600"/>
            <a:ext cx="11063880" cy="17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80" b="0" u="none" strike="noStrike">
                <a:solidFill>
                  <a:srgbClr val="637184"/>
                </a:solidFill>
                <a:latin typeface="Arial"/>
                <a:ea typeface="Arial"/>
                <a:cs typeface="Arial"/>
              </a:rPr>
              <a:t>SWI C08   Baseline: c08-report-2026-10-30-v3   Stav k 30. 10. 2026</a:t>
            </a:r>
            <a:endParaRPr sz="8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Text 10">
            <a:extLst xmlns:a="http://schemas.openxmlformats.org/drawingml/2006/main">
              <a:ext uri="{FF2B5EF4-FFF2-40B4-BE49-F238E27FC236}">
                <a16:creationId xmlns:a16="http://schemas.microsoft.com/office/drawing/2014/main" id="{FF1DF58B-8450-418F-A01D-B603C4EA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93320"/>
            <a:ext cx="279756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Priorita / akce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Text 11">
            <a:extLst xmlns:a="http://schemas.openxmlformats.org/drawingml/2006/main">
              <a:ext uri="{FF2B5EF4-FFF2-40B4-BE49-F238E27FC236}">
                <a16:creationId xmlns:a16="http://schemas.microsoft.com/office/drawing/2014/main" id="{E624150D-E598-4CE2-A113-7A0CC1BE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993320"/>
            <a:ext cx="128880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Vlastník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Text 12">
            <a:extLst xmlns:a="http://schemas.openxmlformats.org/drawingml/2006/main">
              <a:ext uri="{FF2B5EF4-FFF2-40B4-BE49-F238E27FC236}">
                <a16:creationId xmlns:a16="http://schemas.microsoft.com/office/drawing/2014/main" id="{561C535B-C410-4ADE-895D-D64C0F9A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1993320"/>
            <a:ext cx="115164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Termín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Text 13">
            <a:extLst xmlns:a="http://schemas.openxmlformats.org/drawingml/2006/main">
              <a:ext uri="{FF2B5EF4-FFF2-40B4-BE49-F238E27FC236}">
                <a16:creationId xmlns:a16="http://schemas.microsoft.com/office/drawing/2014/main" id="{05FEDFAC-05D3-4FED-B0B9-DBC71E7E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640" y="1993320"/>
            <a:ext cx="408708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Hotovo, když existuje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Text 14">
            <a:extLst xmlns:a="http://schemas.openxmlformats.org/drawingml/2006/main">
              <a:ext uri="{FF2B5EF4-FFF2-40B4-BE49-F238E27FC236}">
                <a16:creationId xmlns:a16="http://schemas.microsoft.com/office/drawing/2014/main" id="{72E29849-E04E-4F20-BC49-626CE24F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080" y="1993320"/>
            <a:ext cx="196560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Vazba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Text 15">
            <a:extLst xmlns:a="http://schemas.openxmlformats.org/drawingml/2006/main">
              <a:ext uri="{FF2B5EF4-FFF2-40B4-BE49-F238E27FC236}">
                <a16:creationId xmlns:a16="http://schemas.microsoft.com/office/drawing/2014/main" id="{2781F4AA-47BC-4D48-890E-93028B0C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2459880"/>
            <a:ext cx="279756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P1 Kritérium C04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Text 16">
            <a:extLst xmlns:a="http://schemas.openxmlformats.org/drawingml/2006/main">
              <a:ext uri="{FF2B5EF4-FFF2-40B4-BE49-F238E27FC236}">
                <a16:creationId xmlns:a16="http://schemas.microsoft.com/office/drawing/2014/main" id="{DD41E52D-3ECE-460A-90D8-627EE199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459880"/>
            <a:ext cx="12888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 Juchelka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7" name="Text 17">
            <a:extLst xmlns:a="http://schemas.openxmlformats.org/drawingml/2006/main">
              <a:ext uri="{FF2B5EF4-FFF2-40B4-BE49-F238E27FC236}">
                <a16:creationId xmlns:a16="http://schemas.microsoft.com/office/drawing/2014/main" id="{3704D4BE-CD78-4794-8E3B-5D8B002A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2459880"/>
            <a:ext cx="115164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Neurčen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Text 18">
            <a:extLst xmlns:a="http://schemas.openxmlformats.org/drawingml/2006/main">
              <a:ext uri="{FF2B5EF4-FFF2-40B4-BE49-F238E27FC236}">
                <a16:creationId xmlns:a16="http://schemas.microsoft.com/office/drawing/2014/main" id="{D3B919B5-7648-42BA-B4F5-0A446DF4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640" y="2459880"/>
            <a:ext cx="408708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Popsaný quality concern a kritérium,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podle kterého lze vyhodnotit výsledek.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9" name="Text 19">
            <a:extLst xmlns:a="http://schemas.openxmlformats.org/drawingml/2006/main">
              <a:ext uri="{FF2B5EF4-FFF2-40B4-BE49-F238E27FC236}">
                <a16:creationId xmlns:a16="http://schemas.microsoft.com/office/drawing/2014/main" id="{D11CA343-2E23-4484-83D8-A53B14CC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080" y="2459880"/>
            <a:ext cx="19656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0" name="Text 20">
            <a:extLst xmlns:a="http://schemas.openxmlformats.org/drawingml/2006/main">
              <a:ext uri="{FF2B5EF4-FFF2-40B4-BE49-F238E27FC236}">
                <a16:creationId xmlns:a16="http://schemas.microsoft.com/office/drawing/2014/main" id="{08F9516C-652F-4FF0-A037-0878FD92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191400"/>
            <a:ext cx="279756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P2 Měření a důkazy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1" name="Text 21">
            <a:extLst xmlns:a="http://schemas.openxmlformats.org/drawingml/2006/main">
              <a:ext uri="{FF2B5EF4-FFF2-40B4-BE49-F238E27FC236}">
                <a16:creationId xmlns:a16="http://schemas.microsoft.com/office/drawing/2014/main" id="{602BAB0C-55D4-45B9-93C4-0EF66698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191400"/>
            <a:ext cx="12888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Filip Vodák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2" name="Text 22">
            <a:extLst xmlns:a="http://schemas.openxmlformats.org/drawingml/2006/main">
              <a:ext uri="{FF2B5EF4-FFF2-40B4-BE49-F238E27FC236}">
                <a16:creationId xmlns:a16="http://schemas.microsoft.com/office/drawing/2014/main" id="{5C17ACBE-1524-4552-833D-6F6FF306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3191400"/>
            <a:ext cx="115164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Po P1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3" name="Text 23">
            <a:extLst xmlns:a="http://schemas.openxmlformats.org/drawingml/2006/main">
              <a:ext uri="{FF2B5EF4-FFF2-40B4-BE49-F238E27FC236}">
                <a16:creationId xmlns:a16="http://schemas.microsoft.com/office/drawing/2014/main" id="{EFD99840-113C-4DF1-9C2B-76597A5E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640" y="3191400"/>
            <a:ext cx="408708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Zapsané podmínky měření a skutečný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výsledek odpovídající kritériu.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4" name="Text 24">
            <a:extLst xmlns:a="http://schemas.openxmlformats.org/drawingml/2006/main">
              <a:ext uri="{FF2B5EF4-FFF2-40B4-BE49-F238E27FC236}">
                <a16:creationId xmlns:a16="http://schemas.microsoft.com/office/drawing/2014/main" id="{1A7A3962-8A99-4627-8168-0CE01983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080" y="3191400"/>
            <a:ext cx="19656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5" name="Text 25">
            <a:extLst xmlns:a="http://schemas.openxmlformats.org/drawingml/2006/main">
              <a:ext uri="{FF2B5EF4-FFF2-40B4-BE49-F238E27FC236}">
                <a16:creationId xmlns:a16="http://schemas.microsoft.com/office/drawing/2014/main" id="{3D5357D9-258A-45DF-8434-4B4CFE32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922920"/>
            <a:ext cx="279756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P3 Rozhodnutí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6" name="Text 26">
            <a:extLst xmlns:a="http://schemas.openxmlformats.org/drawingml/2006/main">
              <a:ext uri="{FF2B5EF4-FFF2-40B4-BE49-F238E27FC236}">
                <a16:creationId xmlns:a16="http://schemas.microsoft.com/office/drawing/2014/main" id="{6F15F8AA-690B-4060-8322-6BBC12B4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922920"/>
            <a:ext cx="12888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Kryštof Lalošák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7" name="Text 27">
            <a:extLst xmlns:a="http://schemas.openxmlformats.org/drawingml/2006/main">
              <a:ext uri="{FF2B5EF4-FFF2-40B4-BE49-F238E27FC236}">
                <a16:creationId xmlns:a16="http://schemas.microsoft.com/office/drawing/2014/main" id="{EBE743E1-3883-48A8-ADF7-6C339622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3922920"/>
            <a:ext cx="115164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Po P2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8" name="Text 28">
            <a:extLst xmlns:a="http://schemas.openxmlformats.org/drawingml/2006/main">
              <a:ext uri="{FF2B5EF4-FFF2-40B4-BE49-F238E27FC236}">
                <a16:creationId xmlns:a16="http://schemas.microsoft.com/office/drawing/2014/main" id="{1E624C14-E6E5-4326-897D-26072FE6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640" y="3922920"/>
            <a:ext cx="408708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Závěr vycházející z měření a vazba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na architektonické rozhodnutí.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9" name="Text 29">
            <a:extLst xmlns:a="http://schemas.openxmlformats.org/drawingml/2006/main">
              <a:ext uri="{FF2B5EF4-FFF2-40B4-BE49-F238E27FC236}">
                <a16:creationId xmlns:a16="http://schemas.microsoft.com/office/drawing/2014/main" id="{F6F638E0-6F2A-4BA0-B824-825B8C16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080" y="3922920"/>
            <a:ext cx="19656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0" name="Text 30">
            <a:extLst xmlns:a="http://schemas.openxmlformats.org/drawingml/2006/main">
              <a:ext uri="{FF2B5EF4-FFF2-40B4-BE49-F238E27FC236}">
                <a16:creationId xmlns:a16="http://schemas.microsoft.com/office/drawing/2014/main" id="{61F0A21D-8CB1-4235-B45C-BD368D00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654440"/>
            <a:ext cx="279756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P4 Uzavření F1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" name="Text 31">
            <a:extLst xmlns:a="http://schemas.openxmlformats.org/drawingml/2006/main">
              <a:ext uri="{FF2B5EF4-FFF2-40B4-BE49-F238E27FC236}">
                <a16:creationId xmlns:a16="http://schemas.microsoft.com/office/drawing/2014/main" id="{C4FA497E-2011-40B5-8C14-FDA28053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654440"/>
            <a:ext cx="12888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 Juchelka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2" name="Text 32">
            <a:extLst xmlns:a="http://schemas.openxmlformats.org/drawingml/2006/main">
              <a:ext uri="{FF2B5EF4-FFF2-40B4-BE49-F238E27FC236}">
                <a16:creationId xmlns:a16="http://schemas.microsoft.com/office/drawing/2014/main" id="{7B37FBA9-AAC1-4A5F-8A2B-AFBF641E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4654440"/>
            <a:ext cx="115164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Po P3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3" name="Text 33">
            <a:extLst xmlns:a="http://schemas.openxmlformats.org/drawingml/2006/main">
              <a:ext uri="{FF2B5EF4-FFF2-40B4-BE49-F238E27FC236}">
                <a16:creationId xmlns:a16="http://schemas.microsoft.com/office/drawing/2014/main" id="{D25F1DA1-1912-40FC-B4BE-D8C3127B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640" y="4654440"/>
            <a:ext cx="408708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Úplný řetězec C04 a dohledatelný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commit s důkazem kontroly.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4" name="Text 34">
            <a:extLst xmlns:a="http://schemas.openxmlformats.org/drawingml/2006/main">
              <a:ext uri="{FF2B5EF4-FFF2-40B4-BE49-F238E27FC236}">
                <a16:creationId xmlns:a16="http://schemas.microsoft.com/office/drawing/2014/main" id="{BDFBB10F-E767-4A9B-82C4-ECAB3C5B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080" y="4654440"/>
            <a:ext cx="19656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5" name="Text 35">
            <a:extLst xmlns:a="http://schemas.openxmlformats.org/drawingml/2006/main">
              <a:ext uri="{FF2B5EF4-FFF2-40B4-BE49-F238E27FC236}">
                <a16:creationId xmlns:a16="http://schemas.microsoft.com/office/drawing/2014/main" id="{12BAEC90-3CEA-48EB-AD56-6CF88FD9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568840"/>
            <a:ext cx="2194200" cy="63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4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TERMÍN C04</a:t>
            </a:r>
            <a:endParaRPr sz="114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6" name="Text 36">
            <a:extLst xmlns:a="http://schemas.openxmlformats.org/drawingml/2006/main">
              <a:ext uri="{FF2B5EF4-FFF2-40B4-BE49-F238E27FC236}">
                <a16:creationId xmlns:a16="http://schemas.microsoft.com/office/drawing/2014/main" id="{8CCD9F79-9ED8-4939-BAD9-FFDD589C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760" y="5568840"/>
            <a:ext cx="9097920" cy="63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00" tIns="1800" rIns="1800" bIns="18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Termín doplnění C04 zatím není stanovený.</a:t>
            </a:r>
            <a:endParaRPr sz="12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 doplní časový plán a dostupné hodiny do 6. 11. 2026.</a:t>
            </a:r>
            <a:endParaRPr sz="12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8213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7" name="Shape 0">
            <a:extLst xmlns:a="http://schemas.openxmlformats.org/drawingml/2006/main">
              <a:ext uri="{FF2B5EF4-FFF2-40B4-BE49-F238E27FC236}">
                <a16:creationId xmlns:a16="http://schemas.microsoft.com/office/drawing/2014/main" id="{AA0B14C4-5463-44FE-A32C-28C59B1A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8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12700">
            <a:solidFill>
              <a:srgbClr val="2454A5">
                <a:alpha val="0"/>
              </a:srgbClr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7440" rIns="90000" bIns="374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8" name="Text 1">
            <a:extLst xmlns:a="http://schemas.openxmlformats.org/drawingml/2006/main">
              <a:ext uri="{FF2B5EF4-FFF2-40B4-BE49-F238E27FC236}">
                <a16:creationId xmlns:a16="http://schemas.microsoft.com/office/drawing/2014/main" id="{87269A9E-A339-4F19-9E8F-AF405DC1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1880"/>
            <a:ext cx="832068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SWI / C08 PROJECT STATUS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9" name="Text 2">
            <a:extLst xmlns:a="http://schemas.openxmlformats.org/drawingml/2006/main">
              <a:ext uri="{FF2B5EF4-FFF2-40B4-BE49-F238E27FC236}">
                <a16:creationId xmlns:a16="http://schemas.microsoft.com/office/drawing/2014/main" id="{2B7315E3-76A2-4FCB-BA7C-4E7A15AE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91880"/>
            <a:ext cx="51156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06</a:t>
            </a:r>
            <a:endParaRPr sz="11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" name="Text 3">
            <a:extLst xmlns:a="http://schemas.openxmlformats.org/drawingml/2006/main">
              <a:ext uri="{FF2B5EF4-FFF2-40B4-BE49-F238E27FC236}">
                <a16:creationId xmlns:a16="http://schemas.microsoft.com/office/drawing/2014/main" id="{1F67C128-6D10-4F95-BADE-557BC01B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1920"/>
            <a:ext cx="1101816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50" b="1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ZÁVĚR A DALŠÍ POSTUP</a:t>
            </a:r>
            <a:endParaRPr sz="2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1" name="Text 4">
            <a:extLst xmlns:a="http://schemas.openxmlformats.org/drawingml/2006/main">
              <a:ext uri="{FF2B5EF4-FFF2-40B4-BE49-F238E27FC236}">
                <a16:creationId xmlns:a16="http://schemas.microsoft.com/office/drawing/2014/main" id="{BF7DC1FC-5D44-49AB-A980-04703378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987480"/>
            <a:ext cx="112284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10" b="0" u="none" strike="noStrike">
                <a:solidFill>
                  <a:srgbClr val="52657D"/>
                </a:solidFill>
                <a:latin typeface="Arial"/>
                <a:ea typeface="Arial"/>
                <a:cs typeface="Arial"/>
              </a:rPr>
              <a:t>Funkční řešení a jeho ověření jsou připravené. Zbývá evidence C04.</a:t>
            </a:r>
            <a:endParaRPr sz="121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2" name="Text 5">
            <a:extLst xmlns:a="http://schemas.openxmlformats.org/drawingml/2006/main">
              <a:ext uri="{FF2B5EF4-FFF2-40B4-BE49-F238E27FC236}">
                <a16:creationId xmlns:a16="http://schemas.microsoft.com/office/drawing/2014/main" id="{52A6F612-4C63-4ED5-BDD8-799DA728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389960"/>
            <a:ext cx="388584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PROJEKT: Rezervační systém učeben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3" name="Text 6">
            <a:extLst xmlns:a="http://schemas.openxmlformats.org/drawingml/2006/main">
              <a:ext uri="{FF2B5EF4-FFF2-40B4-BE49-F238E27FC236}">
                <a16:creationId xmlns:a16="http://schemas.microsoft.com/office/drawing/2014/main" id="{63F1A533-C0E6-468C-8EA4-7F6E3F4B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400" y="1389960"/>
            <a:ext cx="40413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BASELINE: c08-report-2026-10-30-v3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4" name="Text 7">
            <a:extLst xmlns:a="http://schemas.openxmlformats.org/drawingml/2006/main">
              <a:ext uri="{FF2B5EF4-FFF2-40B4-BE49-F238E27FC236}">
                <a16:creationId xmlns:a16="http://schemas.microsoft.com/office/drawing/2014/main" id="{5C8227B8-0087-42D3-870F-FA1D88D7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760" y="1389960"/>
            <a:ext cx="33645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DATUM: 30. 10. 2026 / Jakub Juchelka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5" name="Shape 8">
            <a:extLst xmlns:a="http://schemas.openxmlformats.org/drawingml/2006/main">
              <a:ext uri="{FF2B5EF4-FFF2-40B4-BE49-F238E27FC236}">
                <a16:creationId xmlns:a16="http://schemas.microsoft.com/office/drawing/2014/main" id="{FEB346B6-84EE-4B1A-90C6-C4E7A441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40" y="6496560"/>
            <a:ext cx="112928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6" name="Text 9">
            <a:extLst xmlns:a="http://schemas.openxmlformats.org/drawingml/2006/main">
              <a:ext uri="{FF2B5EF4-FFF2-40B4-BE49-F238E27FC236}">
                <a16:creationId xmlns:a16="http://schemas.microsoft.com/office/drawing/2014/main" id="{F332DB56-7EAC-4141-B33F-0510C79E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6510600"/>
            <a:ext cx="11063880" cy="17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80" b="0" u="none" strike="noStrike">
                <a:solidFill>
                  <a:srgbClr val="637184"/>
                </a:solidFill>
                <a:latin typeface="Arial"/>
                <a:ea typeface="Arial"/>
                <a:cs typeface="Arial"/>
              </a:rPr>
              <a:t>SWI C08   Baseline: c08-report-2026-10-30-v3   Stav k 30. 10. 2026</a:t>
            </a:r>
            <a:endParaRPr sz="8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7" name="Text 10">
            <a:extLst xmlns:a="http://schemas.openxmlformats.org/drawingml/2006/main">
              <a:ext uri="{FF2B5EF4-FFF2-40B4-BE49-F238E27FC236}">
                <a16:creationId xmlns:a16="http://schemas.microsoft.com/office/drawing/2014/main" id="{5A427017-38BD-4344-B784-0906493A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9332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DOLOŽENÉ VÝSLEDKY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8" name="Text 11">
            <a:extLst xmlns:a="http://schemas.openxmlformats.org/drawingml/2006/main">
              <a:ext uri="{FF2B5EF4-FFF2-40B4-BE49-F238E27FC236}">
                <a16:creationId xmlns:a16="http://schemas.microsoft.com/office/drawing/2014/main" id="{F2A3C380-1871-4552-9EE2-CC0A8199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2286000"/>
            <a:ext cx="5545440" cy="978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4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Create, Availability, Confirm/Approval a Cancel.</a:t>
            </a:r>
            <a:endParaRPr sz="14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4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97 vybraných testů prošlo.</a:t>
            </a:r>
            <a:endParaRPr sz="14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4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Souběžné potvrzení přidělí učebnu jen jednou.</a:t>
            </a:r>
            <a:endParaRPr sz="14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9" name="Text 12">
            <a:extLst xmlns:a="http://schemas.openxmlformats.org/drawingml/2006/main">
              <a:ext uri="{FF2B5EF4-FFF2-40B4-BE49-F238E27FC236}">
                <a16:creationId xmlns:a16="http://schemas.microsoft.com/office/drawing/2014/main" id="{6B4A6275-916C-4B90-A2FA-AB7A195D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199332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OTEVŘENÝ NÁLEZ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0" name="Text 13">
            <a:extLst xmlns:a="http://schemas.openxmlformats.org/drawingml/2006/main">
              <a:ext uri="{FF2B5EF4-FFF2-40B4-BE49-F238E27FC236}">
                <a16:creationId xmlns:a16="http://schemas.microsoft.com/office/drawing/2014/main" id="{04B0D3E9-2DEC-42A1-8318-F6FCAE73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2286000"/>
            <a:ext cx="5545440" cy="978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4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 ACCEPTED / OPEN</a:t>
            </a:r>
            <a:endParaRPr sz="14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4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Chybí úplný řetězec C04:</a:t>
            </a:r>
            <a:endParaRPr sz="14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4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Quality Concern, Criterion, Measurement, Decision.</a:t>
            </a:r>
            <a:endParaRPr sz="14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1" name="Text 14">
            <a:extLst xmlns:a="http://schemas.openxmlformats.org/drawingml/2006/main">
              <a:ext uri="{FF2B5EF4-FFF2-40B4-BE49-F238E27FC236}">
                <a16:creationId xmlns:a16="http://schemas.microsoft.com/office/drawing/2014/main" id="{6AFFFEE3-B6FF-4D58-BFEE-C944ADBA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47472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HLAVNÍ RIZIKO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2" name="Text 15">
            <a:extLst xmlns:a="http://schemas.openxmlformats.org/drawingml/2006/main">
              <a:ext uri="{FF2B5EF4-FFF2-40B4-BE49-F238E27FC236}">
                <a16:creationId xmlns:a16="http://schemas.microsoft.com/office/drawing/2014/main" id="{DE69AB13-B660-47A0-93C2-D1EED971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767400"/>
            <a:ext cx="5545440" cy="996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R-03: dvojí přidělení učebny.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Jakub: DB ochrana a souběžné testy VERIFIED.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Skutečné zbytkové riziko MEDIUM (3), přijato.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3" name="Text 16">
            <a:extLst xmlns:a="http://schemas.openxmlformats.org/drawingml/2006/main">
              <a:ext uri="{FF2B5EF4-FFF2-40B4-BE49-F238E27FC236}">
                <a16:creationId xmlns:a16="http://schemas.microsoft.com/office/drawing/2014/main" id="{4B7EA0FA-5C85-4ED8-AFB6-C2117D25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347472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POTŘEBNÉ ROZHODNUTÍ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4" name="Text 17">
            <a:extLst xmlns:a="http://schemas.openxmlformats.org/drawingml/2006/main">
              <a:ext uri="{FF2B5EF4-FFF2-40B4-BE49-F238E27FC236}">
                <a16:creationId xmlns:a16="http://schemas.microsoft.com/office/drawing/2014/main" id="{65384BE4-F4B9-4E97-BF42-14377D4E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3767400"/>
            <a:ext cx="5545440" cy="996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Doplnit C04 a doložit uzavření F1.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 doplní plán a dostupné hodiny do 6. 11. 2026.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5" name="Text 18">
            <a:extLst xmlns:a="http://schemas.openxmlformats.org/drawingml/2006/main">
              <a:ext uri="{FF2B5EF4-FFF2-40B4-BE49-F238E27FC236}">
                <a16:creationId xmlns:a16="http://schemas.microsoft.com/office/drawing/2014/main" id="{FC6889A1-B95B-4AC7-BE33-5F96D8DC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992480"/>
            <a:ext cx="11292480" cy="310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CELKOVÝ STAV A VÝHLED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Text 19">
            <a:extLst xmlns:a="http://schemas.openxmlformats.org/drawingml/2006/main">
              <a:ext uri="{FF2B5EF4-FFF2-40B4-BE49-F238E27FC236}">
                <a16:creationId xmlns:a16="http://schemas.microsoft.com/office/drawing/2014/main" id="{32102525-CEAC-4A4B-9D73-7E5E3B03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303520"/>
            <a:ext cx="11292480" cy="96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AMBER / AT RISK kvůli otevřenému C04.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A, B a 97 úspěšných vybraných testů jsou doložené. Termín dokončení C04 zatím není stanovený.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22593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2026-10-30T22:06:23.8150000Z</dcterms:created>
  <dcterms:modified xsi:type="dcterms:W3CDTF">2026-10-30T22:06:23.8160000Z</dcterms:modified>
</coreProperties>
</file>