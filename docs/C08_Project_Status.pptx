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4a9eceefa4436e" /><Relationship Type="http://schemas.openxmlformats.org/officeDocument/2006/relationships/extended-properties" Target="/docProps/app.xml" Id="Rd4cd1b158e324e5c" /><Relationship Type="http://schemas.openxmlformats.org/officeDocument/2006/relationships/officeDocument" Target="/ppt/presentation.xml" Id="R5560a2e7269343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e576ccbde843de"/>
  </p:sldMasterIdLst>
  <p:notesMasterIdLst>
    <p:notesMasterId xmlns:r="http://schemas.openxmlformats.org/officeDocument/2006/relationships" r:id="Re6c50629a58347ad"/>
  </p:notesMasterIdLst>
  <p:sldIdLst>
    <p:sldId xmlns:r="http://schemas.openxmlformats.org/officeDocument/2006/relationships" id="256" r:id="R9580b415c2f34d50"/>
    <p:sldId xmlns:r="http://schemas.openxmlformats.org/officeDocument/2006/relationships" id="257" r:id="R3867612a1d064104"/>
    <p:sldId xmlns:r="http://schemas.openxmlformats.org/officeDocument/2006/relationships" id="258" r:id="R6694a148260146ea"/>
    <p:sldId xmlns:r="http://schemas.openxmlformats.org/officeDocument/2006/relationships" id="259" r:id="Re4a99e3e6432473a"/>
    <p:sldId xmlns:r="http://schemas.openxmlformats.org/officeDocument/2006/relationships" id="260" r:id="R838b7ce8ecec4c2f"/>
    <p:sldId xmlns:r="http://schemas.openxmlformats.org/officeDocument/2006/relationships" id="261" r:id="Rc20e4f4968cf439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9ab544dafb4392" /><Relationship Type="http://schemas.openxmlformats.org/officeDocument/2006/relationships/slideMaster" Target="/ppt/slideMasters/slideMaster1.xml" Id="R6ae576ccbde843de" /><Relationship Type="http://schemas.openxmlformats.org/officeDocument/2006/relationships/notesMaster" Target="/ppt/notesMasters/notesMaster1.xml" Id="Re6c50629a58347ad" /><Relationship Type="http://schemas.openxmlformats.org/officeDocument/2006/relationships/presProps" Target="/ppt/presProps.xml" Id="R9ae6e0e1e04e45a2" /><Relationship Type="http://schemas.openxmlformats.org/officeDocument/2006/relationships/tableStyles" Target="/ppt/tableStyles.xml" Id="Rd7c8ed275e3e44c1" /><Relationship Type="http://schemas.openxmlformats.org/officeDocument/2006/relationships/slide" Target="/ppt/slides/slide1.xml" Id="R9580b415c2f34d50" /><Relationship Type="http://schemas.openxmlformats.org/officeDocument/2006/relationships/slide" Target="/ppt/slides/slide2.xml" Id="R3867612a1d064104" /><Relationship Type="http://schemas.openxmlformats.org/officeDocument/2006/relationships/slide" Target="/ppt/slides/slide3.xml" Id="R6694a148260146ea" /><Relationship Type="http://schemas.openxmlformats.org/officeDocument/2006/relationships/slide" Target="/ppt/slides/slide4.xml" Id="Re4a99e3e6432473a" /><Relationship Type="http://schemas.openxmlformats.org/officeDocument/2006/relationships/slide" Target="/ppt/slides/slide5.xml" Id="R838b7ce8ecec4c2f" /><Relationship Type="http://schemas.openxmlformats.org/officeDocument/2006/relationships/slide" Target="/ppt/slides/slide6.xml" Id="Rc20e4f4968cf43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949a0325db4f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1f80582f884d8d" /><Relationship Type="http://schemas.openxmlformats.org/officeDocument/2006/relationships/notesMaster" Target="/ppt/notesMasters/notesMaster1.xml" Id="R4bd3d0859f5e49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7233efa77d47fd" /><Relationship Type="http://schemas.openxmlformats.org/officeDocument/2006/relationships/notesMaster" Target="/ppt/notesMasters/notesMaster1.xml" Id="R5af99436bff2409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81a515bfb34295" /><Relationship Type="http://schemas.openxmlformats.org/officeDocument/2006/relationships/notesMaster" Target="/ppt/notesMasters/notesMaster1.xml" Id="R41b8b0c62b854f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8910199fb940f6" /><Relationship Type="http://schemas.openxmlformats.org/officeDocument/2006/relationships/notesMaster" Target="/ppt/notesMasters/notesMaster1.xml" Id="Rbe324ff707204f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6464c84ee54dd1" /><Relationship Type="http://schemas.openxmlformats.org/officeDocument/2006/relationships/notesMaster" Target="/ppt/notesMasters/notesMaster1.xml" Id="Rd985cda3c87e44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d22f337a894d57" /><Relationship Type="http://schemas.openxmlformats.org/officeDocument/2006/relationships/notesMaster" Target="/ppt/notesMasters/notesMaster1.xml" Id="R0d72c0fa88784d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  <a:r>
              <a:t>Reporting baseline: c08-report-2026-10-30. Kód vychází z f34f0ec0f31782ff1886e9b3c4020c2c39a3fe28 a od testů se nezměnil. 97 testů = 57 doménových/architektonických a 40 integračních. F1 je evidence gap. Zdroje: docs/evidence-and-evolution.md, docs/verification/2026-10-30/*.txt.</a:t>
            </a: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  <a:r>
              <a:t>Každá stavová buňka má odkaz na specifikaci, návrh, implementaci nebo report. C04: PARTLY znamená popsaný tlak Changeability v intent-and-change.md. NO v návrhu a implementaci se vztahuje na ucelený C04 scénář s kritériem a měřením. Izolované architektonické prvky tím nepopíráme. Zdroje: docs/specification-v0.2.md, docs/architecture-and-decisions.md, docs/c05_detailed_design.md, zdrojové třídy a reporty testů. Všechna YES platí pro uvedenou baseline a doložený rozsah testů, nikoli produkční autentizaci nebo doručení zpráv.</a:t>
            </a: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  <a:r>
              <a:t>Termíny 30. 10. jsou plány opatření z B, nejsou vydávány za skutečné dokončení. Nácvik je plánován na 2. 11. podle evidence-and-evolution.md. Kapacity ani termín obhajoby tým nesdělil. Chybějící plán vykazujeme jako otevřenou položku s koordinací do 2. 11.; nejde o historický splněný plán. CP2 datum není známo, proto neuvádíme odhad jeho splnění.</a:t>
            </a: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  <a:r>
              <a:t>Použity R-03, R-01 a R-04 z úplného registru B. R-02 má počáteční LOW (2), očekávané LOW (1) a skutečné NOT VERIFIED. R-01 review 6. 11., R-03 review 2. 11. a po změně ochrany, R-04 před každým odevzdáním. Přijetí rizika neznamená ověřené opatření. Zdroj: docs/evidence-and-evolution.md, registr rizik. F1 je existující issue, samostatně od budoucích rizik.</a:t>
            </a: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  <a:r>
              <a:t>Definice hotovo jsou konkrétní kontrolovatelné výstupy. P1 a P2 jsou opatření již plánovaná na 30. 10., jejich dokončení není doloženo. Plánování C04 znamená přiřazení vlastníka a termínu, nikoli uzavření F1. Zdroj: docs/evidence-and-evolution.md, registr B a Stav a další kroky.</a:t>
            </a: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buNone/>
            </a:pPr>
            <a:r>
              <a:t>Prognóza je podmíněná, protože chybí potvrzená kapacita a závazný termín uzavření C04. Skutečná autentizace, externí doručování notifikací a restartový test nejsou dokončené produkční schopnosti; jde o omezení deklarovaná v A. Zdroje: docs/evidence-and-evolution.md a docs/intent-and-change.md.</a:t>
            </a:r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b80896d6594ec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afe68319ad4a48" /></Relationships>
</file>

<file path=ppt/slideLayouts/slideLayout1.xml><?xml version="1.0" encoding="utf-8"?>
<p:sldLayout xmlns:p="http://schemas.openxmlformats.org/presentationml/2006/main" type="blank" preserve="1">
  <p:cSld name="DEFAUL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SWI_BLANK"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0FDCFF3-C8E4-4B88-B695-E952031FB9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>
              <a:buNone/>
            </a:pPr>
            <a:r>
              <a:rPr sz="1800" b="0" u="none" strike="noStrike">
                <a:solidFill>
                  <a:schemeClr val="dk1"/>
                </a:solidFill>
                <a:latin typeface="Arial"/>
                <a:ea typeface="Arial"/>
                <a:cs typeface="Arial"/>
              </a:rPr>
              <a:t>Click to edit the title text format</a:t>
            </a:r>
            <a:endParaRPr sz="1800" b="0" u="none" strike="noStrik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E750F65F-2625-4F06-86EF-4948A7439A6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 strike="noStrike">
                <a:solidFill>
                  <a:schemeClr val="dk1"/>
                </a:solidFill>
                <a:latin typeface="Arial"/>
                <a:ea typeface="Arial"/>
                <a:cs typeface="Arial"/>
              </a:rPr>
              <a:t>Click to edit the outline text format</a:t>
            </a:r>
            <a:endParaRPr sz="3200" b="0" u="none" strike="noStrik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 strike="noStrike">
                <a:solidFill>
                  <a:schemeClr val="dk1"/>
                </a:solidFill>
                <a:latin typeface="Arial"/>
                <a:ea typeface="Arial"/>
                <a:cs typeface="Arial"/>
              </a:rPr>
              <a:t>Second Outline Level</a:t>
            </a:r>
            <a:endParaRPr sz="2400" b="0" u="none" strike="noStrik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 strike="noStrike">
                <a:solidFill>
                  <a:schemeClr val="dk1"/>
                </a:solidFill>
                <a:latin typeface="Arial"/>
                <a:ea typeface="Arial"/>
                <a:cs typeface="Arial"/>
              </a:rPr>
              <a:t>Third Outline Level</a:t>
            </a:r>
            <a:endParaRPr sz="2000" b="0" u="none" strike="noStrik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 strike="noStrike">
                <a:solidFill>
                  <a:schemeClr val="dk1"/>
                </a:solidFill>
                <a:latin typeface="Arial"/>
                <a:ea typeface="Arial"/>
                <a:cs typeface="Arial"/>
              </a:rPr>
              <a:t>Fourth Outline Level</a:t>
            </a:r>
            <a:endParaRPr sz="2000" b="0" u="none" strike="noStrik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 strike="noStrike">
                <a:solidFill>
                  <a:schemeClr val="dk1"/>
                </a:solidFill>
                <a:latin typeface="Arial"/>
                <a:ea typeface="Arial"/>
                <a:cs typeface="Arial"/>
              </a:rPr>
              <a:t>Fifth Outline Level</a:t>
            </a:r>
            <a:endParaRPr sz="2000" b="0" u="none" strike="noStrik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 strike="noStrike">
                <a:solidFill>
                  <a:schemeClr val="dk1"/>
                </a:solidFill>
                <a:latin typeface="Arial"/>
                <a:ea typeface="Arial"/>
                <a:cs typeface="Arial"/>
              </a:rPr>
              <a:t>Sixth Outline Level</a:t>
            </a:r>
            <a:endParaRPr sz="2000" b="0" u="none" strike="noStrik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 strike="noStrike">
                <a:solidFill>
                  <a:schemeClr val="dk1"/>
                </a:solidFill>
                <a:latin typeface="Arial"/>
                <a:ea typeface="Arial"/>
                <a:cs typeface="Arial"/>
              </a:rPr>
              <a:t>Seventh Outline Level</a:t>
            </a:r>
            <a:endParaRPr sz="2000" b="0" u="none" strike="noStrik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1ec8c462534ece" /><Relationship Type="http://schemas.openxmlformats.org/officeDocument/2006/relationships/slideLayout" Target="/ppt/slideLayouts/slideLayout1.xml" Id="R8c90ab7c9df24024" /><Relationship Type="http://schemas.openxmlformats.org/officeDocument/2006/relationships/slideLayout" Target="/ppt/slideLayouts/slideLayout2.xml" Id="Rb6478b49ae554ed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90ab7c9df24024"/>
    <p:sldLayoutId xmlns:r="http://schemas.openxmlformats.org/officeDocument/2006/relationships" id="2147483650" r:id="Rb6478b49ae554ed5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c19fa808154bff" /><Relationship Type="http://schemas.openxmlformats.org/officeDocument/2006/relationships/hyperlink" Target="evidence-and-evolution.md" TargetMode="External" Id="Rd0da4f8943274e79" /><Relationship Type="http://schemas.openxmlformats.org/officeDocument/2006/relationships/hyperlink" Target="evidence-and-evolution.md" TargetMode="External" Id="Rad0aca5b975549e7" /><Relationship Type="http://schemas.openxmlformats.org/officeDocument/2006/relationships/notesSlide" Target="/ppt/notesSlides/notesSlide1.xml" Id="R765b33f2abe444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e95621c3f54382" /><Relationship Type="http://schemas.openxmlformats.org/officeDocument/2006/relationships/hyperlink" Target="specification-v0.2.md" TargetMode="External" Id="Rba9a7d006b6e4617" /><Relationship Type="http://schemas.openxmlformats.org/officeDocument/2006/relationships/hyperlink" Target="architecture-and-decisions.md" TargetMode="External" Id="R09660c58b5fe43a6" /><Relationship Type="http://schemas.openxmlformats.org/officeDocument/2006/relationships/hyperlink" Target="../src/src/main/java/cz/vsb/reservation/domain/service/ReservationService.java" TargetMode="External" Id="R551002fb0cb04ab1" /><Relationship Type="http://schemas.openxmlformats.org/officeDocument/2006/relationships/hyperlink" Target="verification/2026-10-30/cz.vsb.reservation.infrastructure.web.ReservationLifecycleApiTest.txt" TargetMode="External" Id="Rb9d064a716274f5b" /><Relationship Type="http://schemas.openxmlformats.org/officeDocument/2006/relationships/hyperlink" Target="verification/2026-10-30/cz.vsb.reservation.infrastructure.web.ReservationLifecycleApiTest.txt" TargetMode="External" Id="Rafaef1614aca4cf9" /><Relationship Type="http://schemas.openxmlformats.org/officeDocument/2006/relationships/hyperlink" Target="specification-v0.2.md" TargetMode="External" Id="R3e48af81a952477c" /><Relationship Type="http://schemas.openxmlformats.org/officeDocument/2006/relationships/hyperlink" Target="architecture-and-decisions.md" TargetMode="External" Id="R8b9a656b0a9c4bd7" /><Relationship Type="http://schemas.openxmlformats.org/officeDocument/2006/relationships/hyperlink" Target="../src/src/main/java/cz/vsb/reservation/domain/service/ReservationService.java" TargetMode="External" Id="R391b0b65a6c64dd9" /><Relationship Type="http://schemas.openxmlformats.org/officeDocument/2006/relationships/hyperlink" Target="verification/2026-10-30/cz.vsb.reservation.infrastructure.web.ReservationLifecycleApiTest.txt" TargetMode="External" Id="R332d568df4434989" /><Relationship Type="http://schemas.openxmlformats.org/officeDocument/2006/relationships/hyperlink" Target="verification/2026-10-30/cz.vsb.reservation.infrastructure.web.ReservationLifecycleApiTest.txt" TargetMode="External" Id="R8cf0dcbe96e24a69" /><Relationship Type="http://schemas.openxmlformats.org/officeDocument/2006/relationships/hyperlink" Target="specification-v0.2.md" TargetMode="External" Id="R8867e5f35ba14cd2" /><Relationship Type="http://schemas.openxmlformats.org/officeDocument/2006/relationships/hyperlink" Target="c05_detailed_design.md" TargetMode="External" Id="Rd852625c4c414300" /><Relationship Type="http://schemas.openxmlformats.org/officeDocument/2006/relationships/hyperlink" Target="../src/src/main/java/cz/vsb/reservation/domain/service/ReservationService.java" TargetMode="External" Id="R5deb2490aa354355" /><Relationship Type="http://schemas.openxmlformats.org/officeDocument/2006/relationships/hyperlink" Target="verification/2026-10-30/cz.vsb.reservation.infrastructure.web.ApprovalWorkflowApiTest.txt" TargetMode="External" Id="R7267a89326ff4148" /><Relationship Type="http://schemas.openxmlformats.org/officeDocument/2006/relationships/hyperlink" Target="verification/2026-10-30/cz.vsb.reservation.infrastructure.web.ApprovalWorkflowApiTest.txt" TargetMode="External" Id="R376179c2342c4308" /><Relationship Type="http://schemas.openxmlformats.org/officeDocument/2006/relationships/hyperlink" Target="specification-v0.2.md" TargetMode="External" Id="R41ff3ed0dca74dc2" /><Relationship Type="http://schemas.openxmlformats.org/officeDocument/2006/relationships/hyperlink" Target="architecture-and-decisions.md" TargetMode="External" Id="R53609e36aa1943c7" /><Relationship Type="http://schemas.openxmlformats.org/officeDocument/2006/relationships/hyperlink" Target="../src/src/main/java/cz/vsb/reservation/domain/service/ReservationService.java" TargetMode="External" Id="R51f0b62786374806" /><Relationship Type="http://schemas.openxmlformats.org/officeDocument/2006/relationships/hyperlink" Target="verification/2026-10-30/cz.vsb.reservation.infrastructure.web.ReservationLifecycleApiTest.txt" TargetMode="External" Id="Rb286af970e704cd6" /><Relationship Type="http://schemas.openxmlformats.org/officeDocument/2006/relationships/hyperlink" Target="verification/2026-10-30/cz.vsb.reservation.infrastructure.web.ReservationLifecycleApiTest.txt" TargetMode="External" Id="R0525d0c000ba4bd4" /><Relationship Type="http://schemas.openxmlformats.org/officeDocument/2006/relationships/hyperlink" Target="specification-v0.2.md" TargetMode="External" Id="R708d4e0b10224eb5" /><Relationship Type="http://schemas.openxmlformats.org/officeDocument/2006/relationships/hyperlink" Target="architecture-and-decisions.md" TargetMode="External" Id="R691f048b929b4e87" /><Relationship Type="http://schemas.openxmlformats.org/officeDocument/2006/relationships/hyperlink" Target="../src/src/main/java/cz/vsb/reservation/domain/service/ReservationService.java" TargetMode="External" Id="Rbbbbf87328b24d5f" /><Relationship Type="http://schemas.openxmlformats.org/officeDocument/2006/relationships/hyperlink" Target="verification/2026-10-30/cz.vsb.reservation.domain.ReservationTest.txt" TargetMode="External" Id="R242047a0452440a7" /><Relationship Type="http://schemas.openxmlformats.org/officeDocument/2006/relationships/hyperlink" Target="verification/2026-10-30/approval-selected-cases.txt" TargetMode="External" Id="R774c8280645345d3" /><Relationship Type="http://schemas.openxmlformats.org/officeDocument/2006/relationships/hyperlink" Target="evidence-and-evolution.md" TargetMode="External" Id="R914f5ed71d4c4f17" /><Relationship Type="http://schemas.openxmlformats.org/officeDocument/2006/relationships/hyperlink" Target="evidence-and-evolution.md" TargetMode="External" Id="R7b6f5c6b99d14793" /><Relationship Type="http://schemas.openxmlformats.org/officeDocument/2006/relationships/hyperlink" Target="evidence-and-evolution.md" TargetMode="External" Id="Rb434a570b90c46c7" /><Relationship Type="http://schemas.openxmlformats.org/officeDocument/2006/relationships/hyperlink" Target="evidence-and-evolution.md" TargetMode="External" Id="Rc0891c9b0cb14aca" /><Relationship Type="http://schemas.openxmlformats.org/officeDocument/2006/relationships/hyperlink" Target="evidence-and-evolution.md" TargetMode="External" Id="R1170023617f646a7" /><Relationship Type="http://schemas.openxmlformats.org/officeDocument/2006/relationships/hyperlink" Target="evidence-and-evolution.md" TargetMode="External" Id="R56d548be5065455a" /><Relationship Type="http://schemas.openxmlformats.org/officeDocument/2006/relationships/notesSlide" Target="/ppt/notesSlides/notesSlide2.xml" Id="R05b96aacd2dc40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5b351799e644f9" /><Relationship Type="http://schemas.openxmlformats.org/officeDocument/2006/relationships/hyperlink" Target="evidence-and-evolution.md" TargetMode="External" Id="Rcbcf4e35aaca4a69" /><Relationship Type="http://schemas.openxmlformats.org/officeDocument/2006/relationships/hyperlink" Target="evidence-and-evolution.md" TargetMode="External" Id="Re9c9451ec90c491b" /><Relationship Type="http://schemas.openxmlformats.org/officeDocument/2006/relationships/hyperlink" Target="evidence-and-evolution.md" TargetMode="External" Id="R8886f555dfb5426d" /><Relationship Type="http://schemas.openxmlformats.org/officeDocument/2006/relationships/hyperlink" Target="evidence-and-evolution.md" TargetMode="External" Id="R78ad916116b44c96" /><Relationship Type="http://schemas.openxmlformats.org/officeDocument/2006/relationships/hyperlink" Target="evidence-and-evolution.md" TargetMode="External" Id="R5d1d317bd5ce4f10" /><Relationship Type="http://schemas.openxmlformats.org/officeDocument/2006/relationships/hyperlink" Target="evidence-and-evolution.md" TargetMode="External" Id="R767d9d9d11814328" /><Relationship Type="http://schemas.openxmlformats.org/officeDocument/2006/relationships/notesSlide" Target="/ppt/notesSlides/notesSlide3.xml" Id="R8c9603a2a8b644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51381ac5c14b06" /><Relationship Type="http://schemas.openxmlformats.org/officeDocument/2006/relationships/hyperlink" Target="evidence-and-evolution.md" TargetMode="External" Id="Rd7b6d7bccb4c49e9" /><Relationship Type="http://schemas.openxmlformats.org/officeDocument/2006/relationships/hyperlink" Target="verification/2026-10-30/approval-selected-cases.txt" TargetMode="External" Id="R73d35ea2e69b4df7" /><Relationship Type="http://schemas.openxmlformats.org/officeDocument/2006/relationships/hyperlink" Target="evidence-and-evolution.md" TargetMode="External" Id="R464acb43eeb54844" /><Relationship Type="http://schemas.openxmlformats.org/officeDocument/2006/relationships/hyperlink" Target="evidence-and-evolution.md" TargetMode="External" Id="Raec2925eeaaf41e2" /><Relationship Type="http://schemas.openxmlformats.org/officeDocument/2006/relationships/hyperlink" Target="evidence-and-evolution.md" TargetMode="External" Id="R43b01e0b22e2494b" /><Relationship Type="http://schemas.openxmlformats.org/officeDocument/2006/relationships/hyperlink" Target="evidence-and-evolution.md" TargetMode="External" Id="R3c9efc6f60894d4e" /><Relationship Type="http://schemas.openxmlformats.org/officeDocument/2006/relationships/notesSlide" Target="/ppt/notesSlides/notesSlide4.xml" Id="R58ad1043136f40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cbc9dfc03948f6" /><Relationship Type="http://schemas.openxmlformats.org/officeDocument/2006/relationships/hyperlink" Target="evidence-and-evolution.md" TargetMode="External" Id="R72dfcdf8e59b422b" /><Relationship Type="http://schemas.openxmlformats.org/officeDocument/2006/relationships/hyperlink" Target="evidence-and-evolution.md" TargetMode="External" Id="R5e3b2705025c4068" /><Relationship Type="http://schemas.openxmlformats.org/officeDocument/2006/relationships/hyperlink" Target="evidence-and-evolution.md" TargetMode="External" Id="Ra309a5fed42f4d94" /><Relationship Type="http://schemas.openxmlformats.org/officeDocument/2006/relationships/hyperlink" Target="evidence-and-evolution.md" TargetMode="External" Id="R135807759c604252" /><Relationship Type="http://schemas.openxmlformats.org/officeDocument/2006/relationships/hyperlink" Target="evidence-and-evolution.md" TargetMode="External" Id="Rfd40252d6da24fdf" /><Relationship Type="http://schemas.openxmlformats.org/officeDocument/2006/relationships/notesSlide" Target="/ppt/notesSlides/notesSlide5.xml" Id="Ra9680f95a0c249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aa7ae68d2e4b06" /><Relationship Type="http://schemas.openxmlformats.org/officeDocument/2006/relationships/hyperlink" Target="evidence-and-evolution.md" TargetMode="External" Id="R042b6435d311460a" /><Relationship Type="http://schemas.openxmlformats.org/officeDocument/2006/relationships/hyperlink" Target="evidence-and-evolution.md" TargetMode="External" Id="R8b264ea16dc245b2" /><Relationship Type="http://schemas.openxmlformats.org/officeDocument/2006/relationships/hyperlink" Target="evidence-and-evolution.md" TargetMode="External" Id="R9eab76730c6b43bd" /><Relationship Type="http://schemas.openxmlformats.org/officeDocument/2006/relationships/hyperlink" Target="evidence-and-evolution.md" TargetMode="External" Id="R936e1e9007f84550" /><Relationship Type="http://schemas.openxmlformats.org/officeDocument/2006/relationships/hyperlink" Target="evidence-and-evolution.md" TargetMode="External" Id="R45e08289d0794e8c" /><Relationship Type="http://schemas.openxmlformats.org/officeDocument/2006/relationships/notesSlide" Target="/ppt/notesSlides/notesSlide6.xml" Id="R7c7dd58d265c47e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hape 0">
            <a:extLst xmlns:a="http://schemas.openxmlformats.org/drawingml/2006/main">
              <a:ext uri="{FF2B5EF4-FFF2-40B4-BE49-F238E27FC236}">
                <a16:creationId xmlns:a16="http://schemas.microsoft.com/office/drawing/2014/main" id="{4691CBC8-9118-46B1-A416-5BD50508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8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12700">
            <a:solidFill>
              <a:srgbClr val="2454A5">
                <a:alpha val="0"/>
              </a:srgbClr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37440" rIns="90000" bIns="374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Text 1">
            <a:extLst xmlns:a="http://schemas.openxmlformats.org/drawingml/2006/main">
              <a:ext uri="{FF2B5EF4-FFF2-40B4-BE49-F238E27FC236}">
                <a16:creationId xmlns:a16="http://schemas.microsoft.com/office/drawing/2014/main" id="{299D4857-8C96-41EE-92A7-B22208ED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1880"/>
            <a:ext cx="8320680" cy="28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SWI / C08 PROJECT STATUS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Text 2">
            <a:extLst xmlns:a="http://schemas.openxmlformats.org/drawingml/2006/main">
              <a:ext uri="{FF2B5EF4-FFF2-40B4-BE49-F238E27FC236}">
                <a16:creationId xmlns:a16="http://schemas.microsoft.com/office/drawing/2014/main" id="{B84E49D6-1DF6-413D-B09E-9CC9919B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1880"/>
            <a:ext cx="51156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01</a:t>
            </a:r>
            <a:endParaRPr sz="11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Text 3">
            <a:extLst xmlns:a="http://schemas.openxmlformats.org/drawingml/2006/main">
              <a:ext uri="{FF2B5EF4-FFF2-40B4-BE49-F238E27FC236}">
                <a16:creationId xmlns:a16="http://schemas.microsoft.com/office/drawing/2014/main" id="{844C5695-2492-4D7E-BEB4-AE9FDCDF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11920"/>
            <a:ext cx="1101816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50" b="1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STAV PROJEKTU</a:t>
            </a:r>
            <a:endParaRPr sz="26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Text 4">
            <a:extLst xmlns:a="http://schemas.openxmlformats.org/drawingml/2006/main">
              <a:ext uri="{FF2B5EF4-FFF2-40B4-BE49-F238E27FC236}">
                <a16:creationId xmlns:a16="http://schemas.microsoft.com/office/drawing/2014/main" id="{9A007222-4957-43FA-9B0B-AB9B5179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987480"/>
            <a:ext cx="112284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10" b="0" u="none" strike="noStrike">
                <a:solidFill>
                  <a:srgbClr val="52657D"/>
                </a:solidFill>
                <a:latin typeface="Arial"/>
                <a:ea typeface="Arial"/>
                <a:cs typeface="Arial"/>
              </a:rPr>
              <a:t>Řešení funguje. Otevřená zůstává evidence C04 a část přípravy obhajoby.</a:t>
            </a:r>
            <a:endParaRPr sz="121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Text 5">
            <a:extLst xmlns:a="http://schemas.openxmlformats.org/drawingml/2006/main">
              <a:ext uri="{FF2B5EF4-FFF2-40B4-BE49-F238E27FC236}">
                <a16:creationId xmlns:a16="http://schemas.microsoft.com/office/drawing/2014/main" id="{741D2346-EF7C-4223-8E7D-BBB4B894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389960"/>
            <a:ext cx="388584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PROJEKT: Rezervační systém učeben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Text 6">
            <a:extLst xmlns:a="http://schemas.openxmlformats.org/drawingml/2006/main">
              <a:ext uri="{FF2B5EF4-FFF2-40B4-BE49-F238E27FC236}">
                <a16:creationId xmlns:a16="http://schemas.microsoft.com/office/drawing/2014/main" id="{E9099A33-2451-4CBC-B51F-FBC75FBF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1389960"/>
            <a:ext cx="40413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BASELINE: c08-report-2026-10-30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Text 7">
            <a:extLst xmlns:a="http://schemas.openxmlformats.org/drawingml/2006/main">
              <a:ext uri="{FF2B5EF4-FFF2-40B4-BE49-F238E27FC236}">
                <a16:creationId xmlns:a16="http://schemas.microsoft.com/office/drawing/2014/main" id="{A7874897-0436-44D1-8774-224F2CF3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760" y="1389960"/>
            <a:ext cx="33645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DATUM: 30. 10. 2026 / Jakub Juchelka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hape 8">
            <a:extLst xmlns:a="http://schemas.openxmlformats.org/drawingml/2006/main">
              <a:ext uri="{FF2B5EF4-FFF2-40B4-BE49-F238E27FC236}">
                <a16:creationId xmlns:a16="http://schemas.microsoft.com/office/drawing/2014/main" id="{A74E0359-BA64-476A-8A12-E2DE0229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40" y="6496560"/>
            <a:ext cx="11292840" cy="360"/>
          </a:xfrm>
          <a:prstGeom xmlns:a="http://schemas.openxmlformats.org/drawingml/2006/main" prst="line">
            <a:avLst/>
          </a:prstGeom>
          <a:ln xmlns:a="http://schemas.openxmlformats.org/drawingml/2006/main" w="8890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Text 9">
            <a:extLst xmlns:a="http://schemas.openxmlformats.org/drawingml/2006/main">
              <a:ext uri="{FF2B5EF4-FFF2-40B4-BE49-F238E27FC236}">
                <a16:creationId xmlns:a16="http://schemas.microsoft.com/office/drawing/2014/main" id="{B905900F-B5C6-4253-A664-9E0DAC65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6510600"/>
            <a:ext cx="11063880" cy="17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80" b="0" u="none" strike="noStrike">
                <a:solidFill>
                  <a:srgbClr val="637184"/>
                </a:solidFill>
                <a:latin typeface="Arial"/>
                <a:ea typeface="Arial"/>
                <a:cs typeface="Arial"/>
              </a:rPr>
              <a:t>SWI C08   Baseline: c08-report-2026-10-30   Stav k 30. 10. 2026</a:t>
            </a:r>
            <a:endParaRPr sz="8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Text 10">
            <a:extLst xmlns:a="http://schemas.openxmlformats.org/drawingml/2006/main">
              <a:ext uri="{FF2B5EF4-FFF2-40B4-BE49-F238E27FC236}">
                <a16:creationId xmlns:a16="http://schemas.microsoft.com/office/drawing/2014/main" id="{FCC0A44D-123A-40A1-88CC-3D4FF5C4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84320"/>
            <a:ext cx="554544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PROJEKT A TÝM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776903A-C5FB-4DD5-9DC6-1EAEDE58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2277000"/>
            <a:ext cx="5545440" cy="71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6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Rezervační systém učeben</a:t>
            </a:r>
            <a:endParaRPr sz="16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6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Kryštof Lalošák, Filip Vodák, Jakub Juchelka</a:t>
            </a:r>
            <a:endParaRPr sz="16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Text 12">
            <a:extLst xmlns:a="http://schemas.openxmlformats.org/drawingml/2006/main">
              <a:ext uri="{FF2B5EF4-FFF2-40B4-BE49-F238E27FC236}">
                <a16:creationId xmlns:a16="http://schemas.microsoft.com/office/drawing/2014/main" id="{07E27319-4956-4786-90B1-90EBE34F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240" y="1984320"/>
            <a:ext cx="554544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CELKOVÝ STAV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Text 13">
            <a:extLst xmlns:a="http://schemas.openxmlformats.org/drawingml/2006/main">
              <a:ext uri="{FF2B5EF4-FFF2-40B4-BE49-F238E27FC236}">
                <a16:creationId xmlns:a16="http://schemas.microsoft.com/office/drawing/2014/main" id="{5A334DD2-E3CC-4B0D-9672-1B089D6A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240" y="2277000"/>
            <a:ext cx="5545440" cy="71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>
            <a:defPPr>
              <a:defRPr>
                <a:solidFill>
                  <a:srgbClr val="9A5800"/>
                </a:solidFill>
              </a:defRPr>
            </a:defPPr>
            <a:lvl1pPr>
              <a:defRPr>
                <a:solidFill>
                  <a:srgbClr val="9A5800"/>
                </a:solidFill>
              </a:defRPr>
            </a:lvl1pPr>
            <a:lvl2pPr>
              <a:defRPr>
                <a:solidFill>
                  <a:srgbClr val="9A5800"/>
                </a:solidFill>
              </a:defRPr>
            </a:lvl2pPr>
            <a:lvl3pPr>
              <a:defRPr>
                <a:solidFill>
                  <a:srgbClr val="9A5800"/>
                </a:solidFill>
              </a:defRPr>
            </a:lvl3pPr>
            <a:lvl4pPr>
              <a:defRPr>
                <a:solidFill>
                  <a:srgbClr val="9A5800"/>
                </a:solidFill>
              </a:defRPr>
            </a:lvl4pPr>
            <a:lvl5pPr>
              <a:defRPr>
                <a:solidFill>
                  <a:srgbClr val="9A5800"/>
                </a:solidFill>
              </a:defRPr>
            </a:lvl5pPr>
            <a:lvl6pPr>
              <a:defRPr>
                <a:solidFill>
                  <a:srgbClr val="9A5800"/>
                </a:solidFill>
              </a:defRPr>
            </a:lvl6pPr>
            <a:lvl7pPr>
              <a:defRPr>
                <a:solidFill>
                  <a:srgbClr val="9A5800"/>
                </a:solidFill>
              </a:defRPr>
            </a:lvl7pPr>
            <a:lvl8pPr>
              <a:defRPr>
                <a:solidFill>
                  <a:srgbClr val="9A5800"/>
                </a:solidFill>
              </a:defRPr>
            </a:lvl8pPr>
            <a:lvl9pPr>
              <a:defRPr>
                <a:solidFill>
                  <a:srgbClr val="9A5800"/>
                </a:solidFill>
              </a:defRPr>
            </a:lvl9pPr>
          </a:lstStyle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60" b="0" u="none" strike="noStrike">
                <a:solidFill>
                  <a:srgbClr val="9A5800"/>
                </a:solidFill>
                <a:latin typeface="Arial"/>
                <a:ea typeface="Arial"/>
                <a:cs typeface="Arial"/>
              </a:rPr>
              <a:t>AMBER / AT RISK</a:t>
            </a:r>
            <a:endParaRPr sz="156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60" b="0" u="none" strike="noStrike">
                <a:solidFill>
                  <a:srgbClr val="9A5800"/>
                </a:solidFill>
                <a:latin typeface="Arial"/>
                <a:ea typeface="Arial"/>
                <a:cs typeface="Arial"/>
              </a:rPr>
              <a:t>C04 zůstává OPEN. Kapacity a termín obhajoby nejsou potvrzené.</a:t>
            </a:r>
            <a:endParaRPr sz="156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Text 14">
            <a:extLst xmlns:a="http://schemas.openxmlformats.org/drawingml/2006/main">
              <a:ext uri="{FF2B5EF4-FFF2-40B4-BE49-F238E27FC236}">
                <a16:creationId xmlns:a16="http://schemas.microsoft.com/office/drawing/2014/main" id="{8CCEB7AA-2663-490A-B241-04680515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3182040"/>
            <a:ext cx="554544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DOLOŽENÝ VÝSLEDEK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Text 15">
            <a:extLst xmlns:a="http://schemas.openxmlformats.org/drawingml/2006/main">
              <a:ext uri="{FF2B5EF4-FFF2-40B4-BE49-F238E27FC236}">
                <a16:creationId xmlns:a16="http://schemas.microsoft.com/office/drawing/2014/main" id="{5F7E9578-E54E-474E-9B72-0620B4BE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3474720"/>
            <a:ext cx="5545440" cy="758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d0da4f8943274e79"/>
              </a:rPr>
              <a:t>97 vybraných testů prošlo ve dvou bězích.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d0da4f8943274e79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d0da4f8943274e79"/>
              </a:rPr>
              <a:t>Z toho 40 integračních proti PostgreSQL.</a:t>
            </a:r>
          </a:p>
        </p:txBody>
      </p:sp>
      <p:sp>
        <p:nvSpPr>
          <p:cNvPr id="24" name="Text 16">
            <a:extLst xmlns:a="http://schemas.openxmlformats.org/drawingml/2006/main">
              <a:ext uri="{FF2B5EF4-FFF2-40B4-BE49-F238E27FC236}">
                <a16:creationId xmlns:a16="http://schemas.microsoft.com/office/drawing/2014/main" id="{553651EE-108A-4AB7-9F32-F356B2AE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240" y="3182040"/>
            <a:ext cx="554544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HLAVNÍ OMEZENÍ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3773B6DD-2FF6-426F-A7D4-70BBAF92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240" y="3474720"/>
            <a:ext cx="5545440" cy="758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ad0aca5b975549e7"/>
              </a:rPr>
              <a:t>F1 ACCEPTED / OPEN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ad0aca5b975549e7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ad0aca5b975549e7"/>
              </a:rPr>
              <a:t>Chybí úplný řetězec C04 od kritéria po rozhodnutí.</a:t>
            </a:r>
          </a:p>
        </p:txBody>
      </p:sp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77938046-30C4-4920-8157-AB3BA63D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4462200"/>
            <a:ext cx="1129248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ZÁVĚR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8D58E8AE-340F-4C9A-93E2-72838D71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4754880"/>
            <a:ext cx="11292480" cy="58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3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A a registr B jsou připravené. Dokončení obhajoby závisí na C04 a potvrzení zbývajícího plánu.</a:t>
            </a:r>
            <a:endParaRPr sz="153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Text 20">
            <a:extLst xmlns:a="http://schemas.openxmlformats.org/drawingml/2006/main">
              <a:ext uri="{FF2B5EF4-FFF2-40B4-BE49-F238E27FC236}">
                <a16:creationId xmlns:a16="http://schemas.microsoft.com/office/drawing/2014/main" id="{9110B3ED-51F5-413A-8220-320CC350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559480"/>
            <a:ext cx="2194200" cy="69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4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POTŘEBNÉ ROZHODNUTÍ</a:t>
            </a:r>
            <a:endParaRPr sz="114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DDAC6540-C877-444E-8986-AE864877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760" y="5559480"/>
            <a:ext cx="9097920" cy="69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800" tIns="1800" rIns="1800" bIns="18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6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Potvrdit kapacity, termín obhajoby a odpovědnost za C04.</a:t>
            </a:r>
            <a:endParaRPr sz="126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6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Koordinace: Kryštof Lalošák, do 2. 11. 2026.</a:t>
            </a:r>
            <a:endParaRPr sz="126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10924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hape 0">
            <a:extLst xmlns:a="http://schemas.openxmlformats.org/drawingml/2006/main">
              <a:ext uri="{FF2B5EF4-FFF2-40B4-BE49-F238E27FC236}">
                <a16:creationId xmlns:a16="http://schemas.microsoft.com/office/drawing/2014/main" id="{DC54A2B5-E958-4A88-BB96-D8666EF7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8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12700">
            <a:solidFill>
              <a:srgbClr val="2454A5">
                <a:alpha val="0"/>
              </a:srgbClr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37440" rIns="90000" bIns="374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Text 1">
            <a:extLst xmlns:a="http://schemas.openxmlformats.org/drawingml/2006/main">
              <a:ext uri="{FF2B5EF4-FFF2-40B4-BE49-F238E27FC236}">
                <a16:creationId xmlns:a16="http://schemas.microsoft.com/office/drawing/2014/main" id="{2449D9D7-747C-47B3-BDA5-74BC68B0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1880"/>
            <a:ext cx="8320680" cy="28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SWI / C08 PROJECT STATUS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Text 2">
            <a:extLst xmlns:a="http://schemas.openxmlformats.org/drawingml/2006/main">
              <a:ext uri="{FF2B5EF4-FFF2-40B4-BE49-F238E27FC236}">
                <a16:creationId xmlns:a16="http://schemas.microsoft.com/office/drawing/2014/main" id="{26B7944E-E9C5-46E9-98AD-3BC7EE96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1880"/>
            <a:ext cx="51156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02</a:t>
            </a:r>
            <a:endParaRPr sz="11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Text 3">
            <a:extLst xmlns:a="http://schemas.openxmlformats.org/drawingml/2006/main">
              <a:ext uri="{FF2B5EF4-FFF2-40B4-BE49-F238E27FC236}">
                <a16:creationId xmlns:a16="http://schemas.microsoft.com/office/drawing/2014/main" id="{63F80F0D-0B3A-48FD-97A3-7DAA09C2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11920"/>
            <a:ext cx="1101816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50" b="1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ROZSAH A DŮKAZY</a:t>
            </a:r>
            <a:endParaRPr sz="26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Text 4">
            <a:extLst xmlns:a="http://schemas.openxmlformats.org/drawingml/2006/main">
              <a:ext uri="{FF2B5EF4-FFF2-40B4-BE49-F238E27FC236}">
                <a16:creationId xmlns:a16="http://schemas.microsoft.com/office/drawing/2014/main" id="{56824260-E4CA-45BA-92C0-202C6B95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987480"/>
            <a:ext cx="112284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10" b="0" u="none" strike="noStrike">
                <a:solidFill>
                  <a:srgbClr val="52657D"/>
                </a:solidFill>
                <a:latin typeface="Arial"/>
                <a:ea typeface="Arial"/>
                <a:cs typeface="Arial"/>
              </a:rPr>
              <a:t>YES = doložené. PARTLY = částečné. NO = chybí. Odkazy jsou v příslušných buňkách.</a:t>
            </a:r>
            <a:endParaRPr sz="121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Text 5">
            <a:extLst xmlns:a="http://schemas.openxmlformats.org/drawingml/2006/main">
              <a:ext uri="{FF2B5EF4-FFF2-40B4-BE49-F238E27FC236}">
                <a16:creationId xmlns:a16="http://schemas.microsoft.com/office/drawing/2014/main" id="{9D20FF90-C3B6-4D89-8C97-556A1BCE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389960"/>
            <a:ext cx="388584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PROJEKT: Rezervační systém učeben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Text 6">
            <a:extLst xmlns:a="http://schemas.openxmlformats.org/drawingml/2006/main">
              <a:ext uri="{FF2B5EF4-FFF2-40B4-BE49-F238E27FC236}">
                <a16:creationId xmlns:a16="http://schemas.microsoft.com/office/drawing/2014/main" id="{189B9577-396C-45AA-8ED8-81B256F3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1389960"/>
            <a:ext cx="40413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BASELINE: c08-report-2026-10-30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Text 7">
            <a:extLst xmlns:a="http://schemas.openxmlformats.org/drawingml/2006/main">
              <a:ext uri="{FF2B5EF4-FFF2-40B4-BE49-F238E27FC236}">
                <a16:creationId xmlns:a16="http://schemas.microsoft.com/office/drawing/2014/main" id="{36F4418C-06E5-4597-8E0E-12658DC6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760" y="1389960"/>
            <a:ext cx="33645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DATUM: 30. 10. 2026 / Jakub Juchelka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hape 8">
            <a:extLst xmlns:a="http://schemas.openxmlformats.org/drawingml/2006/main">
              <a:ext uri="{FF2B5EF4-FFF2-40B4-BE49-F238E27FC236}">
                <a16:creationId xmlns:a16="http://schemas.microsoft.com/office/drawing/2014/main" id="{1FC622D7-3EEE-4BB4-9B7A-1F139D38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40" y="6496560"/>
            <a:ext cx="11292840" cy="360"/>
          </a:xfrm>
          <a:prstGeom xmlns:a="http://schemas.openxmlformats.org/drawingml/2006/main" prst="line">
            <a:avLst/>
          </a:prstGeom>
          <a:ln xmlns:a="http://schemas.openxmlformats.org/drawingml/2006/main" w="8890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Text 9">
            <a:extLst xmlns:a="http://schemas.openxmlformats.org/drawingml/2006/main">
              <a:ext uri="{FF2B5EF4-FFF2-40B4-BE49-F238E27FC236}">
                <a16:creationId xmlns:a16="http://schemas.microsoft.com/office/drawing/2014/main" id="{4372931A-802A-4CDE-8027-516B3D50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6510600"/>
            <a:ext cx="11063880" cy="17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80" b="0" u="none" strike="noStrike">
                <a:solidFill>
                  <a:srgbClr val="637184"/>
                </a:solidFill>
                <a:latin typeface="Arial"/>
                <a:ea typeface="Arial"/>
                <a:cs typeface="Arial"/>
              </a:rPr>
              <a:t>SWI C08   Baseline: c08-report-2026-10-30   Stav k 30. 10. 2026</a:t>
            </a:r>
            <a:endParaRPr sz="8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Text 10">
            <a:extLst xmlns:a="http://schemas.openxmlformats.org/drawingml/2006/main">
              <a:ext uri="{FF2B5EF4-FFF2-40B4-BE49-F238E27FC236}">
                <a16:creationId xmlns:a16="http://schemas.microsoft.com/office/drawing/2014/main" id="{6416C38D-BA36-437D-9283-10B98291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93320"/>
            <a:ext cx="195660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Oblast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Text 11">
            <a:extLst xmlns:a="http://schemas.openxmlformats.org/drawingml/2006/main">
              <a:ext uri="{FF2B5EF4-FFF2-40B4-BE49-F238E27FC236}">
                <a16:creationId xmlns:a16="http://schemas.microsoft.com/office/drawing/2014/main" id="{9A68E39F-3912-4B06-9A56-17F2B8B7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00" y="1993320"/>
            <a:ext cx="99648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Specifikace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Text 12">
            <a:extLst xmlns:a="http://schemas.openxmlformats.org/drawingml/2006/main">
              <a:ext uri="{FF2B5EF4-FFF2-40B4-BE49-F238E27FC236}">
                <a16:creationId xmlns:a16="http://schemas.microsoft.com/office/drawing/2014/main" id="{EAE4BC19-2499-44B9-96E2-03D71472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640" y="1993320"/>
            <a:ext cx="99648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Návrh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Text 13">
            <a:extLst xmlns:a="http://schemas.openxmlformats.org/drawingml/2006/main">
              <a:ext uri="{FF2B5EF4-FFF2-40B4-BE49-F238E27FC236}">
                <a16:creationId xmlns:a16="http://schemas.microsoft.com/office/drawing/2014/main" id="{85083D5B-51BD-4DED-B5E0-05F67B77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120" y="1993320"/>
            <a:ext cx="117000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Implementace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Text 14">
            <a:extLst xmlns:a="http://schemas.openxmlformats.org/drawingml/2006/main">
              <a:ext uri="{FF2B5EF4-FFF2-40B4-BE49-F238E27FC236}">
                <a16:creationId xmlns:a16="http://schemas.microsoft.com/office/drawing/2014/main" id="{99CAC771-812C-48A2-ABD1-09EBBBC6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8840" y="1993320"/>
            <a:ext cx="106020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Ověření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Text 15">
            <a:extLst xmlns:a="http://schemas.openxmlformats.org/drawingml/2006/main">
              <a:ext uri="{FF2B5EF4-FFF2-40B4-BE49-F238E27FC236}">
                <a16:creationId xmlns:a16="http://schemas.microsoft.com/office/drawing/2014/main" id="{1B187ED2-DB46-4698-8370-C1DA6DF4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93320"/>
            <a:ext cx="511128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Důkaz / mezera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Text 16">
            <a:extLst xmlns:a="http://schemas.openxmlformats.org/drawingml/2006/main">
              <a:ext uri="{FF2B5EF4-FFF2-40B4-BE49-F238E27FC236}">
                <a16:creationId xmlns:a16="http://schemas.microsoft.com/office/drawing/2014/main" id="{9F670D07-D34C-447D-B503-866D36FC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2459880"/>
            <a:ext cx="19566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Create</a:t>
            </a:r>
            <a:endParaRPr sz="11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Text 17">
            <a:extLst xmlns:a="http://schemas.openxmlformats.org/drawingml/2006/main">
              <a:ext uri="{FF2B5EF4-FFF2-40B4-BE49-F238E27FC236}">
                <a16:creationId xmlns:a16="http://schemas.microsoft.com/office/drawing/2014/main" id="{9E19DB0C-2DD4-481B-B0DE-A62F7E2F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00" y="245988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ba9a7d006b6e4617"/>
              </a:rPr>
              <a:t>YES</a:t>
            </a:r>
          </a:p>
        </p:txBody>
      </p:sp>
      <p:sp>
        <p:nvSpPr>
          <p:cNvPr id="48" name="Text 18">
            <a:extLst xmlns:a="http://schemas.openxmlformats.org/drawingml/2006/main">
              <a:ext uri="{FF2B5EF4-FFF2-40B4-BE49-F238E27FC236}">
                <a16:creationId xmlns:a16="http://schemas.microsoft.com/office/drawing/2014/main" id="{C16FBB1B-221D-4A7F-BD74-00BA3C31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640" y="245988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09660c58b5fe43a6"/>
              </a:rPr>
              <a:t>YES</a:t>
            </a:r>
          </a:p>
        </p:txBody>
      </p:sp>
      <p:sp>
        <p:nvSpPr>
          <p:cNvPr id="49" name="Text 19">
            <a:extLst xmlns:a="http://schemas.openxmlformats.org/drawingml/2006/main">
              <a:ext uri="{FF2B5EF4-FFF2-40B4-BE49-F238E27FC236}">
                <a16:creationId xmlns:a16="http://schemas.microsoft.com/office/drawing/2014/main" id="{6DBE52B5-6BCC-4328-81A6-D1605934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120" y="2459880"/>
            <a:ext cx="11700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551002fb0cb04ab1"/>
              </a:rPr>
              <a:t>YES</a:t>
            </a:r>
          </a:p>
        </p:txBody>
      </p:sp>
      <p:sp>
        <p:nvSpPr>
          <p:cNvPr id="50" name="Text 20">
            <a:extLst xmlns:a="http://schemas.openxmlformats.org/drawingml/2006/main">
              <a:ext uri="{FF2B5EF4-FFF2-40B4-BE49-F238E27FC236}">
                <a16:creationId xmlns:a16="http://schemas.microsoft.com/office/drawing/2014/main" id="{29086539-02B8-46F0-880D-0727540E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8840" y="2459880"/>
            <a:ext cx="10602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b9d064a716274f5b"/>
              </a:rPr>
              <a:t>YES</a:t>
            </a:r>
          </a:p>
        </p:txBody>
      </p:sp>
      <p:sp>
        <p:nvSpPr>
          <p:cNvPr id="51" name="Text 21">
            <a:extLst xmlns:a="http://schemas.openxmlformats.org/drawingml/2006/main">
              <a:ext uri="{FF2B5EF4-FFF2-40B4-BE49-F238E27FC236}">
                <a16:creationId xmlns:a16="http://schemas.microsoft.com/office/drawing/2014/main" id="{41490A8D-A620-4361-A99D-8F3ACA31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59880"/>
            <a:ext cx="51112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afaef1614aca4cf9"/>
              </a:rPr>
              <a:t>OP-01, doména a vytvoření návrhu přes HTTP.</a:t>
            </a:r>
          </a:p>
        </p:txBody>
      </p:sp>
      <p:sp>
        <p:nvSpPr>
          <p:cNvPr id="52" name="Text 22">
            <a:extLst xmlns:a="http://schemas.openxmlformats.org/drawingml/2006/main">
              <a:ext uri="{FF2B5EF4-FFF2-40B4-BE49-F238E27FC236}">
                <a16:creationId xmlns:a16="http://schemas.microsoft.com/office/drawing/2014/main" id="{ED7B02CF-8E0B-4516-8825-2E6A3740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2990160"/>
            <a:ext cx="19566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Availability</a:t>
            </a:r>
            <a:endParaRPr sz="11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Text 23">
            <a:extLst xmlns:a="http://schemas.openxmlformats.org/drawingml/2006/main">
              <a:ext uri="{FF2B5EF4-FFF2-40B4-BE49-F238E27FC236}">
                <a16:creationId xmlns:a16="http://schemas.microsoft.com/office/drawing/2014/main" id="{51C67064-80F4-4A7D-9FE3-94695A72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00" y="299016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3e48af81a952477c"/>
              </a:rPr>
              <a:t>YES</a:t>
            </a:r>
          </a:p>
        </p:txBody>
      </p:sp>
      <p:sp>
        <p:nvSpPr>
          <p:cNvPr id="54" name="Text 24">
            <a:extLst xmlns:a="http://schemas.openxmlformats.org/drawingml/2006/main">
              <a:ext uri="{FF2B5EF4-FFF2-40B4-BE49-F238E27FC236}">
                <a16:creationId xmlns:a16="http://schemas.microsoft.com/office/drawing/2014/main" id="{9C5FC37D-21B9-4BAF-A3B6-755FAC03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640" y="299016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8b9a656b0a9c4bd7"/>
              </a:rPr>
              <a:t>YES</a:t>
            </a:r>
          </a:p>
        </p:txBody>
      </p:sp>
      <p:sp>
        <p:nvSpPr>
          <p:cNvPr id="55" name="Text 25">
            <a:extLst xmlns:a="http://schemas.openxmlformats.org/drawingml/2006/main">
              <a:ext uri="{FF2B5EF4-FFF2-40B4-BE49-F238E27FC236}">
                <a16:creationId xmlns:a16="http://schemas.microsoft.com/office/drawing/2014/main" id="{0F7FBDDC-27C0-455B-9F45-42C9302A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120" y="2990160"/>
            <a:ext cx="11700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391b0b65a6c64dd9"/>
              </a:rPr>
              <a:t>YES</a:t>
            </a:r>
          </a:p>
        </p:txBody>
      </p:sp>
      <p:sp>
        <p:nvSpPr>
          <p:cNvPr id="56" name="Text 26">
            <a:extLst xmlns:a="http://schemas.openxmlformats.org/drawingml/2006/main">
              <a:ext uri="{FF2B5EF4-FFF2-40B4-BE49-F238E27FC236}">
                <a16:creationId xmlns:a16="http://schemas.microsoft.com/office/drawing/2014/main" id="{F033BCB9-03AA-479A-85B2-3AC797C5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8840" y="2990160"/>
            <a:ext cx="10602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332d568df4434989"/>
              </a:rPr>
              <a:t>YES</a:t>
            </a:r>
          </a:p>
        </p:txBody>
      </p:sp>
      <p:sp>
        <p:nvSpPr>
          <p:cNvPr id="57" name="Text 27">
            <a:extLst xmlns:a="http://schemas.openxmlformats.org/drawingml/2006/main">
              <a:ext uri="{FF2B5EF4-FFF2-40B4-BE49-F238E27FC236}">
                <a16:creationId xmlns:a16="http://schemas.microsoft.com/office/drawing/2014/main" id="{6B98A471-0603-4245-A37A-FE6A12A6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90160"/>
            <a:ext cx="51112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8cf0dcbe96e24a69"/>
              </a:rPr>
              <a:t>OP-02, dostupnost a navazující intervaly.</a:t>
            </a:r>
          </a:p>
        </p:txBody>
      </p:sp>
      <p:sp>
        <p:nvSpPr>
          <p:cNvPr id="58" name="Text 28">
            <a:extLst xmlns:a="http://schemas.openxmlformats.org/drawingml/2006/main">
              <a:ext uri="{FF2B5EF4-FFF2-40B4-BE49-F238E27FC236}">
                <a16:creationId xmlns:a16="http://schemas.microsoft.com/office/drawing/2014/main" id="{319B1CC4-701F-4AA0-9472-0B7EF235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3520440"/>
            <a:ext cx="19566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Confirm / Approval</a:t>
            </a:r>
            <a:endParaRPr sz="11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Text 29">
            <a:extLst xmlns:a="http://schemas.openxmlformats.org/drawingml/2006/main">
              <a:ext uri="{FF2B5EF4-FFF2-40B4-BE49-F238E27FC236}">
                <a16:creationId xmlns:a16="http://schemas.microsoft.com/office/drawing/2014/main" id="{3FB19AA5-A1F8-4525-A1C6-E43FFEBD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00" y="352044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8867e5f35ba14cd2"/>
              </a:rPr>
              <a:t>YES</a:t>
            </a:r>
          </a:p>
        </p:txBody>
      </p:sp>
      <p:sp>
        <p:nvSpPr>
          <p:cNvPr id="60" name="Text 30">
            <a:extLst xmlns:a="http://schemas.openxmlformats.org/drawingml/2006/main">
              <a:ext uri="{FF2B5EF4-FFF2-40B4-BE49-F238E27FC236}">
                <a16:creationId xmlns:a16="http://schemas.microsoft.com/office/drawing/2014/main" id="{C55E055C-9E6A-4A9B-9019-3B4AF2AA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640" y="352044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d852625c4c414300"/>
              </a:rPr>
              <a:t>YES</a:t>
            </a:r>
          </a:p>
        </p:txBody>
      </p:sp>
      <p:sp>
        <p:nvSpPr>
          <p:cNvPr id="61" name="Text 31">
            <a:extLst xmlns:a="http://schemas.openxmlformats.org/drawingml/2006/main">
              <a:ext uri="{FF2B5EF4-FFF2-40B4-BE49-F238E27FC236}">
                <a16:creationId xmlns:a16="http://schemas.microsoft.com/office/drawing/2014/main" id="{298F1362-8BC1-484D-87E4-CEA3585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120" y="3520440"/>
            <a:ext cx="11700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5deb2490aa354355"/>
              </a:rPr>
              <a:t>YES</a:t>
            </a:r>
          </a:p>
        </p:txBody>
      </p:sp>
      <p:sp>
        <p:nvSpPr>
          <p:cNvPr id="62" name="Text 32">
            <a:extLst xmlns:a="http://schemas.openxmlformats.org/drawingml/2006/main">
              <a:ext uri="{FF2B5EF4-FFF2-40B4-BE49-F238E27FC236}">
                <a16:creationId xmlns:a16="http://schemas.microsoft.com/office/drawing/2014/main" id="{3861E74D-2883-4C27-AC44-C9F5A664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8840" y="3520440"/>
            <a:ext cx="10602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7267a89326ff4148"/>
              </a:rPr>
              <a:t>YES</a:t>
            </a:r>
          </a:p>
        </p:txBody>
      </p:sp>
      <p:sp>
        <p:nvSpPr>
          <p:cNvPr id="63" name="Text 33">
            <a:extLst xmlns:a="http://schemas.openxmlformats.org/drawingml/2006/main">
              <a:ext uri="{FF2B5EF4-FFF2-40B4-BE49-F238E27FC236}">
                <a16:creationId xmlns:a16="http://schemas.microsoft.com/office/drawing/2014/main" id="{1E1B7632-320D-46BA-89CE-DF6C9C86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20440"/>
            <a:ext cx="51112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376179c2342c4308"/>
              </a:rPr>
              <a:t>OP-03/05/08, schválení, kolize a expirace.</a:t>
            </a:r>
          </a:p>
        </p:txBody>
      </p:sp>
      <p:sp>
        <p:nvSpPr>
          <p:cNvPr id="64" name="Text 34">
            <a:extLst xmlns:a="http://schemas.openxmlformats.org/drawingml/2006/main">
              <a:ext uri="{FF2B5EF4-FFF2-40B4-BE49-F238E27FC236}">
                <a16:creationId xmlns:a16="http://schemas.microsoft.com/office/drawing/2014/main" id="{A3639F27-159C-4F26-BF22-F44E55E0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4050720"/>
            <a:ext cx="19566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Cancel</a:t>
            </a:r>
            <a:endParaRPr sz="11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Text 35">
            <a:extLst xmlns:a="http://schemas.openxmlformats.org/drawingml/2006/main">
              <a:ext uri="{FF2B5EF4-FFF2-40B4-BE49-F238E27FC236}">
                <a16:creationId xmlns:a16="http://schemas.microsoft.com/office/drawing/2014/main" id="{BECAC469-CDF3-4062-B8F2-6FA7FBD4F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00" y="405072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41ff3ed0dca74dc2"/>
              </a:rPr>
              <a:t>YES</a:t>
            </a:r>
          </a:p>
        </p:txBody>
      </p:sp>
      <p:sp>
        <p:nvSpPr>
          <p:cNvPr id="66" name="Text 36">
            <a:extLst xmlns:a="http://schemas.openxmlformats.org/drawingml/2006/main">
              <a:ext uri="{FF2B5EF4-FFF2-40B4-BE49-F238E27FC236}">
                <a16:creationId xmlns:a16="http://schemas.microsoft.com/office/drawing/2014/main" id="{3F324FBA-3A97-4747-9B12-04F4D956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640" y="405072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53609e36aa1943c7"/>
              </a:rPr>
              <a:t>YES</a:t>
            </a:r>
          </a:p>
        </p:txBody>
      </p:sp>
      <p:sp>
        <p:nvSpPr>
          <p:cNvPr id="67" name="Text 37">
            <a:extLst xmlns:a="http://schemas.openxmlformats.org/drawingml/2006/main">
              <a:ext uri="{FF2B5EF4-FFF2-40B4-BE49-F238E27FC236}">
                <a16:creationId xmlns:a16="http://schemas.microsoft.com/office/drawing/2014/main" id="{C2F09216-0FBD-47CC-A459-469716D9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120" y="4050720"/>
            <a:ext cx="11700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51f0b62786374806"/>
              </a:rPr>
              <a:t>YES</a:t>
            </a:r>
          </a:p>
        </p:txBody>
      </p:sp>
      <p:sp>
        <p:nvSpPr>
          <p:cNvPr id="68" name="Text 38">
            <a:extLst xmlns:a="http://schemas.openxmlformats.org/drawingml/2006/main">
              <a:ext uri="{FF2B5EF4-FFF2-40B4-BE49-F238E27FC236}">
                <a16:creationId xmlns:a16="http://schemas.microsoft.com/office/drawing/2014/main" id="{5B72815B-85D6-4887-B601-B4626524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8840" y="4050720"/>
            <a:ext cx="10602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b286af970e704cd6"/>
              </a:rPr>
              <a:t>YES</a:t>
            </a:r>
          </a:p>
        </p:txBody>
      </p:sp>
      <p:sp>
        <p:nvSpPr>
          <p:cNvPr id="69" name="Text 39">
            <a:extLst xmlns:a="http://schemas.openxmlformats.org/drawingml/2006/main">
              <a:ext uri="{FF2B5EF4-FFF2-40B4-BE49-F238E27FC236}">
                <a16:creationId xmlns:a16="http://schemas.microsoft.com/office/drawing/2014/main" id="{18D453C0-AE82-4B20-AE3D-9BF740FA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50720"/>
            <a:ext cx="51112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0525d0c000ba4bd4"/>
              </a:rPr>
              <a:t>OP-04, vlastník, stavy a hranice 2 hodin.</a:t>
            </a:r>
          </a:p>
        </p:txBody>
      </p:sp>
      <p:sp>
        <p:nvSpPr>
          <p:cNvPr id="70" name="Text 40">
            <a:extLst xmlns:a="http://schemas.openxmlformats.org/drawingml/2006/main">
              <a:ext uri="{FF2B5EF4-FFF2-40B4-BE49-F238E27FC236}">
                <a16:creationId xmlns:a16="http://schemas.microsoft.com/office/drawing/2014/main" id="{FAD1F99B-56A1-4ED2-8948-CB2E5C66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4581000"/>
            <a:ext cx="19566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BR-02 / BR-03</a:t>
            </a:r>
            <a:endParaRPr sz="11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Text 41">
            <a:extLst xmlns:a="http://schemas.openxmlformats.org/drawingml/2006/main">
              <a:ext uri="{FF2B5EF4-FFF2-40B4-BE49-F238E27FC236}">
                <a16:creationId xmlns:a16="http://schemas.microsoft.com/office/drawing/2014/main" id="{B0476980-B55F-4573-9758-6D54556A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00" y="458100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708d4e0b10224eb5"/>
              </a:rPr>
              <a:t>YES</a:t>
            </a:r>
          </a:p>
        </p:txBody>
      </p:sp>
      <p:sp>
        <p:nvSpPr>
          <p:cNvPr id="72" name="Text 42">
            <a:extLst xmlns:a="http://schemas.openxmlformats.org/drawingml/2006/main">
              <a:ext uri="{FF2B5EF4-FFF2-40B4-BE49-F238E27FC236}">
                <a16:creationId xmlns:a16="http://schemas.microsoft.com/office/drawing/2014/main" id="{81B37E88-26FB-4736-B0B3-94782CB3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640" y="458100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691f048b929b4e87"/>
              </a:rPr>
              <a:t>YES</a:t>
            </a:r>
          </a:p>
        </p:txBody>
      </p:sp>
      <p:sp>
        <p:nvSpPr>
          <p:cNvPr id="73" name="Text 43">
            <a:extLst xmlns:a="http://schemas.openxmlformats.org/drawingml/2006/main">
              <a:ext uri="{FF2B5EF4-FFF2-40B4-BE49-F238E27FC236}">
                <a16:creationId xmlns:a16="http://schemas.microsoft.com/office/drawing/2014/main" id="{51C69AA9-509B-4391-92A5-0B2B2740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120" y="4581000"/>
            <a:ext cx="11700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bbbbf87328b24d5f"/>
              </a:rPr>
              <a:t>YES</a:t>
            </a:r>
          </a:p>
        </p:txBody>
      </p:sp>
      <p:sp>
        <p:nvSpPr>
          <p:cNvPr id="74" name="Text 44">
            <a:extLst xmlns:a="http://schemas.openxmlformats.org/drawingml/2006/main">
              <a:ext uri="{FF2B5EF4-FFF2-40B4-BE49-F238E27FC236}">
                <a16:creationId xmlns:a16="http://schemas.microsoft.com/office/drawing/2014/main" id="{CFB56E88-BEEC-4E3C-B144-9926D5F8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8840" y="4581000"/>
            <a:ext cx="10602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>
                <a:hlinkClick xmlns:r="http://schemas.openxmlformats.org/officeDocument/2006/relationships" r:id="R242047a0452440a7"/>
              </a:rPr>
              <a:t>YES</a:t>
            </a:r>
          </a:p>
        </p:txBody>
      </p:sp>
      <p:sp>
        <p:nvSpPr>
          <p:cNvPr id="75" name="Text 45">
            <a:extLst xmlns:a="http://schemas.openxmlformats.org/drawingml/2006/main">
              <a:ext uri="{FF2B5EF4-FFF2-40B4-BE49-F238E27FC236}">
                <a16:creationId xmlns:a16="http://schemas.microsoft.com/office/drawing/2014/main" id="{7F663504-13EE-47C1-86B6-ED9CBEDB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81000"/>
            <a:ext cx="51112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774c8280645345d3"/>
              </a:rPr>
              <a:t>Zákaz překryvu, kapacita, souběžné požadavky.</a:t>
            </a:r>
          </a:p>
        </p:txBody>
      </p:sp>
      <p:sp>
        <p:nvSpPr>
          <p:cNvPr id="76" name="Text 46">
            <a:extLst xmlns:a="http://schemas.openxmlformats.org/drawingml/2006/main">
              <a:ext uri="{FF2B5EF4-FFF2-40B4-BE49-F238E27FC236}">
                <a16:creationId xmlns:a16="http://schemas.microsoft.com/office/drawing/2014/main" id="{DE07F658-551A-49AC-AC90-43D2DCC6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111640"/>
            <a:ext cx="19566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C04 Changeability</a:t>
            </a:r>
            <a:endParaRPr sz="11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Text 47">
            <a:extLst xmlns:a="http://schemas.openxmlformats.org/drawingml/2006/main">
              <a:ext uri="{FF2B5EF4-FFF2-40B4-BE49-F238E27FC236}">
                <a16:creationId xmlns:a16="http://schemas.microsoft.com/office/drawing/2014/main" id="{4B5E0235-546D-4C6A-A93F-711AB4ED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00" y="511164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914f5ed71d4c4f17"/>
              </a:rPr>
              <a:t>PARTLY</a:t>
            </a:r>
          </a:p>
        </p:txBody>
      </p:sp>
      <p:sp>
        <p:nvSpPr>
          <p:cNvPr id="78" name="Text 48">
            <a:extLst xmlns:a="http://schemas.openxmlformats.org/drawingml/2006/main">
              <a:ext uri="{FF2B5EF4-FFF2-40B4-BE49-F238E27FC236}">
                <a16:creationId xmlns:a16="http://schemas.microsoft.com/office/drawing/2014/main" id="{618D51A4-84D8-41EF-8D4D-604A8E16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640" y="5111640"/>
            <a:ext cx="9964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7b6f5c6b99d14793"/>
              </a:rPr>
              <a:t>NO</a:t>
            </a:r>
          </a:p>
        </p:txBody>
      </p:sp>
      <p:sp>
        <p:nvSpPr>
          <p:cNvPr id="79" name="Text 49">
            <a:extLst xmlns:a="http://schemas.openxmlformats.org/drawingml/2006/main">
              <a:ext uri="{FF2B5EF4-FFF2-40B4-BE49-F238E27FC236}">
                <a16:creationId xmlns:a16="http://schemas.microsoft.com/office/drawing/2014/main" id="{228F5621-4651-4FEC-9024-B7E2FF95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120" y="5111640"/>
            <a:ext cx="11700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b434a570b90c46c7"/>
              </a:rPr>
              <a:t>NO</a:t>
            </a:r>
          </a:p>
        </p:txBody>
      </p:sp>
      <p:sp>
        <p:nvSpPr>
          <p:cNvPr id="80" name="Text 50">
            <a:extLst xmlns:a="http://schemas.openxmlformats.org/drawingml/2006/main">
              <a:ext uri="{FF2B5EF4-FFF2-40B4-BE49-F238E27FC236}">
                <a16:creationId xmlns:a16="http://schemas.microsoft.com/office/drawing/2014/main" id="{A787393B-3A33-4671-AF67-31BEBE0D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8840" y="5111640"/>
            <a:ext cx="106020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c0891c9b0cb14aca"/>
              </a:rPr>
              <a:t>NO</a:t>
            </a:r>
          </a:p>
        </p:txBody>
      </p:sp>
      <p:sp>
        <p:nvSpPr>
          <p:cNvPr id="81" name="Text 51">
            <a:extLst xmlns:a="http://schemas.openxmlformats.org/drawingml/2006/main">
              <a:ext uri="{FF2B5EF4-FFF2-40B4-BE49-F238E27FC236}">
                <a16:creationId xmlns:a16="http://schemas.microsoft.com/office/drawing/2014/main" id="{CF147089-C949-43F4-A329-C4E3FCA8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11640"/>
            <a:ext cx="5111280" cy="529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1170023617f646a7"/>
              </a:rPr>
              <a:t>F1 OPEN. Tlak je popsán, kritérium a měření chybí.</a:t>
            </a:r>
          </a:p>
        </p:txBody>
      </p:sp>
      <p:sp>
        <p:nvSpPr>
          <p:cNvPr id="82" name="Text 52">
            <a:extLst xmlns:a="http://schemas.openxmlformats.org/drawingml/2006/main">
              <a:ext uri="{FF2B5EF4-FFF2-40B4-BE49-F238E27FC236}">
                <a16:creationId xmlns:a16="http://schemas.microsoft.com/office/drawing/2014/main" id="{9D8141C2-A4E2-44BA-84A8-A44092B8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788080"/>
            <a:ext cx="2194200" cy="502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4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OTEVŘENÁ EVIDENCE</a:t>
            </a:r>
            <a:endParaRPr sz="114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Text 53">
            <a:extLst xmlns:a="http://schemas.openxmlformats.org/drawingml/2006/main">
              <a:ext uri="{FF2B5EF4-FFF2-40B4-BE49-F238E27FC236}">
                <a16:creationId xmlns:a16="http://schemas.microsoft.com/office/drawing/2014/main" id="{D88FF533-F014-4B7D-B27F-191C49EA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760" y="5788080"/>
            <a:ext cx="9097920" cy="502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800" tIns="1800" rIns="1800" bIns="180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56d548be5065455a"/>
              </a:rPr>
              <a:t>F1 ACCEPTED / OPEN. Úspěšné funkční testy nenahrazují chybějící C04.</a:t>
            </a:r>
          </a:p>
        </p:txBody>
      </p:sp>
    </p:spTree>
    <p:extLst>
      <p:ext uri="{BB962C8B-B14F-4D97-AF65-F5344CB8AC3E}">
        <p14:creationId xmlns:p14="http://schemas.microsoft.com/office/powerpoint/2010/main" val="6218406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Shape 0">
            <a:extLst xmlns:a="http://schemas.openxmlformats.org/drawingml/2006/main">
              <a:ext uri="{FF2B5EF4-FFF2-40B4-BE49-F238E27FC236}">
                <a16:creationId xmlns:a16="http://schemas.microsoft.com/office/drawing/2014/main" id="{455FBFC6-5A08-422D-BE80-A29223D1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8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12700">
            <a:solidFill>
              <a:srgbClr val="2454A5">
                <a:alpha val="0"/>
              </a:srgbClr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37440" rIns="90000" bIns="374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Text 1">
            <a:extLst xmlns:a="http://schemas.openxmlformats.org/drawingml/2006/main">
              <a:ext uri="{FF2B5EF4-FFF2-40B4-BE49-F238E27FC236}">
                <a16:creationId xmlns:a16="http://schemas.microsoft.com/office/drawing/2014/main" id="{ED82DDE0-BEC2-420B-ADD2-73FD6099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1880"/>
            <a:ext cx="8320680" cy="28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SWI / C08 PROJECT STATUS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Text 2">
            <a:extLst xmlns:a="http://schemas.openxmlformats.org/drawingml/2006/main">
              <a:ext uri="{FF2B5EF4-FFF2-40B4-BE49-F238E27FC236}">
                <a16:creationId xmlns:a16="http://schemas.microsoft.com/office/drawing/2014/main" id="{C8A356D4-ED38-4C48-A60F-488CA896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1880"/>
            <a:ext cx="51156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03</a:t>
            </a:r>
            <a:endParaRPr sz="11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Text 3">
            <a:extLst xmlns:a="http://schemas.openxmlformats.org/drawingml/2006/main">
              <a:ext uri="{FF2B5EF4-FFF2-40B4-BE49-F238E27FC236}">
                <a16:creationId xmlns:a16="http://schemas.microsoft.com/office/drawing/2014/main" id="{B4A207EA-0E5E-4F7C-84CD-EB6340E1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11920"/>
            <a:ext cx="1101816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50" b="1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PLÁN A KAPACITY</a:t>
            </a:r>
            <a:endParaRPr sz="26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Text 4">
            <a:extLst xmlns:a="http://schemas.openxmlformats.org/drawingml/2006/main">
              <a:ext uri="{FF2B5EF4-FFF2-40B4-BE49-F238E27FC236}">
                <a16:creationId xmlns:a16="http://schemas.microsoft.com/office/drawing/2014/main" id="{A36EC135-806C-46DB-B6D7-75AFC069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987480"/>
            <a:ext cx="112284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10" b="0" u="none" strike="noStrike">
                <a:solidFill>
                  <a:srgbClr val="52657D"/>
                </a:solidFill>
                <a:latin typeface="Arial"/>
                <a:ea typeface="Arial"/>
                <a:cs typeface="Arial"/>
              </a:rPr>
              <a:t>Ověření je hotové. Termín obhajoby, kapacity a uzavření C04 zůstávají otevřené.</a:t>
            </a:r>
            <a:endParaRPr sz="121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Text 5">
            <a:extLst xmlns:a="http://schemas.openxmlformats.org/drawingml/2006/main">
              <a:ext uri="{FF2B5EF4-FFF2-40B4-BE49-F238E27FC236}">
                <a16:creationId xmlns:a16="http://schemas.microsoft.com/office/drawing/2014/main" id="{0FC09D43-D29A-49C2-878C-C10AAC2A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389960"/>
            <a:ext cx="388584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PROJEKT: Rezervační systém učeben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Text 6">
            <a:extLst xmlns:a="http://schemas.openxmlformats.org/drawingml/2006/main">
              <a:ext uri="{FF2B5EF4-FFF2-40B4-BE49-F238E27FC236}">
                <a16:creationId xmlns:a16="http://schemas.microsoft.com/office/drawing/2014/main" id="{FD16784D-FD6E-4FAF-867D-72EAB3E0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1389960"/>
            <a:ext cx="40413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BASELINE: c08-report-2026-10-30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Text 7">
            <a:extLst xmlns:a="http://schemas.openxmlformats.org/drawingml/2006/main">
              <a:ext uri="{FF2B5EF4-FFF2-40B4-BE49-F238E27FC236}">
                <a16:creationId xmlns:a16="http://schemas.microsoft.com/office/drawing/2014/main" id="{E2FDC406-B8E3-4E06-BEC5-0D0DCA25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760" y="1389960"/>
            <a:ext cx="33645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DATUM: 30. 10. 2026 / Jakub Juchelka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Shape 8">
            <a:extLst xmlns:a="http://schemas.openxmlformats.org/drawingml/2006/main">
              <a:ext uri="{FF2B5EF4-FFF2-40B4-BE49-F238E27FC236}">
                <a16:creationId xmlns:a16="http://schemas.microsoft.com/office/drawing/2014/main" id="{C00C7ACA-518C-40AD-AD84-BB9E8D13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40" y="6496560"/>
            <a:ext cx="11292840" cy="360"/>
          </a:xfrm>
          <a:prstGeom xmlns:a="http://schemas.openxmlformats.org/drawingml/2006/main" prst="line">
            <a:avLst/>
          </a:prstGeom>
          <a:ln xmlns:a="http://schemas.openxmlformats.org/drawingml/2006/main" w="8890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Text 9">
            <a:extLst xmlns:a="http://schemas.openxmlformats.org/drawingml/2006/main">
              <a:ext uri="{FF2B5EF4-FFF2-40B4-BE49-F238E27FC236}">
                <a16:creationId xmlns:a16="http://schemas.microsoft.com/office/drawing/2014/main" id="{891E9EF7-E47A-4D13-A162-9FF42C21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6510600"/>
            <a:ext cx="11063880" cy="17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80" b="0" u="none" strike="noStrike">
                <a:solidFill>
                  <a:srgbClr val="637184"/>
                </a:solidFill>
                <a:latin typeface="Arial"/>
                <a:ea typeface="Arial"/>
                <a:cs typeface="Arial"/>
              </a:rPr>
              <a:t>SWI C08   Baseline: c08-report-2026-10-30   Stav k 30. 10. 2026</a:t>
            </a:r>
            <a:endParaRPr sz="8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Text 10">
            <a:extLst xmlns:a="http://schemas.openxmlformats.org/drawingml/2006/main">
              <a:ext uri="{FF2B5EF4-FFF2-40B4-BE49-F238E27FC236}">
                <a16:creationId xmlns:a16="http://schemas.microsoft.com/office/drawing/2014/main" id="{4E73BCD6-E2B6-4285-B8FE-73BBAE11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93320"/>
            <a:ext cx="286164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Práce / milník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Text 11">
            <a:extLst xmlns:a="http://schemas.openxmlformats.org/drawingml/2006/main">
              <a:ext uri="{FF2B5EF4-FFF2-40B4-BE49-F238E27FC236}">
                <a16:creationId xmlns:a16="http://schemas.microsoft.com/office/drawing/2014/main" id="{D7F7FAF3-4632-4CA7-9E7B-0A2ADFC4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200" y="1993320"/>
            <a:ext cx="122508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Vlastník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Text 12">
            <a:extLst xmlns:a="http://schemas.openxmlformats.org/drawingml/2006/main">
              <a:ext uri="{FF2B5EF4-FFF2-40B4-BE49-F238E27FC236}">
                <a16:creationId xmlns:a16="http://schemas.microsoft.com/office/drawing/2014/main" id="{53229005-B744-40A5-AA55-E7416870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280" y="1993320"/>
            <a:ext cx="130716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Plán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7" name="Text 13">
            <a:extLst xmlns:a="http://schemas.openxmlformats.org/drawingml/2006/main">
              <a:ext uri="{FF2B5EF4-FFF2-40B4-BE49-F238E27FC236}">
                <a16:creationId xmlns:a16="http://schemas.microsoft.com/office/drawing/2014/main" id="{31E5AD39-9926-41D1-B241-F78D566C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3160" y="1993320"/>
            <a:ext cx="166392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Skutečnost / odhad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Text 14">
            <a:extLst xmlns:a="http://schemas.openxmlformats.org/drawingml/2006/main">
              <a:ext uri="{FF2B5EF4-FFF2-40B4-BE49-F238E27FC236}">
                <a16:creationId xmlns:a16="http://schemas.microsoft.com/office/drawing/2014/main" id="{CB48F76A-1EFA-4579-8AEA-8A8F91D2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080" y="1993320"/>
            <a:ext cx="423324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Stav a důkaz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Text 15">
            <a:extLst xmlns:a="http://schemas.openxmlformats.org/drawingml/2006/main">
              <a:ext uri="{FF2B5EF4-FFF2-40B4-BE49-F238E27FC236}">
                <a16:creationId xmlns:a16="http://schemas.microsoft.com/office/drawing/2014/main" id="{7012A4CF-1EB0-4DE2-A524-F29633CA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2459880"/>
            <a:ext cx="286164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Ověření řešení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Text 16">
            <a:extLst xmlns:a="http://schemas.openxmlformats.org/drawingml/2006/main">
              <a:ext uri="{FF2B5EF4-FFF2-40B4-BE49-F238E27FC236}">
                <a16:creationId xmlns:a16="http://schemas.microsoft.com/office/drawing/2014/main" id="{F81BB85A-8E65-47B1-8E8C-FAD2BEDB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200" y="2459880"/>
            <a:ext cx="122508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Jakub Juchelka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Text 17">
            <a:extLst xmlns:a="http://schemas.openxmlformats.org/drawingml/2006/main">
              <a:ext uri="{FF2B5EF4-FFF2-40B4-BE49-F238E27FC236}">
                <a16:creationId xmlns:a16="http://schemas.microsoft.com/office/drawing/2014/main" id="{C0E39292-1460-4062-B17E-B1744DEF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280" y="2459880"/>
            <a:ext cx="130716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30. 10. 2026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Text 18">
            <a:extLst xmlns:a="http://schemas.openxmlformats.org/drawingml/2006/main">
              <a:ext uri="{FF2B5EF4-FFF2-40B4-BE49-F238E27FC236}">
                <a16:creationId xmlns:a16="http://schemas.microsoft.com/office/drawing/2014/main" id="{C944AD2E-6971-43A1-B222-48088D43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3160" y="2459880"/>
            <a:ext cx="166392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Hotovo 30. 10.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Text 19">
            <a:extLst xmlns:a="http://schemas.openxmlformats.org/drawingml/2006/main">
              <a:ext uri="{FF2B5EF4-FFF2-40B4-BE49-F238E27FC236}">
                <a16:creationId xmlns:a16="http://schemas.microsoft.com/office/drawing/2014/main" id="{9EFDF04B-984E-499F-A741-99424FCB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080" y="2459880"/>
            <a:ext cx="423324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cbcf4e35aaca4a69"/>
              </a:rPr>
              <a:t>GREEN. 97 testů prošlo.</a:t>
            </a:r>
          </a:p>
        </p:txBody>
      </p:sp>
      <p:sp>
        <p:nvSpPr>
          <p:cNvPr id="104" name="Text 20">
            <a:extLst xmlns:a="http://schemas.openxmlformats.org/drawingml/2006/main">
              <a:ext uri="{FF2B5EF4-FFF2-40B4-BE49-F238E27FC236}">
                <a16:creationId xmlns:a16="http://schemas.microsoft.com/office/drawing/2014/main" id="{9CCFEC05-E188-46D0-BB17-194D5A33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3072240"/>
            <a:ext cx="286164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Kontrola dokumentace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a zastoupení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Text 21">
            <a:extLst xmlns:a="http://schemas.openxmlformats.org/drawingml/2006/main">
              <a:ext uri="{FF2B5EF4-FFF2-40B4-BE49-F238E27FC236}">
                <a16:creationId xmlns:a16="http://schemas.microsoft.com/office/drawing/2014/main" id="{A83EEB6D-3B71-4715-A131-1FBAAB3A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200" y="3072240"/>
            <a:ext cx="122508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Jakub / Filip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Text 22">
            <a:extLst xmlns:a="http://schemas.openxmlformats.org/drawingml/2006/main">
              <a:ext uri="{FF2B5EF4-FFF2-40B4-BE49-F238E27FC236}">
                <a16:creationId xmlns:a16="http://schemas.microsoft.com/office/drawing/2014/main" id="{4B8E0EE2-228B-40C5-AF1E-83539428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280" y="3072240"/>
            <a:ext cx="130716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30. 10. 2026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Text 23">
            <a:extLst xmlns:a="http://schemas.openxmlformats.org/drawingml/2006/main">
              <a:ext uri="{FF2B5EF4-FFF2-40B4-BE49-F238E27FC236}">
                <a16:creationId xmlns:a16="http://schemas.microsoft.com/office/drawing/2014/main" id="{B4C7A837-8EBE-4FA8-A1BB-22B12164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3160" y="3072240"/>
            <a:ext cx="166392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Výsledek nedoložen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Text 24">
            <a:extLst xmlns:a="http://schemas.openxmlformats.org/drawingml/2006/main">
              <a:ext uri="{FF2B5EF4-FFF2-40B4-BE49-F238E27FC236}">
                <a16:creationId xmlns:a16="http://schemas.microsoft.com/office/drawing/2014/main" id="{9ED740D1-71E1-48FE-A96A-63D111F8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080" y="3072240"/>
            <a:ext cx="423324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e9c9451ec90c491b"/>
              </a:rPr>
              <a:t>AMBER. R-01 / R-02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e9c9451ec90c491b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e9c9451ec90c491b"/>
              </a:rPr>
              <a:t>NOT VERIFIED.</a:t>
            </a:r>
          </a:p>
        </p:txBody>
      </p:sp>
      <p:sp>
        <p:nvSpPr>
          <p:cNvPr id="109" name="Text 25">
            <a:extLst xmlns:a="http://schemas.openxmlformats.org/drawingml/2006/main">
              <a:ext uri="{FF2B5EF4-FFF2-40B4-BE49-F238E27FC236}">
                <a16:creationId xmlns:a16="http://schemas.microsoft.com/office/drawing/2014/main" id="{7EBAE99B-396F-430D-97B3-26084B42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3684960"/>
            <a:ext cx="286164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Nácvik obhajoby A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Text 26">
            <a:extLst xmlns:a="http://schemas.openxmlformats.org/drawingml/2006/main">
              <a:ext uri="{FF2B5EF4-FFF2-40B4-BE49-F238E27FC236}">
                <a16:creationId xmlns:a16="http://schemas.microsoft.com/office/drawing/2014/main" id="{44B857FF-8AB9-4A57-B4D9-939BC185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200" y="3684960"/>
            <a:ext cx="122508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Kryštof Lalošák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Text 27">
            <a:extLst xmlns:a="http://schemas.openxmlformats.org/drawingml/2006/main">
              <a:ext uri="{FF2B5EF4-FFF2-40B4-BE49-F238E27FC236}">
                <a16:creationId xmlns:a16="http://schemas.microsoft.com/office/drawing/2014/main" id="{6C0307A1-A97D-4F8C-9C63-3AC573D9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280" y="3684960"/>
            <a:ext cx="130716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2. 11. 2026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Text 28">
            <a:extLst xmlns:a="http://schemas.openxmlformats.org/drawingml/2006/main">
              <a:ext uri="{FF2B5EF4-FFF2-40B4-BE49-F238E27FC236}">
                <a16:creationId xmlns:a16="http://schemas.microsoft.com/office/drawing/2014/main" id="{C2FD3B45-3F76-49B2-99F9-5DC84F31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3160" y="3684960"/>
            <a:ext cx="166392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Zatím neověřen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Text 29">
            <a:extLst xmlns:a="http://schemas.openxmlformats.org/drawingml/2006/main">
              <a:ext uri="{FF2B5EF4-FFF2-40B4-BE49-F238E27FC236}">
                <a16:creationId xmlns:a16="http://schemas.microsoft.com/office/drawing/2014/main" id="{B72C9374-8E9D-44D7-8228-B690DCC3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080" y="3684960"/>
            <a:ext cx="423324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8886f555dfb5426d"/>
              </a:rPr>
              <a:t>AMBER. Chybí nácvik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8886f555dfb5426d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8886f555dfb5426d"/>
              </a:rPr>
              <a:t>a potvrzené kapacity.</a:t>
            </a:r>
          </a:p>
        </p:txBody>
      </p:sp>
      <p:sp>
        <p:nvSpPr>
          <p:cNvPr id="114" name="Text 30">
            <a:extLst xmlns:a="http://schemas.openxmlformats.org/drawingml/2006/main">
              <a:ext uri="{FF2B5EF4-FFF2-40B4-BE49-F238E27FC236}">
                <a16:creationId xmlns:a16="http://schemas.microsoft.com/office/drawing/2014/main" id="{3A89819B-A766-4E79-81F0-6348B000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4297680"/>
            <a:ext cx="286164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Uzavření C04 / F1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Text 31">
            <a:extLst xmlns:a="http://schemas.openxmlformats.org/drawingml/2006/main">
              <a:ext uri="{FF2B5EF4-FFF2-40B4-BE49-F238E27FC236}">
                <a16:creationId xmlns:a16="http://schemas.microsoft.com/office/drawing/2014/main" id="{320A5C4C-D436-48D6-8A88-0D1C523C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200" y="4297680"/>
            <a:ext cx="122508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Nepřiřazen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Text 32">
            <a:extLst xmlns:a="http://schemas.openxmlformats.org/drawingml/2006/main">
              <a:ext uri="{FF2B5EF4-FFF2-40B4-BE49-F238E27FC236}">
                <a16:creationId xmlns:a16="http://schemas.microsoft.com/office/drawing/2014/main" id="{AA5E8C1F-E2E4-4D32-B0A2-5E26775E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280" y="4297680"/>
            <a:ext cx="130716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Termín neurčen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Text 33">
            <a:extLst xmlns:a="http://schemas.openxmlformats.org/drawingml/2006/main">
              <a:ext uri="{FF2B5EF4-FFF2-40B4-BE49-F238E27FC236}">
                <a16:creationId xmlns:a16="http://schemas.microsoft.com/office/drawing/2014/main" id="{AAF05871-72BE-42AB-9438-9A30B258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3160" y="4297680"/>
            <a:ext cx="166392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8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Odhad neurčen</a:t>
            </a:r>
            <a:endParaRPr sz="11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Text 34">
            <a:extLst xmlns:a="http://schemas.openxmlformats.org/drawingml/2006/main">
              <a:ext uri="{FF2B5EF4-FFF2-40B4-BE49-F238E27FC236}">
                <a16:creationId xmlns:a16="http://schemas.microsoft.com/office/drawing/2014/main" id="{40906299-98F3-4191-9E30-924C73E1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080" y="4297680"/>
            <a:ext cx="4233240" cy="61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78ad916116b44c96"/>
              </a:rPr>
              <a:t>OPEN. Určit vlastníka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78ad916116b44c96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78ad916116b44c96"/>
              </a:rPr>
              <a:t>a plán do 2. 11.</a:t>
            </a:r>
          </a:p>
        </p:txBody>
      </p:sp>
      <p:sp>
        <p:nvSpPr>
          <p:cNvPr id="119" name="Text 35">
            <a:extLst xmlns:a="http://schemas.openxmlformats.org/drawingml/2006/main">
              <a:ext uri="{FF2B5EF4-FFF2-40B4-BE49-F238E27FC236}">
                <a16:creationId xmlns:a16="http://schemas.microsoft.com/office/drawing/2014/main" id="{2B3FA449-4232-4DAD-BF15-5496D2C2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102280"/>
            <a:ext cx="554544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KAPACITY A ZASTUPOVÁNÍ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Text 36">
            <a:extLst xmlns:a="http://schemas.openxmlformats.org/drawingml/2006/main">
              <a:ext uri="{FF2B5EF4-FFF2-40B4-BE49-F238E27FC236}">
                <a16:creationId xmlns:a16="http://schemas.microsoft.com/office/drawing/2014/main" id="{D535A690-A5AA-4895-B9AF-759CA248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394960"/>
            <a:ext cx="5545440" cy="78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5d1d317bd5ce4f10"/>
              </a:rPr>
              <a:t>Tři členové týmu. Dostupné hodiny nejsou potvrzené.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5d1d317bd5ce4f10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5d1d317bd5ce4f10"/>
              </a:rPr>
              <a:t>Zastupování je plánované, zatím NOT VERIFIED (R-02).</a:t>
            </a:r>
          </a:p>
        </p:txBody>
      </p:sp>
      <p:sp>
        <p:nvSpPr>
          <p:cNvPr id="121" name="Text 37">
            <a:extLst xmlns:a="http://schemas.openxmlformats.org/drawingml/2006/main">
              <a:ext uri="{FF2B5EF4-FFF2-40B4-BE49-F238E27FC236}">
                <a16:creationId xmlns:a16="http://schemas.microsoft.com/office/drawing/2014/main" id="{12D1FB8F-C902-4BF5-AB1B-6052F0A5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240" y="5102280"/>
            <a:ext cx="554544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KRITICKÁ ZÁVISLOST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Text 38">
            <a:extLst xmlns:a="http://schemas.openxmlformats.org/drawingml/2006/main">
              <a:ext uri="{FF2B5EF4-FFF2-40B4-BE49-F238E27FC236}">
                <a16:creationId xmlns:a16="http://schemas.microsoft.com/office/drawing/2014/main" id="{C197909C-B7C0-41D0-BE98-5E02A149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240" y="5394960"/>
            <a:ext cx="5545440" cy="78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767d9d9d11814328"/>
              </a:rPr>
              <a:t>C04 a potvrzení plánu jsou podmínkou doloženého dokončení.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767d9d9d11814328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767d9d9d11814328"/>
              </a:rPr>
              <a:t>Kryštof do 2. 11. zajistí termín obhajoby a rozdělení kapacit.</a:t>
            </a:r>
          </a:p>
        </p:txBody>
      </p:sp>
    </p:spTree>
    <p:extLst>
      <p:ext uri="{BB962C8B-B14F-4D97-AF65-F5344CB8AC3E}">
        <p14:creationId xmlns:p14="http://schemas.microsoft.com/office/powerpoint/2010/main" val="34720817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Shape 0">
            <a:extLst xmlns:a="http://schemas.openxmlformats.org/drawingml/2006/main">
              <a:ext uri="{FF2B5EF4-FFF2-40B4-BE49-F238E27FC236}">
                <a16:creationId xmlns:a16="http://schemas.microsoft.com/office/drawing/2014/main" id="{790B32BB-BDEA-450C-8FB9-D2C548A3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8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12700">
            <a:solidFill>
              <a:srgbClr val="2454A5">
                <a:alpha val="0"/>
              </a:srgbClr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37440" rIns="90000" bIns="374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Text 1">
            <a:extLst xmlns:a="http://schemas.openxmlformats.org/drawingml/2006/main">
              <a:ext uri="{FF2B5EF4-FFF2-40B4-BE49-F238E27FC236}">
                <a16:creationId xmlns:a16="http://schemas.microsoft.com/office/drawing/2014/main" id="{72422A2D-18CB-4590-911A-A80BADF0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1880"/>
            <a:ext cx="8320680" cy="28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SWI / C08 PROJECT STATUS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Text 2">
            <a:extLst xmlns:a="http://schemas.openxmlformats.org/drawingml/2006/main">
              <a:ext uri="{FF2B5EF4-FFF2-40B4-BE49-F238E27FC236}">
                <a16:creationId xmlns:a16="http://schemas.microsoft.com/office/drawing/2014/main" id="{9FF9E7BC-1A15-42AF-85FE-456553E0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1880"/>
            <a:ext cx="51156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04</a:t>
            </a:r>
            <a:endParaRPr sz="11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Text 3">
            <a:extLst xmlns:a="http://schemas.openxmlformats.org/drawingml/2006/main">
              <a:ext uri="{FF2B5EF4-FFF2-40B4-BE49-F238E27FC236}">
                <a16:creationId xmlns:a16="http://schemas.microsoft.com/office/drawing/2014/main" id="{A1A38B3C-A670-4CFA-B491-AFBEEABB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11920"/>
            <a:ext cx="1101816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50" b="1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HLAVNÍ RIZIKA A OTEVŘENÉ BODY</a:t>
            </a:r>
            <a:endParaRPr sz="26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Text 4">
            <a:extLst xmlns:a="http://schemas.openxmlformats.org/drawingml/2006/main">
              <a:ext uri="{FF2B5EF4-FFF2-40B4-BE49-F238E27FC236}">
                <a16:creationId xmlns:a16="http://schemas.microsoft.com/office/drawing/2014/main" id="{7C1AFBD0-2C6A-4F71-A9B0-6D401BA2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987480"/>
            <a:ext cx="112284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10" b="0" u="none" strike="noStrike">
                <a:solidFill>
                  <a:srgbClr val="52657D"/>
                </a:solidFill>
                <a:latin typeface="Arial"/>
                <a:ea typeface="Arial"/>
                <a:cs typeface="Arial"/>
              </a:rPr>
              <a:t>Rizika jsou přijatá. Neověřená opatření zůstávají NOT VERIFIED.</a:t>
            </a:r>
            <a:endParaRPr sz="121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Text 5">
            <a:extLst xmlns:a="http://schemas.openxmlformats.org/drawingml/2006/main">
              <a:ext uri="{FF2B5EF4-FFF2-40B4-BE49-F238E27FC236}">
                <a16:creationId xmlns:a16="http://schemas.microsoft.com/office/drawing/2014/main" id="{1559EFA5-803B-4260-B1B6-40317631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389960"/>
            <a:ext cx="388584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PROJEKT: Rezervační systém učeben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Text 6">
            <a:extLst xmlns:a="http://schemas.openxmlformats.org/drawingml/2006/main">
              <a:ext uri="{FF2B5EF4-FFF2-40B4-BE49-F238E27FC236}">
                <a16:creationId xmlns:a16="http://schemas.microsoft.com/office/drawing/2014/main" id="{DC98D036-5216-4377-A433-43583F98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1389960"/>
            <a:ext cx="40413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BASELINE: c08-report-2026-10-30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Text 7">
            <a:extLst xmlns:a="http://schemas.openxmlformats.org/drawingml/2006/main">
              <a:ext uri="{FF2B5EF4-FFF2-40B4-BE49-F238E27FC236}">
                <a16:creationId xmlns:a16="http://schemas.microsoft.com/office/drawing/2014/main" id="{91E7F811-69D9-4B5A-9E9C-67B662E8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760" y="1389960"/>
            <a:ext cx="33645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DATUM: 30. 10. 2026 / Jakub Juchelka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Shape 8">
            <a:extLst xmlns:a="http://schemas.openxmlformats.org/drawingml/2006/main">
              <a:ext uri="{FF2B5EF4-FFF2-40B4-BE49-F238E27FC236}">
                <a16:creationId xmlns:a16="http://schemas.microsoft.com/office/drawing/2014/main" id="{7EFD9592-D1F3-4191-9FF4-FE7A753D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40" y="6496560"/>
            <a:ext cx="11292840" cy="360"/>
          </a:xfrm>
          <a:prstGeom xmlns:a="http://schemas.openxmlformats.org/drawingml/2006/main" prst="line">
            <a:avLst/>
          </a:prstGeom>
          <a:ln xmlns:a="http://schemas.openxmlformats.org/drawingml/2006/main" w="8890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Text 9">
            <a:extLst xmlns:a="http://schemas.openxmlformats.org/drawingml/2006/main">
              <a:ext uri="{FF2B5EF4-FFF2-40B4-BE49-F238E27FC236}">
                <a16:creationId xmlns:a16="http://schemas.microsoft.com/office/drawing/2014/main" id="{FE34CA98-CEC2-4C79-B606-C49E1EC0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6510600"/>
            <a:ext cx="11063880" cy="17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80" b="0" u="none" strike="noStrike">
                <a:solidFill>
                  <a:srgbClr val="637184"/>
                </a:solidFill>
                <a:latin typeface="Arial"/>
                <a:ea typeface="Arial"/>
                <a:cs typeface="Arial"/>
              </a:rPr>
              <a:t>SWI C08   Baseline: c08-report-2026-10-30   Stav k 30. 10. 2026</a:t>
            </a:r>
            <a:endParaRPr sz="8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Text 10">
            <a:extLst xmlns:a="http://schemas.openxmlformats.org/drawingml/2006/main">
              <a:ext uri="{FF2B5EF4-FFF2-40B4-BE49-F238E27FC236}">
                <a16:creationId xmlns:a16="http://schemas.microsoft.com/office/drawing/2014/main" id="{148EE429-04AB-4E55-99A8-0DAD1753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93320"/>
            <a:ext cx="222156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Riziko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Text 11">
            <a:extLst xmlns:a="http://schemas.openxmlformats.org/drawingml/2006/main">
              <a:ext uri="{FF2B5EF4-FFF2-40B4-BE49-F238E27FC236}">
                <a16:creationId xmlns:a16="http://schemas.microsoft.com/office/drawing/2014/main" id="{E4109918-C36D-4DD1-8D5B-64B76EDE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120" y="1993320"/>
            <a:ext cx="130716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Počáteční L/I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Text 12">
            <a:extLst xmlns:a="http://schemas.openxmlformats.org/drawingml/2006/main">
              <a:ext uri="{FF2B5EF4-FFF2-40B4-BE49-F238E27FC236}">
                <a16:creationId xmlns:a16="http://schemas.microsoft.com/office/drawing/2014/main" id="{A544C135-FD26-4C4E-B4ED-A08677EE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1993320"/>
            <a:ext cx="127080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Strategie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Text 13">
            <a:extLst xmlns:a="http://schemas.openxmlformats.org/drawingml/2006/main">
              <a:ext uri="{FF2B5EF4-FFF2-40B4-BE49-F238E27FC236}">
                <a16:creationId xmlns:a16="http://schemas.microsoft.com/office/drawing/2014/main" id="{0C39785E-C749-414B-BDF9-2A8915A3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00" y="1993320"/>
            <a:ext cx="222156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Opatření / vlastník / stav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7" name="Text 14">
            <a:extLst xmlns:a="http://schemas.openxmlformats.org/drawingml/2006/main">
              <a:ext uri="{FF2B5EF4-FFF2-40B4-BE49-F238E27FC236}">
                <a16:creationId xmlns:a16="http://schemas.microsoft.com/office/drawing/2014/main" id="{1895D19D-DCB5-4D82-98DB-7F6B7067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720" y="1993320"/>
            <a:ext cx="248688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Zbytkové riziko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Text 15">
            <a:extLst xmlns:a="http://schemas.openxmlformats.org/drawingml/2006/main">
              <a:ext uri="{FF2B5EF4-FFF2-40B4-BE49-F238E27FC236}">
                <a16:creationId xmlns:a16="http://schemas.microsoft.com/office/drawing/2014/main" id="{DD8D8517-93AE-43F6-B381-30277777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7960" y="1993320"/>
            <a:ext cx="178272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Trigger / přijetí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Text 16">
            <a:extLst xmlns:a="http://schemas.openxmlformats.org/drawingml/2006/main">
              <a:ext uri="{FF2B5EF4-FFF2-40B4-BE49-F238E27FC236}">
                <a16:creationId xmlns:a16="http://schemas.microsoft.com/office/drawing/2014/main" id="{42DF9EEC-2F9E-42D5-8E84-A577A351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2459880"/>
            <a:ext cx="222156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d7b6d7bccb4c49e9"/>
              </a:rPr>
              <a:t>R-03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d7b6d7bccb4c49e9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d7b6d7bccb4c49e9"/>
              </a:rPr>
              <a:t>Dvě potvrzení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d7b6d7bccb4c49e9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d7b6d7bccb4c49e9"/>
              </a:rPr>
              <a:t>stejné učebny</a:t>
            </a:r>
          </a:p>
        </p:txBody>
      </p:sp>
      <p:sp>
        <p:nvSpPr>
          <p:cNvPr id="140" name="Text 17">
            <a:extLst xmlns:a="http://schemas.openxmlformats.org/drawingml/2006/main">
              <a:ext uri="{FF2B5EF4-FFF2-40B4-BE49-F238E27FC236}">
                <a16:creationId xmlns:a16="http://schemas.microsoft.com/office/drawing/2014/main" id="{FBE37DBF-762D-4F42-ABF0-BEBC589F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120" y="2459880"/>
            <a:ext cx="130716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L=2, I=3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HIGH (6)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Text 18">
            <a:extLst xmlns:a="http://schemas.openxmlformats.org/drawingml/2006/main">
              <a:ext uri="{FF2B5EF4-FFF2-40B4-BE49-F238E27FC236}">
                <a16:creationId xmlns:a16="http://schemas.microsoft.com/office/drawing/2014/main" id="{DCC0A606-1B5C-4995-A3FB-9BCF4521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459880"/>
            <a:ext cx="127080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MITIGATE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Text 19">
            <a:extLst xmlns:a="http://schemas.openxmlformats.org/drawingml/2006/main">
              <a:ext uri="{FF2B5EF4-FFF2-40B4-BE49-F238E27FC236}">
                <a16:creationId xmlns:a16="http://schemas.microsoft.com/office/drawing/2014/main" id="{B844BF9C-EE90-4AA9-A59F-D840E947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00" y="2459880"/>
            <a:ext cx="222156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73d35ea2e69b4df7"/>
              </a:rPr>
              <a:t>DB ochrana a souběžné testy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73d35ea2e69b4df7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73d35ea2e69b4df7"/>
              </a:rPr>
              <a:t>Jakub, 30. 10.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73d35ea2e69b4df7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73d35ea2e69b4df7"/>
              </a:rPr>
              <a:t>VERIFIED</a:t>
            </a:r>
          </a:p>
        </p:txBody>
      </p:sp>
      <p:sp>
        <p:nvSpPr>
          <p:cNvPr id="143" name="Text 20">
            <a:extLst xmlns:a="http://schemas.openxmlformats.org/drawingml/2006/main">
              <a:ext uri="{FF2B5EF4-FFF2-40B4-BE49-F238E27FC236}">
                <a16:creationId xmlns:a16="http://schemas.microsoft.com/office/drawing/2014/main" id="{B844C321-A603-44D0-844C-653728D2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720" y="2459880"/>
            <a:ext cx="248688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Oček.: 1/3 MEDIUM (3)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Skuteč.: 1/3 MEDIUM (3)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Text 21">
            <a:extLst xmlns:a="http://schemas.openxmlformats.org/drawingml/2006/main">
              <a:ext uri="{FF2B5EF4-FFF2-40B4-BE49-F238E27FC236}">
                <a16:creationId xmlns:a16="http://schemas.microsoft.com/office/drawing/2014/main" id="{011638A5-4839-4AAB-A5A0-B226882E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7960" y="2459880"/>
            <a:ext cx="178272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Změna ochrany / test selže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Přijato: Jakub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Text 22">
            <a:extLst xmlns:a="http://schemas.openxmlformats.org/drawingml/2006/main">
              <a:ext uri="{FF2B5EF4-FFF2-40B4-BE49-F238E27FC236}">
                <a16:creationId xmlns:a16="http://schemas.microsoft.com/office/drawing/2014/main" id="{0496F487-A1EC-4FBC-8C36-089F73F2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3374280"/>
            <a:ext cx="222156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464acb43eeb54844"/>
              </a:rPr>
              <a:t>R-01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464acb43eeb54844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464acb43eeb54844"/>
              </a:rPr>
              <a:t>Dokumentace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464acb43eeb54844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464acb43eeb54844"/>
              </a:rPr>
              <a:t>neodpovídá kódu</a:t>
            </a:r>
          </a:p>
        </p:txBody>
      </p:sp>
      <p:sp>
        <p:nvSpPr>
          <p:cNvPr id="146" name="Text 23">
            <a:extLst xmlns:a="http://schemas.openxmlformats.org/drawingml/2006/main">
              <a:ext uri="{FF2B5EF4-FFF2-40B4-BE49-F238E27FC236}">
                <a16:creationId xmlns:a16="http://schemas.microsoft.com/office/drawing/2014/main" id="{7EF1C325-03E6-403A-8C3B-32648C15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120" y="3374280"/>
            <a:ext cx="130716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L=2, I=2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MEDIUM (4)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Text 24">
            <a:extLst xmlns:a="http://schemas.openxmlformats.org/drawingml/2006/main">
              <a:ext uri="{FF2B5EF4-FFF2-40B4-BE49-F238E27FC236}">
                <a16:creationId xmlns:a16="http://schemas.microsoft.com/office/drawing/2014/main" id="{926AC234-382F-4BD0-A681-BF4ABAE3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374280"/>
            <a:ext cx="127080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MITIGATE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Text 25">
            <a:extLst xmlns:a="http://schemas.openxmlformats.org/drawingml/2006/main">
              <a:ext uri="{FF2B5EF4-FFF2-40B4-BE49-F238E27FC236}">
                <a16:creationId xmlns:a16="http://schemas.microsoft.com/office/drawing/2014/main" id="{8F73F239-83DB-48F9-95B7-077E731B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00" y="3374280"/>
            <a:ext cx="222156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Porovnat specifikaci a C05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Jakub, 30. 10.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NOT VERIFIED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Text 26">
            <a:extLst xmlns:a="http://schemas.openxmlformats.org/drawingml/2006/main">
              <a:ext uri="{FF2B5EF4-FFF2-40B4-BE49-F238E27FC236}">
                <a16:creationId xmlns:a16="http://schemas.microsoft.com/office/drawing/2014/main" id="{0FAECED3-4910-4B52-A9D1-D2EE5155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720" y="3374280"/>
            <a:ext cx="248688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Oček.: 1/2 LOW (2)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Skuteč.: NOT VERIFIED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Text 27">
            <a:extLst xmlns:a="http://schemas.openxmlformats.org/drawingml/2006/main">
              <a:ext uri="{FF2B5EF4-FFF2-40B4-BE49-F238E27FC236}">
                <a16:creationId xmlns:a16="http://schemas.microsoft.com/office/drawing/2014/main" id="{D7BEF81C-871B-4D97-A624-2FDCE07C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7960" y="3374280"/>
            <a:ext cx="178272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Změna pravidla / rozpor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Přijato: Jakub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Text 28">
            <a:extLst xmlns:a="http://schemas.openxmlformats.org/drawingml/2006/main">
              <a:ext uri="{FF2B5EF4-FFF2-40B4-BE49-F238E27FC236}">
                <a16:creationId xmlns:a16="http://schemas.microsoft.com/office/drawing/2014/main" id="{ECF2D14A-B2D8-461B-B209-B23772B2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4288680"/>
            <a:ext cx="222156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aec2925eeaaf41e2"/>
              </a:rPr>
              <a:t>R-04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aec2925eeaaf41e2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aec2925eeaaf41e2"/>
              </a:rPr>
              <a:t>Úkol ze cvičení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aec2925eeaaf41e2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aec2925eeaaf41e2"/>
              </a:rPr>
              <a:t>nebude včas</a:t>
            </a:r>
          </a:p>
        </p:txBody>
      </p:sp>
      <p:sp>
        <p:nvSpPr>
          <p:cNvPr id="152" name="Text 29">
            <a:extLst xmlns:a="http://schemas.openxmlformats.org/drawingml/2006/main">
              <a:ext uri="{FF2B5EF4-FFF2-40B4-BE49-F238E27FC236}">
                <a16:creationId xmlns:a16="http://schemas.microsoft.com/office/drawing/2014/main" id="{2288A713-4B0C-454C-9BB5-450A2DD0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120" y="4288680"/>
            <a:ext cx="130716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L=2, I=2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MEDIUM (4)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Text 30">
            <a:extLst xmlns:a="http://schemas.openxmlformats.org/drawingml/2006/main">
              <a:ext uri="{FF2B5EF4-FFF2-40B4-BE49-F238E27FC236}">
                <a16:creationId xmlns:a16="http://schemas.microsoft.com/office/drawing/2014/main" id="{A1EDA266-7CD1-4AA4-A21D-DCBCE9CF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4288680"/>
            <a:ext cx="127080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MITIGATE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Text 31">
            <a:extLst xmlns:a="http://schemas.openxmlformats.org/drawingml/2006/main">
              <a:ext uri="{FF2B5EF4-FFF2-40B4-BE49-F238E27FC236}">
                <a16:creationId xmlns:a16="http://schemas.microsoft.com/office/drawing/2014/main" id="{6E6EC528-0D82-4F5A-8B2B-974EF0F2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00" y="4288680"/>
            <a:ext cx="222156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Rozdělit práci a kontrolovat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Kryštof, 30. 10.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NOT VERIFIED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Text 32">
            <a:extLst xmlns:a="http://schemas.openxmlformats.org/drawingml/2006/main">
              <a:ext uri="{FF2B5EF4-FFF2-40B4-BE49-F238E27FC236}">
                <a16:creationId xmlns:a16="http://schemas.microsoft.com/office/drawing/2014/main" id="{D2847A1C-A17C-4AD9-B18A-D4446C2D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720" y="4288680"/>
            <a:ext cx="248688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Oček.: 1/2 LOW (2)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Skuteč.: NOT VERIFIED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" name="Text 33">
            <a:extLst xmlns:a="http://schemas.openxmlformats.org/drawingml/2006/main">
              <a:ext uri="{FF2B5EF4-FFF2-40B4-BE49-F238E27FC236}">
                <a16:creationId xmlns:a16="http://schemas.microsoft.com/office/drawing/2014/main" id="{E8FAFDE8-84DE-4781-8472-CD4AF9DA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7960" y="4288680"/>
            <a:ext cx="1782720" cy="914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Práce zaostává za plánem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9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Přijato: Kryštof</a:t>
            </a:r>
            <a:endParaRPr sz="109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Text 34">
            <a:extLst xmlns:a="http://schemas.openxmlformats.org/drawingml/2006/main">
              <a:ext uri="{FF2B5EF4-FFF2-40B4-BE49-F238E27FC236}">
                <a16:creationId xmlns:a16="http://schemas.microsoft.com/office/drawing/2014/main" id="{4CD9D11F-80D8-4229-B0D8-DAE6C5F0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330880"/>
            <a:ext cx="2194200" cy="566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4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OTEVŘENÉ ISSUES</a:t>
            </a:r>
            <a:endParaRPr sz="114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Text 35">
            <a:extLst xmlns:a="http://schemas.openxmlformats.org/drawingml/2006/main">
              <a:ext uri="{FF2B5EF4-FFF2-40B4-BE49-F238E27FC236}">
                <a16:creationId xmlns:a16="http://schemas.microsoft.com/office/drawing/2014/main" id="{CABA3C19-9D24-4E0D-824C-08942BC7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760" y="5330880"/>
            <a:ext cx="9097920" cy="566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800" tIns="1800" rIns="1800" bIns="180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43b01e0b22e2494b"/>
              </a:rPr>
              <a:t>F1 ACCEPTED / OPEN: chybí C04. Vlastník a termín uzavření nejsou určeny.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43b01e0b22e2494b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43b01e0b22e2494b"/>
              </a:rPr>
              <a:t>Plán: Kryštof do 2. 11. zajistí kapacity a termín obhajoby.</a:t>
            </a:r>
          </a:p>
        </p:txBody>
      </p:sp>
      <p:sp>
        <p:nvSpPr>
          <p:cNvPr id="159" name="Text 36">
            <a:extLst xmlns:a="http://schemas.openxmlformats.org/drawingml/2006/main">
              <a:ext uri="{FF2B5EF4-FFF2-40B4-BE49-F238E27FC236}">
                <a16:creationId xmlns:a16="http://schemas.microsoft.com/office/drawing/2014/main" id="{1407643C-C5D1-4B44-969A-D8F8A1C8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6026040"/>
            <a:ext cx="1129248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52657D"/>
                </a:solidFill>
                <a:hlinkClick xmlns:r="http://schemas.openxmlformats.org/officeDocument/2006/relationships" r:id="R3c9efc6f60894d4e"/>
              </a:rPr>
              <a:t>L × I: 1–2 LOW, 3–4 MEDIUM, 6–9 HIGH. R-02 je ve čtyřpoložkovém registru v repozitáři.</a:t>
            </a:r>
          </a:p>
        </p:txBody>
      </p:sp>
    </p:spTree>
    <p:extLst>
      <p:ext uri="{BB962C8B-B14F-4D97-AF65-F5344CB8AC3E}">
        <p14:creationId xmlns:p14="http://schemas.microsoft.com/office/powerpoint/2010/main" val="13504984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" name="Shape 0">
            <a:extLst xmlns:a="http://schemas.openxmlformats.org/drawingml/2006/main">
              <a:ext uri="{FF2B5EF4-FFF2-40B4-BE49-F238E27FC236}">
                <a16:creationId xmlns:a16="http://schemas.microsoft.com/office/drawing/2014/main" id="{C1CDA9A6-36C9-4758-928F-8F5A6D8B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8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12700">
            <a:solidFill>
              <a:srgbClr val="2454A5">
                <a:alpha val="0"/>
              </a:srgbClr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37440" rIns="90000" bIns="374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Text 1">
            <a:extLst xmlns:a="http://schemas.openxmlformats.org/drawingml/2006/main">
              <a:ext uri="{FF2B5EF4-FFF2-40B4-BE49-F238E27FC236}">
                <a16:creationId xmlns:a16="http://schemas.microsoft.com/office/drawing/2014/main" id="{8F598B91-C97B-4D32-9C1E-8C04F1DF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1880"/>
            <a:ext cx="8320680" cy="28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SWI / C08 PROJECT STATUS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Text 2">
            <a:extLst xmlns:a="http://schemas.openxmlformats.org/drawingml/2006/main">
              <a:ext uri="{FF2B5EF4-FFF2-40B4-BE49-F238E27FC236}">
                <a16:creationId xmlns:a16="http://schemas.microsoft.com/office/drawing/2014/main" id="{22C60427-40F2-493E-ABDB-A761600C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1880"/>
            <a:ext cx="51156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05</a:t>
            </a:r>
            <a:endParaRPr sz="11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Text 3">
            <a:extLst xmlns:a="http://schemas.openxmlformats.org/drawingml/2006/main">
              <a:ext uri="{FF2B5EF4-FFF2-40B4-BE49-F238E27FC236}">
                <a16:creationId xmlns:a16="http://schemas.microsoft.com/office/drawing/2014/main" id="{FFC7A1E7-4BA6-4D43-9EDB-38147873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11920"/>
            <a:ext cx="1101816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50" b="1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NEJBLIŽŠÍ AKCE</a:t>
            </a:r>
            <a:endParaRPr sz="26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Text 4">
            <a:extLst xmlns:a="http://schemas.openxmlformats.org/drawingml/2006/main">
              <a:ext uri="{FF2B5EF4-FFF2-40B4-BE49-F238E27FC236}">
                <a16:creationId xmlns:a16="http://schemas.microsoft.com/office/drawing/2014/main" id="{B4FD6F65-EFDD-43F9-B99C-040AF3F4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987480"/>
            <a:ext cx="112284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10" b="0" u="none" strike="noStrike">
                <a:solidFill>
                  <a:srgbClr val="52657D"/>
                </a:solidFill>
                <a:latin typeface="Arial"/>
                <a:ea typeface="Arial"/>
                <a:cs typeface="Arial"/>
              </a:rPr>
              <a:t>Čtyři konkrétní kroky. Termín opatření není důkazem jeho dokončení.</a:t>
            </a:r>
            <a:endParaRPr sz="121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Text 5">
            <a:extLst xmlns:a="http://schemas.openxmlformats.org/drawingml/2006/main">
              <a:ext uri="{FF2B5EF4-FFF2-40B4-BE49-F238E27FC236}">
                <a16:creationId xmlns:a16="http://schemas.microsoft.com/office/drawing/2014/main" id="{181D383F-B60F-4191-9FE0-0B3063A0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389960"/>
            <a:ext cx="388584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PROJEKT: Rezervační systém učeben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Text 6">
            <a:extLst xmlns:a="http://schemas.openxmlformats.org/drawingml/2006/main">
              <a:ext uri="{FF2B5EF4-FFF2-40B4-BE49-F238E27FC236}">
                <a16:creationId xmlns:a16="http://schemas.microsoft.com/office/drawing/2014/main" id="{FF0C6697-E1C3-4FFF-AB69-221FA49F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1389960"/>
            <a:ext cx="40413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BASELINE: c08-report-2026-10-30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Text 7">
            <a:extLst xmlns:a="http://schemas.openxmlformats.org/drawingml/2006/main">
              <a:ext uri="{FF2B5EF4-FFF2-40B4-BE49-F238E27FC236}">
                <a16:creationId xmlns:a16="http://schemas.microsoft.com/office/drawing/2014/main" id="{B12BFD9A-0593-477F-8407-3648B6DB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760" y="1389960"/>
            <a:ext cx="33645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DATUM: 30. 10. 2026 / Jakub Juchelka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Shape 8">
            <a:extLst xmlns:a="http://schemas.openxmlformats.org/drawingml/2006/main">
              <a:ext uri="{FF2B5EF4-FFF2-40B4-BE49-F238E27FC236}">
                <a16:creationId xmlns:a16="http://schemas.microsoft.com/office/drawing/2014/main" id="{31D1ED90-6BA7-4D08-B662-9C83D10A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40" y="6496560"/>
            <a:ext cx="11292840" cy="360"/>
          </a:xfrm>
          <a:prstGeom xmlns:a="http://schemas.openxmlformats.org/drawingml/2006/main" prst="line">
            <a:avLst/>
          </a:prstGeom>
          <a:ln xmlns:a="http://schemas.openxmlformats.org/drawingml/2006/main" w="8890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Text 9">
            <a:extLst xmlns:a="http://schemas.openxmlformats.org/drawingml/2006/main">
              <a:ext uri="{FF2B5EF4-FFF2-40B4-BE49-F238E27FC236}">
                <a16:creationId xmlns:a16="http://schemas.microsoft.com/office/drawing/2014/main" id="{1D7D5037-96E1-4C98-BECC-174A0E5C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6510600"/>
            <a:ext cx="11063880" cy="17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80" b="0" u="none" strike="noStrike">
                <a:solidFill>
                  <a:srgbClr val="637184"/>
                </a:solidFill>
                <a:latin typeface="Arial"/>
                <a:ea typeface="Arial"/>
                <a:cs typeface="Arial"/>
              </a:rPr>
              <a:t>SWI C08   Baseline: c08-report-2026-10-30   Stav k 30. 10. 2026</a:t>
            </a:r>
            <a:endParaRPr sz="8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Text 10">
            <a:extLst xmlns:a="http://schemas.openxmlformats.org/drawingml/2006/main">
              <a:ext uri="{FF2B5EF4-FFF2-40B4-BE49-F238E27FC236}">
                <a16:creationId xmlns:a16="http://schemas.microsoft.com/office/drawing/2014/main" id="{6A177924-C12A-4E3A-A2C5-EA41D9F7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93320"/>
            <a:ext cx="279756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Priorita / akce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Text 11">
            <a:extLst xmlns:a="http://schemas.openxmlformats.org/drawingml/2006/main">
              <a:ext uri="{FF2B5EF4-FFF2-40B4-BE49-F238E27FC236}">
                <a16:creationId xmlns:a16="http://schemas.microsoft.com/office/drawing/2014/main" id="{D0A3C8C1-E490-4159-9F3F-8D92F5BF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993320"/>
            <a:ext cx="128880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Vlastník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Text 12">
            <a:extLst xmlns:a="http://schemas.openxmlformats.org/drawingml/2006/main">
              <a:ext uri="{FF2B5EF4-FFF2-40B4-BE49-F238E27FC236}">
                <a16:creationId xmlns:a16="http://schemas.microsoft.com/office/drawing/2014/main" id="{4797B9C9-D493-41F7-AFD2-EA1CD3F7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280" y="1993320"/>
            <a:ext cx="115164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Termín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Text 13">
            <a:extLst xmlns:a="http://schemas.openxmlformats.org/drawingml/2006/main">
              <a:ext uri="{FF2B5EF4-FFF2-40B4-BE49-F238E27FC236}">
                <a16:creationId xmlns:a16="http://schemas.microsoft.com/office/drawing/2014/main" id="{4570BCD3-1FF0-4A59-B6E3-A1F9DE2A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640" y="1993320"/>
            <a:ext cx="408708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Hotovo, když existuje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Text 14">
            <a:extLst xmlns:a="http://schemas.openxmlformats.org/drawingml/2006/main">
              <a:ext uri="{FF2B5EF4-FFF2-40B4-BE49-F238E27FC236}">
                <a16:creationId xmlns:a16="http://schemas.microsoft.com/office/drawing/2014/main" id="{147A41D7-777A-4180-8F4E-64DCFA40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5080" y="1993320"/>
            <a:ext cx="1965600" cy="46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3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Vazba</a:t>
            </a:r>
            <a:endParaRPr sz="113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Text 15">
            <a:extLst xmlns:a="http://schemas.openxmlformats.org/drawingml/2006/main">
              <a:ext uri="{FF2B5EF4-FFF2-40B4-BE49-F238E27FC236}">
                <a16:creationId xmlns:a16="http://schemas.microsoft.com/office/drawing/2014/main" id="{D7DE0542-44E8-4B76-B4B3-344016D1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2459880"/>
            <a:ext cx="279756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P1 Kontrola dokumentace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Text 16">
            <a:extLst xmlns:a="http://schemas.openxmlformats.org/drawingml/2006/main">
              <a:ext uri="{FF2B5EF4-FFF2-40B4-BE49-F238E27FC236}">
                <a16:creationId xmlns:a16="http://schemas.microsoft.com/office/drawing/2014/main" id="{584F423E-030C-40AC-BF41-D96885D5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459880"/>
            <a:ext cx="128880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Jakub Juchelka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Text 17">
            <a:extLst xmlns:a="http://schemas.openxmlformats.org/drawingml/2006/main">
              <a:ext uri="{FF2B5EF4-FFF2-40B4-BE49-F238E27FC236}">
                <a16:creationId xmlns:a16="http://schemas.microsoft.com/office/drawing/2014/main" id="{8CCA56E6-9082-4501-9E66-7E776EAE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280" y="2459880"/>
            <a:ext cx="115164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30. 10. 2026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Text 18">
            <a:extLst xmlns:a="http://schemas.openxmlformats.org/drawingml/2006/main">
              <a:ext uri="{FF2B5EF4-FFF2-40B4-BE49-F238E27FC236}">
                <a16:creationId xmlns:a16="http://schemas.microsoft.com/office/drawing/2014/main" id="{48555C32-57A4-4384-A484-CCEF0285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640" y="2459880"/>
            <a:ext cx="408708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Záznam porovnání specifikace a C05 s kódem.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Rozdíly opravené nebo označené.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Text 19">
            <a:extLst xmlns:a="http://schemas.openxmlformats.org/drawingml/2006/main">
              <a:ext uri="{FF2B5EF4-FFF2-40B4-BE49-F238E27FC236}">
                <a16:creationId xmlns:a16="http://schemas.microsoft.com/office/drawing/2014/main" id="{6E2EF54D-EB2A-4D6B-9C16-37B644C7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5080" y="2459880"/>
            <a:ext cx="196560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72dfcdf8e59b422b"/>
              </a:rPr>
              <a:t>R-01</a:t>
            </a:r>
          </a:p>
        </p:txBody>
      </p:sp>
      <p:sp>
        <p:nvSpPr>
          <p:cNvPr id="180" name="Text 20">
            <a:extLst xmlns:a="http://schemas.openxmlformats.org/drawingml/2006/main">
              <a:ext uri="{FF2B5EF4-FFF2-40B4-BE49-F238E27FC236}">
                <a16:creationId xmlns:a16="http://schemas.microsoft.com/office/drawing/2014/main" id="{9B41FAE1-F80A-49AE-8A8D-CA1BE976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3191400"/>
            <a:ext cx="279756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P2 Domluvené zastoupení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Text 21">
            <a:extLst xmlns:a="http://schemas.openxmlformats.org/drawingml/2006/main">
              <a:ext uri="{FF2B5EF4-FFF2-40B4-BE49-F238E27FC236}">
                <a16:creationId xmlns:a16="http://schemas.microsoft.com/office/drawing/2014/main" id="{89BF8E12-97A8-4E8A-81A0-75976309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191400"/>
            <a:ext cx="128880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Filip Vodák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Text 22">
            <a:extLst xmlns:a="http://schemas.openxmlformats.org/drawingml/2006/main">
              <a:ext uri="{FF2B5EF4-FFF2-40B4-BE49-F238E27FC236}">
                <a16:creationId xmlns:a16="http://schemas.microsoft.com/office/drawing/2014/main" id="{EB794EAB-189B-40A2-94CB-FD418FAE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280" y="3191400"/>
            <a:ext cx="115164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30. 10. 2026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Text 23">
            <a:extLst xmlns:a="http://schemas.openxmlformats.org/drawingml/2006/main">
              <a:ext uri="{FF2B5EF4-FFF2-40B4-BE49-F238E27FC236}">
                <a16:creationId xmlns:a16="http://schemas.microsoft.com/office/drawing/2014/main" id="{777079D8-BEE1-4479-9355-EA876C48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640" y="3191400"/>
            <a:ext cx="408708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Určený zástupce zvládne převzít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příslušnou část A.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Text 24">
            <a:extLst xmlns:a="http://schemas.openxmlformats.org/drawingml/2006/main">
              <a:ext uri="{FF2B5EF4-FFF2-40B4-BE49-F238E27FC236}">
                <a16:creationId xmlns:a16="http://schemas.microsoft.com/office/drawing/2014/main" id="{4891AD66-26A1-4AB6-9B1B-4DA19429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5080" y="3191400"/>
            <a:ext cx="196560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5e3b2705025c4068"/>
              </a:rPr>
              <a:t>R-02</a:t>
            </a:r>
          </a:p>
        </p:txBody>
      </p:sp>
      <p:sp>
        <p:nvSpPr>
          <p:cNvPr id="185" name="Text 25">
            <a:extLst xmlns:a="http://schemas.openxmlformats.org/drawingml/2006/main">
              <a:ext uri="{FF2B5EF4-FFF2-40B4-BE49-F238E27FC236}">
                <a16:creationId xmlns:a16="http://schemas.microsoft.com/office/drawing/2014/main" id="{B8A3280E-98A7-489D-858E-5702C9D9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3922920"/>
            <a:ext cx="279756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P3 Plán a kapacity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Text 26">
            <a:extLst xmlns:a="http://schemas.openxmlformats.org/drawingml/2006/main">
              <a:ext uri="{FF2B5EF4-FFF2-40B4-BE49-F238E27FC236}">
                <a16:creationId xmlns:a16="http://schemas.microsoft.com/office/drawing/2014/main" id="{0D30FFFA-1E52-4318-94AE-18479D94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922920"/>
            <a:ext cx="128880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Kryštof Lalošák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Text 27">
            <a:extLst xmlns:a="http://schemas.openxmlformats.org/drawingml/2006/main">
              <a:ext uri="{FF2B5EF4-FFF2-40B4-BE49-F238E27FC236}">
                <a16:creationId xmlns:a16="http://schemas.microsoft.com/office/drawing/2014/main" id="{3375E6D4-5B52-40DA-909A-C2355BD0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280" y="3922920"/>
            <a:ext cx="115164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2. 11. 2026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" name="Text 28">
            <a:extLst xmlns:a="http://schemas.openxmlformats.org/drawingml/2006/main">
              <a:ext uri="{FF2B5EF4-FFF2-40B4-BE49-F238E27FC236}">
                <a16:creationId xmlns:a16="http://schemas.microsoft.com/office/drawing/2014/main" id="{3E0EC476-0B37-468A-81DD-F56257A9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640" y="3922920"/>
            <a:ext cx="408708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Zapsané kapacity, termín obhajoby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a vlastník s plánem uzavření C04.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Text 29">
            <a:extLst xmlns:a="http://schemas.openxmlformats.org/drawingml/2006/main">
              <a:ext uri="{FF2B5EF4-FFF2-40B4-BE49-F238E27FC236}">
                <a16:creationId xmlns:a16="http://schemas.microsoft.com/office/drawing/2014/main" id="{E329D478-DB3B-48CF-A21E-82ED183A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5080" y="3922920"/>
            <a:ext cx="196560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a309a5fed42f4d94"/>
              </a:rPr>
              <a:t>R-04 / F1</a:t>
            </a:r>
          </a:p>
        </p:txBody>
      </p:sp>
      <p:sp>
        <p:nvSpPr>
          <p:cNvPr id="190" name="Text 30">
            <a:extLst xmlns:a="http://schemas.openxmlformats.org/drawingml/2006/main">
              <a:ext uri="{FF2B5EF4-FFF2-40B4-BE49-F238E27FC236}">
                <a16:creationId xmlns:a16="http://schemas.microsoft.com/office/drawing/2014/main" id="{4B199626-335A-410B-A15C-EEF49752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4654440"/>
            <a:ext cx="279756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P4 Nácvik části A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Text 31">
            <a:extLst xmlns:a="http://schemas.openxmlformats.org/drawingml/2006/main">
              <a:ext uri="{FF2B5EF4-FFF2-40B4-BE49-F238E27FC236}">
                <a16:creationId xmlns:a16="http://schemas.microsoft.com/office/drawing/2014/main" id="{32F3694A-16FF-4394-A355-CDCEA2C5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54440"/>
            <a:ext cx="128880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Kryštof Lalošák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Text 32">
            <a:extLst xmlns:a="http://schemas.openxmlformats.org/drawingml/2006/main">
              <a:ext uri="{FF2B5EF4-FFF2-40B4-BE49-F238E27FC236}">
                <a16:creationId xmlns:a16="http://schemas.microsoft.com/office/drawing/2014/main" id="{3A732154-D19E-4399-A2AD-472FE772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280" y="4654440"/>
            <a:ext cx="115164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2. 11. 2026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Text 33">
            <a:extLst xmlns:a="http://schemas.openxmlformats.org/drawingml/2006/main">
              <a:ext uri="{FF2B5EF4-FFF2-40B4-BE49-F238E27FC236}">
                <a16:creationId xmlns:a16="http://schemas.microsoft.com/office/drawing/2014/main" id="{691C2486-0ADA-4DAF-A5F8-881861D0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640" y="4654440"/>
            <a:ext cx="408708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Proběhl společný nácvik na 8–10 minut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 strike="noStrike">
                <a:solidFill>
                  <a:srgbClr val="26354B"/>
                </a:solidFill>
                <a:latin typeface="Arial"/>
                <a:ea typeface="Arial"/>
                <a:cs typeface="Arial"/>
              </a:rPr>
              <a:t>se všemi pěti body A.</a:t>
            </a:r>
            <a:endParaRPr sz="12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Text 34">
            <a:extLst xmlns:a="http://schemas.openxmlformats.org/drawingml/2006/main">
              <a:ext uri="{FF2B5EF4-FFF2-40B4-BE49-F238E27FC236}">
                <a16:creationId xmlns:a16="http://schemas.microsoft.com/office/drawing/2014/main" id="{1F3833C2-4B73-42C6-8E84-BE483724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5080" y="4654440"/>
            <a:ext cx="1965600" cy="73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135807759c604252"/>
              </a:rPr>
              <a:t>R-02 / R-04</a:t>
            </a:r>
          </a:p>
        </p:txBody>
      </p:sp>
      <p:sp>
        <p:nvSpPr>
          <p:cNvPr id="195" name="Text 35">
            <a:extLst xmlns:a="http://schemas.openxmlformats.org/drawingml/2006/main">
              <a:ext uri="{FF2B5EF4-FFF2-40B4-BE49-F238E27FC236}">
                <a16:creationId xmlns:a16="http://schemas.microsoft.com/office/drawing/2014/main" id="{E001AC00-5AF5-4945-BFB6-9746434C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568840"/>
            <a:ext cx="2194200" cy="63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4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PŘI ZPOŽDĚNÍ</a:t>
            </a:r>
            <a:endParaRPr sz="114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Text 36">
            <a:extLst xmlns:a="http://schemas.openxmlformats.org/drawingml/2006/main">
              <a:ext uri="{FF2B5EF4-FFF2-40B4-BE49-F238E27FC236}">
                <a16:creationId xmlns:a16="http://schemas.microsoft.com/office/drawing/2014/main" id="{93414DDB-972F-420E-9158-7F4CF273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760" y="5568840"/>
            <a:ext cx="9097920" cy="63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800" tIns="1800" rIns="1800" bIns="1800" anchor="ctr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fd40252d6da24fdf"/>
              </a:rPr>
              <a:t>Kryštof přerozdělí práci a upraví plán při kontrole 2. 11.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fd40252d6da24fdf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fd40252d6da24fdf"/>
              </a:rPr>
              <a:t>F1 zůstává OPEN do doloženého uzavření.</a:t>
            </a:r>
          </a:p>
        </p:txBody>
      </p:sp>
    </p:spTree>
    <p:extLst>
      <p:ext uri="{BB962C8B-B14F-4D97-AF65-F5344CB8AC3E}">
        <p14:creationId xmlns:p14="http://schemas.microsoft.com/office/powerpoint/2010/main" val="186624827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7" name="Shape 0">
            <a:extLst xmlns:a="http://schemas.openxmlformats.org/drawingml/2006/main">
              <a:ext uri="{FF2B5EF4-FFF2-40B4-BE49-F238E27FC236}">
                <a16:creationId xmlns:a16="http://schemas.microsoft.com/office/drawing/2014/main" id="{8828A745-84A0-4383-98C4-C0FE2459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8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12700">
            <a:solidFill>
              <a:srgbClr val="2454A5">
                <a:alpha val="0"/>
              </a:srgbClr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37440" rIns="90000" bIns="374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Text 1">
            <a:extLst xmlns:a="http://schemas.openxmlformats.org/drawingml/2006/main">
              <a:ext uri="{FF2B5EF4-FFF2-40B4-BE49-F238E27FC236}">
                <a16:creationId xmlns:a16="http://schemas.microsoft.com/office/drawing/2014/main" id="{294607A2-6935-433A-BB52-0FA99490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1880"/>
            <a:ext cx="8320680" cy="28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SWI / C08 PROJECT STATUS</a:t>
            </a:r>
            <a:endParaRPr sz="10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Text 2">
            <a:extLst xmlns:a="http://schemas.openxmlformats.org/drawingml/2006/main">
              <a:ext uri="{FF2B5EF4-FFF2-40B4-BE49-F238E27FC236}">
                <a16:creationId xmlns:a16="http://schemas.microsoft.com/office/drawing/2014/main" id="{D2AD2829-F74E-4DF9-B051-DFA6309F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1880"/>
            <a:ext cx="51156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 strike="noStrike">
                <a:solidFill>
                  <a:srgbClr val="2454A5"/>
                </a:solidFill>
                <a:latin typeface="Arial"/>
                <a:ea typeface="Arial"/>
                <a:cs typeface="Arial"/>
              </a:rPr>
              <a:t>06</a:t>
            </a:r>
            <a:endParaRPr sz="11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Text 3">
            <a:extLst xmlns:a="http://schemas.openxmlformats.org/drawingml/2006/main">
              <a:ext uri="{FF2B5EF4-FFF2-40B4-BE49-F238E27FC236}">
                <a16:creationId xmlns:a16="http://schemas.microsoft.com/office/drawing/2014/main" id="{BF625EEA-B798-4E2C-B880-E1E7A8DF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11920"/>
            <a:ext cx="1101816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50" b="1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ZÁVĚR A DALŠÍ POSTUP</a:t>
            </a:r>
            <a:endParaRPr sz="265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Text 4">
            <a:extLst xmlns:a="http://schemas.openxmlformats.org/drawingml/2006/main">
              <a:ext uri="{FF2B5EF4-FFF2-40B4-BE49-F238E27FC236}">
                <a16:creationId xmlns:a16="http://schemas.microsoft.com/office/drawing/2014/main" id="{ADBD266B-6EC5-4D6A-B9B1-C00062AF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987480"/>
            <a:ext cx="112284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10" b="0" u="none" strike="noStrike">
                <a:solidFill>
                  <a:srgbClr val="52657D"/>
                </a:solidFill>
                <a:latin typeface="Arial"/>
                <a:ea typeface="Arial"/>
                <a:cs typeface="Arial"/>
              </a:rPr>
              <a:t>Stav odpovídá podkladům A, registru B a uloženým výsledkům testů.</a:t>
            </a:r>
            <a:endParaRPr sz="121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Text 5">
            <a:extLst xmlns:a="http://schemas.openxmlformats.org/drawingml/2006/main">
              <a:ext uri="{FF2B5EF4-FFF2-40B4-BE49-F238E27FC236}">
                <a16:creationId xmlns:a16="http://schemas.microsoft.com/office/drawing/2014/main" id="{2CCD9596-F109-49DD-A29F-B4699582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389960"/>
            <a:ext cx="388584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PROJEKT: Rezervační systém učeben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Text 6">
            <a:extLst xmlns:a="http://schemas.openxmlformats.org/drawingml/2006/main">
              <a:ext uri="{FF2B5EF4-FFF2-40B4-BE49-F238E27FC236}">
                <a16:creationId xmlns:a16="http://schemas.microsoft.com/office/drawing/2014/main" id="{22AF9A1F-1F15-4706-9484-C29D71A3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1389960"/>
            <a:ext cx="40413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BASELINE: c08-report-2026-10-30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Text 7">
            <a:extLst xmlns:a="http://schemas.openxmlformats.org/drawingml/2006/main">
              <a:ext uri="{FF2B5EF4-FFF2-40B4-BE49-F238E27FC236}">
                <a16:creationId xmlns:a16="http://schemas.microsoft.com/office/drawing/2014/main" id="{08E47CDD-1F1A-42F0-BDA4-A6AAFDEC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760" y="1389960"/>
            <a:ext cx="3364560" cy="40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6350">
            <a:solidFill>
              <a:srgbClr val="EAF1FB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40" b="0" u="none" strike="noStrike">
                <a:solidFill>
                  <a:srgbClr val="122641"/>
                </a:solidFill>
                <a:latin typeface="Arial"/>
                <a:ea typeface="Arial"/>
                <a:cs typeface="Arial"/>
              </a:rPr>
              <a:t>DATUM: 30. 10. 2026 / Jakub Juchelka</a:t>
            </a:r>
            <a:endParaRPr sz="104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Shape 8">
            <a:extLst xmlns:a="http://schemas.openxmlformats.org/drawingml/2006/main">
              <a:ext uri="{FF2B5EF4-FFF2-40B4-BE49-F238E27FC236}">
                <a16:creationId xmlns:a16="http://schemas.microsoft.com/office/drawing/2014/main" id="{92B0BF45-97D9-46FE-ACC2-0A9D1AB6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40" y="6496560"/>
            <a:ext cx="11292840" cy="360"/>
          </a:xfrm>
          <a:prstGeom xmlns:a="http://schemas.openxmlformats.org/drawingml/2006/main" prst="line">
            <a:avLst/>
          </a:prstGeom>
          <a:ln xmlns:a="http://schemas.openxmlformats.org/drawingml/2006/main" w="8890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Text 9">
            <a:extLst xmlns:a="http://schemas.openxmlformats.org/drawingml/2006/main">
              <a:ext uri="{FF2B5EF4-FFF2-40B4-BE49-F238E27FC236}">
                <a16:creationId xmlns:a16="http://schemas.microsoft.com/office/drawing/2014/main" id="{EF21E0D6-FC36-498B-AEF2-D3BAFAC0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6510600"/>
            <a:ext cx="11063880" cy="17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80" b="0" u="none" strike="noStrike">
                <a:solidFill>
                  <a:srgbClr val="637184"/>
                </a:solidFill>
                <a:latin typeface="Arial"/>
                <a:ea typeface="Arial"/>
                <a:cs typeface="Arial"/>
              </a:rPr>
              <a:t>SWI C08   Baseline: c08-report-2026-10-30   Stav k 30. 10. 2026</a:t>
            </a:r>
            <a:endParaRPr sz="880" b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Text 10">
            <a:extLst xmlns:a="http://schemas.openxmlformats.org/drawingml/2006/main">
              <a:ext uri="{FF2B5EF4-FFF2-40B4-BE49-F238E27FC236}">
                <a16:creationId xmlns:a16="http://schemas.microsoft.com/office/drawing/2014/main" id="{51C8BF08-54B6-4830-B262-4737E218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1993320"/>
            <a:ext cx="554544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DOLOŽENÉ VÝSLEDKY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Text 11">
            <a:extLst xmlns:a="http://schemas.openxmlformats.org/drawingml/2006/main">
              <a:ext uri="{FF2B5EF4-FFF2-40B4-BE49-F238E27FC236}">
                <a16:creationId xmlns:a16="http://schemas.microsoft.com/office/drawing/2014/main" id="{2278EA74-A421-47F5-91E9-42BEAAE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2286000"/>
            <a:ext cx="5545440" cy="978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042b6435d311460a"/>
              </a:rPr>
              <a:t>Create, Availability, Confirm/Approval a Cancel.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042b6435d311460a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042b6435d311460a"/>
              </a:rPr>
              <a:t>97 vybraných testů prošlo.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042b6435d311460a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042b6435d311460a"/>
              </a:rPr>
              <a:t>Souběžné potvrzení přidělí učebnu jen jednou.</a:t>
            </a:r>
          </a:p>
        </p:txBody>
      </p:sp>
      <p:sp>
        <p:nvSpPr>
          <p:cNvPr id="209" name="Text 12">
            <a:extLst xmlns:a="http://schemas.openxmlformats.org/drawingml/2006/main">
              <a:ext uri="{FF2B5EF4-FFF2-40B4-BE49-F238E27FC236}">
                <a16:creationId xmlns:a16="http://schemas.microsoft.com/office/drawing/2014/main" id="{52D0AF46-C496-40B2-B7DD-F6EC140E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240" y="1993320"/>
            <a:ext cx="554544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OTEVŘENÉ / NOT VERIFIED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Text 13">
            <a:extLst xmlns:a="http://schemas.openxmlformats.org/drawingml/2006/main">
              <a:ext uri="{FF2B5EF4-FFF2-40B4-BE49-F238E27FC236}">
                <a16:creationId xmlns:a16="http://schemas.microsoft.com/office/drawing/2014/main" id="{6D3F597C-4A82-4990-BAB3-052F12A3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240" y="2286000"/>
            <a:ext cx="5545440" cy="978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8b264ea16dc245b2"/>
              </a:rPr>
              <a:t>F1 ACCEPTED / OPEN: chybí řetězec C04.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8b264ea16dc245b2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8b264ea16dc245b2"/>
              </a:rPr>
              <a:t>Kontrola dokumentace a zastoupení nejsou doložené.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8b264ea16dc245b2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8b264ea16dc245b2"/>
              </a:rPr>
              <a:t>Kapacity a termín obhajoby nejsou potvrzené.</a:t>
            </a:r>
          </a:p>
        </p:txBody>
      </p:sp>
      <p:sp>
        <p:nvSpPr>
          <p:cNvPr id="211" name="Text 14">
            <a:extLst xmlns:a="http://schemas.openxmlformats.org/drawingml/2006/main">
              <a:ext uri="{FF2B5EF4-FFF2-40B4-BE49-F238E27FC236}">
                <a16:creationId xmlns:a16="http://schemas.microsoft.com/office/drawing/2014/main" id="{3FF8ABA0-ABA8-4040-A546-C876E5F4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3474720"/>
            <a:ext cx="554544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HLAVNÍ RIZIKO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Text 15">
            <a:extLst xmlns:a="http://schemas.openxmlformats.org/drawingml/2006/main">
              <a:ext uri="{FF2B5EF4-FFF2-40B4-BE49-F238E27FC236}">
                <a16:creationId xmlns:a16="http://schemas.microsoft.com/office/drawing/2014/main" id="{CFC9AB54-8CB1-4351-81BD-74F5F5DC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3767400"/>
            <a:ext cx="5545440" cy="996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9eab76730c6b43bd"/>
              </a:rPr>
              <a:t>R-03: dvojí přidělení učebny.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9eab76730c6b43bd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9eab76730c6b43bd"/>
              </a:rPr>
              <a:t>Jakub: DB ochrana a souběžné testy VERIFIED.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9eab76730c6b43bd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9eab76730c6b43bd"/>
              </a:rPr>
              <a:t>Skutečné zbytkové riziko MEDIUM (3), přijato.</a:t>
            </a:r>
          </a:p>
        </p:txBody>
      </p:sp>
      <p:sp>
        <p:nvSpPr>
          <p:cNvPr id="213" name="Text 16">
            <a:extLst xmlns:a="http://schemas.openxmlformats.org/drawingml/2006/main">
              <a:ext uri="{FF2B5EF4-FFF2-40B4-BE49-F238E27FC236}">
                <a16:creationId xmlns:a16="http://schemas.microsoft.com/office/drawing/2014/main" id="{1F23D352-D339-471F-AEC0-625972BE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240" y="3474720"/>
            <a:ext cx="5545440" cy="292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POTŘEBNÉ ROZHODNUTÍ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Text 17">
            <a:extLst xmlns:a="http://schemas.openxmlformats.org/drawingml/2006/main">
              <a:ext uri="{FF2B5EF4-FFF2-40B4-BE49-F238E27FC236}">
                <a16:creationId xmlns:a16="http://schemas.microsoft.com/office/drawing/2014/main" id="{B1940DBE-ED6D-41BA-8745-769BF4AC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240" y="3767400"/>
            <a:ext cx="5545440" cy="996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936e1e9007f84550"/>
              </a:rPr>
              <a:t>Potvrdit zbývající plán, kapacity a vlastníka C04.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936e1e9007f84550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936e1e9007f84550"/>
              </a:rPr>
              <a:t>Koordinuje Kryštof Lalošák do 2. 11. 2026.</a:t>
            </a:r>
          </a:p>
        </p:txBody>
      </p:sp>
      <p:sp>
        <p:nvSpPr>
          <p:cNvPr id="215" name="Text 18">
            <a:extLst xmlns:a="http://schemas.openxmlformats.org/drawingml/2006/main">
              <a:ext uri="{FF2B5EF4-FFF2-40B4-BE49-F238E27FC236}">
                <a16:creationId xmlns:a16="http://schemas.microsoft.com/office/drawing/2014/main" id="{AD478D2F-3551-4D5F-A82E-D6584C6A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4992480"/>
            <a:ext cx="11292480" cy="310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4A5"/>
          </a:solidFill>
          <a:ln xmlns:a="http://schemas.openxmlformats.org/drawingml/2006/main" w="8255">
            <a:solidFill>
              <a:srgbClr val="2454A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440" tIns="1440" rIns="1440" bIns="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60" b="1" u="none" strike="noStrike">
                <a:solidFill>
                  <a:srgbClr val="FFFFFF"/>
                </a:solidFill>
                <a:latin typeface="Arial"/>
                <a:ea typeface="Arial"/>
                <a:cs typeface="Arial"/>
              </a:rPr>
              <a:t>CELKOVÝ STAV A VÝHLED</a:t>
            </a:r>
            <a:endParaRPr sz="1060" b="0" u="none" strike="noStrik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Text 19">
            <a:extLst xmlns:a="http://schemas.openxmlformats.org/drawingml/2006/main">
              <a:ext uri="{FF2B5EF4-FFF2-40B4-BE49-F238E27FC236}">
                <a16:creationId xmlns:a16="http://schemas.microsoft.com/office/drawing/2014/main" id="{625F875D-CC64-4203-BADF-C198534A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00" y="5303520"/>
            <a:ext cx="11292480" cy="96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C8D4E5"/>
            </a:solidFill>
            <a:round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160" tIns="2160" rIns="2160" bIns="2160" anchor="t">
            <a:noAutofit/>
          </a:bodyPr>
          <a:lstStyle xmlns:a="http://schemas.openxmlformats.org/drawingml/2006/main"/>
          <a:p xmlns:a="http://schemas.openxmlformats.org/drawingml/2006/main">
            <a:r>
              <a:rPr u="none">
                <a:solidFill>
                  <a:srgbClr val="26354B"/>
                </a:solidFill>
                <a:hlinkClick xmlns:r="http://schemas.openxmlformats.org/officeDocument/2006/relationships" r:id="R45e08289d0794e8c"/>
              </a:rPr>
              <a:t>AMBER / AT RISK. Podklady A/B a funkční ověření jsou připravené.</a:t>
            </a:r>
            <a:br>
              <a:rPr u="none">
                <a:solidFill>
                  <a:srgbClr val="26354B"/>
                </a:solidFill>
                <a:hlinkClick xmlns:r="http://schemas.openxmlformats.org/officeDocument/2006/relationships" r:id="R45e08289d0794e8c"/>
              </a:rPr>
            </a:br>
            <a:r>
              <a:rPr u="none">
                <a:solidFill>
                  <a:srgbClr val="26354B"/>
                </a:solidFill>
                <a:hlinkClick xmlns:r="http://schemas.openxmlformats.org/officeDocument/2006/relationships" r:id="R45e08289d0794e8c"/>
              </a:rPr>
              <a:t>Cíl nácviku: 2. 11. 2026. Závazný odhad dokončení závisí na potvrzení kapacit a plánu C04.</a:t>
            </a:r>
          </a:p>
        </p:txBody>
      </p:sp>
    </p:spTree>
    <p:extLst>
      <p:ext uri="{BB962C8B-B14F-4D97-AF65-F5344CB8AC3E}">
        <p14:creationId xmlns:p14="http://schemas.microsoft.com/office/powerpoint/2010/main" val="998792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2026-10-30T21:47:34.2870000Z</dcterms:created>
  <dcterms:modified xsi:type="dcterms:W3CDTF">2026-10-30T21:47:34.2870000Z</dcterms:modified>
</coreProperties>
</file>